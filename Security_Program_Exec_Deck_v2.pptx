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10d7556-7c8b-c866-7944-b456abeaf8f5}">
          <p14:sldIdLst>
            <p14:sldId id="256"/>
          </p14:sldIdLst>
        </p14:section>
        <p14:section name="Summary" id="{d1af508c-b79e-55c6-b610-7e20e565e734}">
          <p14:sldIdLst>
            <p14:sldId id="257"/>
          </p14:sldIdLst>
        </p14:section>
        <p14:section name="Immediate actions" id="{52a043a7-b748-347d-0ee7-cb0fdd1ec257}">
          <p14:sldIdLst>
            <p14:sldId id="258"/>
            <p14:sldId id="259"/>
          </p14:sldIdLst>
        </p14:section>
        <p14:section name="Plan" id="{7da189cb-1292-0ebf-ef9c-b86f9e4782e7}">
          <p14:sldIdLst>
            <p14:sldId id="260"/>
            <p14:sldId id="261"/>
            <p14:sldId id="262"/>
          </p14:sldIdLst>
        </p14:section>
        <p14:section name="Workstreams" id="{6831460d-7cef-472a-8f51-3c339ad92fa8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eam &amp; governance" id="{c2e95e26-d4ef-edb4-34bc-4d8f15ac1ecf}">
          <p14:sldIdLst>
            <p14:sldId id="269"/>
            <p14:sldId id="270"/>
            <p14:sldId id="271"/>
          </p14:sldIdLst>
        </p14:section>
        <p14:section name="Measures &amp; review" id="{6155b292-dcda-542c-7a9c-ca5421a4bad8}">
          <p14:sldIdLst>
            <p14:sldId id="272"/>
            <p14:sldId id="273"/>
            <p14:sldId id="274"/>
          </p14:sldIdLst>
        </p14:section>
        <p14:section name="Decisions" id="{0b98d676-921c-27fe-5be7-d89cdebf2a40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02E"/>
                </a:solidFill>
                <a:latin typeface="+mn-lt"/>
              </a:rPr>
              <a:t>62 findings by severity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7E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26</c:v>
                </c:pt>
                <c:pt idx="2">
                  <c:v>22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approve the program, its immediate actions and the first decisions. Plan v2 incorporates four independent adversarial reviews (cloud, identity &amp; monitoring, blockchain, governance/PMO) and a re-verification of the three most consequential facts. All figures in this deck come from the accompanying workbook Security_Program_Plan_v2.xlsx. Week 0 is this week (19-25 Oct 2026); Week 1 starts Monday 26 Oct 2026; Week 26 ends Sunday 25 Apr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the program is decision-ready. 150 tasks, 16 of them Immediate actions with owners and deadlines. Sequencing checks are formulas in the workbook (Overview tab): 0 dependency violations, 0 tasks after W26, 0 decision misalignments, 0 role overloads. Internal team 5 FTE (top of the 3-5 range); 8 contractors peaking at 6.5 FTE (133 FTE-weeks) plus 7 partner firms (smart-contract auditor, MDR, pentest, readiness assessor, SOC 2 CPA, counsel, internal audit). Budget is not costed - an interim envelope is requested today (D-17).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(Sources tab): solana.com/upgrades/alpenglow (epoch 1064, ~15:00 UTC 21 Oct; validator admission ticket 0.8 SOL burned per epoch; only Agave-4.3.0-based clients during migration); blog.ethereum.org Glamsterdam Hoodi announcement (26 Oct; no mainnet date); EKS Kubernetes versions page (1.31 extended EOS 26 Nov 2026; 1.34 standard EOS 2 Dec 2026; 1.32 extended EOS 23 Mar 2027; 1.35 standard EOS 27 Mar 2027; auto-upgrade without notice and no rollback); AL2 FAQ (EOS 30 Jun 2026); OpenZeppelin Defender phase-out; Microsoft mandatory MFA page; Entra data retention reference. The three most consequential of these (Alpenglow, EKS calendar, Entra retention) were re-verified by the lead after the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Immediate action is in the Project Plan tab with owner and deadline in the 'Immediate action' column. BC-01 is the most urgent: the staking provider must confirm BLS registration, VAT funding (0.8 SOL per epoch), and an Agave-4.3.0-based client before Alpenglow activates on 21 Oct; rewards for epochs 1065-1066 are checked by 30 Oct. HD-02: 1.31 clusters are upgraded to 1.32 by 20 Nov (deadline 26 Nov) and 1.34 clusters handled per D-10 by 27 Nov (deadline 2 Dec). HD-16B carries the 23 Mar 2027 hard stop for 1.32.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come from the KPIs tab (K01-K25 and KRI-1). MTTD is event time to notable/MDR ticket; MTTR-contain is acknowledgement to logged containment; medians and p90 are reported monthly. SOC 2 dates come from task GC-15: Type I as-of Sunday 21 Mar 2027 (end of W21) and a gap-free Type II period from Monday 22 Mar 2027. The minimum Type II period is UNVERIFIED (AICPA FAQ login-gated); the plan assumes 3-6 months, confirmed with the CPA in GC-07.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overlap by design; each task is assigned to one phase. Task counts per phase are from the Project Plan tab: P0 13, P1 16, P2 38, P3 60, P4 16, P5 7 (total 150). Weeks 9-10 (21 Dec - 3 Jan) are a production change freeze; design and non-prod work continues.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are taken from task start and end weeks in the Project Plan (workbook Gantt shows all 150 tasks). Gate criteria: G1 W6 Mobilize exit; G2 W15 designs complete and critical exposures closed; G3 W20 build complete (pentest done, audit preliminary report, DR test); G4 W26 BAU acceptance with SOC 2 Type I fieldwork done and Type II period running. BG = break-glass; F = code freeze (W15); LL = lessons learned. Production changes avoid weeks 9-10.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Accountable: Cloud &amp; Platform Security Engineer (CSE). 29 tasks in this workstream. Tasks led by role: KHE 13, CSE 12, CPE 4. Key tasks shown with weeks from the Project Plan. HD-02 (W2-W5, lead CSE): EKS end-of-support remediation (1.31 before 26 Nov; 1.34 per D-10 before 2 Dec). Deliverable: No 1.31 clusters; 1.34 handled per D-10. HD-06 (W2-W6, lead KHE): SSM enrolment fleet-wide (prerequisite for runtime agents, Patch Manager, Inspector CIS). Deliverable: &gt;=95% EC2 managed by SSM. HD-16A (W6-W8, lead CPE): EKS node groups AL2 -&gt; AL2023/Bottlerocket at 1.32 (non-prod W6-7, prod W8). Deliverable: No AL2 EKS nodes. HD-10 (W7-W12, lead CSE): Deploy org guardrails (sandbox/non-prod W7-W8; prod from W11). Deliverable: Guardrails live in all OUs. HD-16B (W11-W18, lead CSE): EKS version hops 1.32 -&gt; 1.36 (before 1.32 extended EOS 23 Mar 2027). Deliverable: All clusters on 1.36. HD-17 (W11-W15, lead KHE): Kubernetes hardening rollout. Deliverable: K8s baseline enforced. HD-15 (W17-W20, lead CSE): AL2 migration wave 2 (to zero AL2). Deliverable: AL2 count = 0 or approved exceptions. HD-18 (W16-W19, lead KHE): Container supply chain: signing and verification. Deliverable: Signed-image enforcement. References: CIS AWS Foundations v5.0.0 (automated) / v7.1.0 (delta); CIS AL2023 v1.0.0; CIS EKS v2.0.0; CIS Bottlerocket v1.0.0; Security Hub EC2.7/EC2.8/SSM.1/EKS.2/EKS.8/ECR.2.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Accountable: Identity &amp; Security Operations Engineer (IR Lead) (ISE). 21 tasks in this workstream. Tasks led by role: IDC 9, ISE 8, PL 1, BSE 1, CPE 1, BSC 1. Key tasks shown with weeks from the Project Plan. ID-01 (W0-W1, lead ISE): Break-glass accounts before any Conditional Access change. Deliverable: Break-glass runbook + test record. ID-02 (W0-W2, lead ISE): Azure MFA Phase 2 (enforced): move user-run automation to workload identities. Deliverable: Automation identity register; remediated pipelines. ID-08 (W7-W10, lead IDC): Entra Conditional Access baseline in report-only. Deliverable: Report-only impact analysis. ID-10 (W9-W10, lead ISE): Enrol device-bound FIDO2 keys for admins. Deliverable: 100% admins enrolled. ID-08B (W11-W12, lead IDC): Enforce Conditional Access baseline (after freeze). Deliverable: CA baseline enforced. ID-13 (W9-W13, lead IDC): B2C hardening and step-up MFA on withdrawals. Deliverable: Step-up live; B2C logs in Splunk. ID-09 (W13-W15, lead ISE): PIM: zero standing privileged access (Entra, Azure, PIM for Groups -&gt; AWS). Deliverable: Standing admins = break-glass only. ID-14 (W14-W15, lead IDC): Customer identity roadmap: B2C to External ID (D-06). Deliverable: D-06 roadmap. References: Entra licensing, auth strengths, emergency access; B2C FAQ (P2 retired 15 Mar 2026); External ID features; IAM Identity Center SCIM limits; EIP-4361; CIS Controls 5/6.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Accountable: Identity &amp; Security Operations Engineer (IR Lead) (ISE). 25 tasks in this workstream. Tasks led by role: DET 9, ISE 5, CSE 4, CPE 3, PMC 1, MDR 1, BSE 1, PEN 1. Key tasks shown with weeks from the Project Plan. MR-00 (W0-W1, lead ISE): Interim 24/7 coverage until MDR is live. Deliverable: On-call rota + paging + interim runbook. MR-01 (W0-W1, lead CSE): Enable agentless AWS detection services org-wide (independent of SIEM). Deliverable: Detection services coverage report. MR-11 (W5-W13, lead MDR): MDR onboarding in phases (EDR/GuardDuty/Entra first, Splunk notables after MR-07). Deliverable: 24/7 MDR live. MR-07 (W7-W10, lead DET): Onboard telemetry to Splunk. Deliverable: Log source register 100% green. MR-13 (W7-W9, lead BSE): On-chain monitoring deployment (production). Deliverable: On-chain monitors live. MR-08 (W11-W13, lead DET): Detection wave 1: identity and control plane. Deliverable: Wave-1 detections in prod. MR-16 (W18-W19, lead PEN): Penetration test (cloud, EKS, dApp front-end, wallet sign-in, B2C step-up). Deliverable: Pentest report. MR-18 (W19-W20, lead ISE): Tabletop exercises. Deliverable: After-action reports. References: NIST SP 800-61r3; MITRE ATT&amp;CK; Splunkbase 1876/8642/3110/5082; GuardDuty Runtime Monitoring docs; SEAL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Accountable: Blockchain Security Engineer (BSE). 30 tasks in this workstream. Tasks led by role: BSE 18, BSC 5, CSO 4, CPE 1, SCA 1, ISE 1. Key tasks shown with weeks from the Project Plan. BC-01 (W0-W1, lead BSE): Alpenglow readiness confirmation from staking provider (activates 21 Oct 2026). Deliverable: Provider confirmation + reward-delta check note. BC-22 (W0-W2, lead BSE): Interim multisig hardening (Drift-pattern exposure). Deliverable: Interim multisig hardening record. BC-07 (W6-W9, lead BSE): Staking provider due diligence. Deliverable: Staking provider assessment. BC-10 (W11-W14, lead BSE): Privileged on-chain roles under multisig and timelock (role matrix). Deliverable: 100% upgrade/admin roles under multisig+timelock. BC-11 (W13-W15, lead BSE): Signer operations hardening. Deliverable: Signer SOP + drill record. BC-15 (W15, lead BSE): Code freeze for audit scope. Deliverable: Frozen audit scope. BC-16 (W16-W19, lead SCA): Smart-contract audit (Ethereum + Solana, parallel teams). Deliverable: Audit report (preliminary). BC-18 (W23-W24, lead BSE): Bug bounty and SEAL Safe Harbor decision (D-09). Deliverable: Live bounty + D-09. References: BSSC SCS, KMS, NOS v2; CCSS v9.0; OWASP SC Top 10 2026; SEAL Frameworks; EIP-7002/7251/7702; Safe 1.5.0; Squads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Accountable: GRC &amp; Risk Lead (2nd line) (GRC). 27 tasks in this workstream. Tasks led by role: GRC 11, GRCC 5, PL 3, CSO 2, PMC 1, ISE 1, HRB 1, RDA 1, CPA 1, IA 1. Key tasks shown with weeks from the Project Plan. GC-01 (W0-W4, lead GRC): Regulatory scope go/no-go (D-01) with counsel engaged in W0. Deliverable: Signed regulatory scope memo (D-01). GC-07 (W5-W7, lead GRC): SOC 2 scope, system description and period plan (D-08, D-12). Deliverable: Scope memo + draft system description. GC-04 (W5-W8, lead GRCC): Policy framework (version-controlled). Deliverable: Approved policy set v1.0. GC-06 (W6-W9, lead GRC): Third-party / ICT risk programme. Deliverable: TPRM procedure + tier-1 assessments. GC-05 (W8-W11, lead GRCC): Unified control matrix. Deliverable: Unified control matrix. GC-13 (W17-W18, lead RDA): SOC 2 readiness assessment (independent firm). Deliverable: Readiness report. GC-15 (W22-W25, lead CPA): SOC 2 Type I (as-of Sun 21 Mar 2027) and Type II period start (Mon 22 Mar 2027). Deliverable: Type I report (draft) + Type II period running. GC-16 (W22-W24, lead IA): Independent assurance review (third line). Deliverable: IA report. References: AICPA TSC 2017 (2022 PoF); NIST CSF 2.0; ISO/IEC 27001:2022; CIS Controls v8.1; MiCA Art 61/143; DORA Art 2; FinCEN CVC guidance; OFAC VC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Accountable: Security Program Lead (PL). 18 tasks in this workstream. Tasks led by role: PL 14, PMC 2, GRC 2. Key tasks shown with weeks from the Project Plan. PM-02A (W0, lead PL): Interim budget approval for long-lead commitments (D-17). Deliverable: Approved interim budget. PM-03 (W1-W2, lead PL): Book long-lead partners and contractors (weeks 1-2). Deliverable: Signed SOWs / booked slots. PM-05 (W3-W5, lead PL): Threat model (cloud, identity, on-chain, supply chain, insider). Deliverable: Threat model + prioritised scenarios. PM-06 (W3-W5, lead GRC): Baseline gap assessment (CSF 2.0 current/target profile). Deliverable: Gap assessment + baseline KPIs. PM-09A (W6, lead PL): ARB #1: guardrail, image, identity, telemetry designs. Deliverable: ARB #1 approvals log. PM-09B (W8, lead PL): ARB #2: network, Kubernetes, workload identity, CIAM, DR, SSDLC designs. Deliverable: ARB #2 approvals log. PM-13 (W14-W16, lead GRC): Evergreen operating model live before SOC 2 period. Deliverable: Evergreen calendar + dashboards. PM-12 (W21-W24, lead PL): Runbooks and BAU handover per workstream. Deliverable: Signed handover acceptance. References: NIST CSF 2.0 GV; ISO 27001 clauses 5-10; IIA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Internal: Program Lead, Cloud &amp; Platform Sec Eng, Identity &amp; SecOps Eng (IR lead), GRC &amp; Risk Lead (2nd line), Blockchain Sec Eng = 5 FTE. Contractors: 8 roles peaking at 6.5 FTE, 133 FTE-weeks in total. Partners (0 program FTE): smart-contract audit firm, MDR, pentest firm, independent readiness assessor, SOC 2 CPA, regulatory counsel, outsourced internal audit. Business contributors outside program FTE: platform/app engineering (supporting only) and People Ops (leads HR controls). Live load matrices are on the Roles &amp; Skills tab; internal roles reach the limit (3 leads, weighted 4.0) in several weeks, tracked as risk R22. Contractor dependency is tracked by KRI-1/KRI-2.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forums with cadences sized for 5 internal FTE (the ARB meets in the first 30 minutes of the weekly CAB slot, fortnightly; the CUKC meets fortnightly plus ad hoc within 4 hours for emergencies). The Contract Upgrade &amp; Key Committee has an internal chair (Head of Blockchain Engineering) and the Blockchain Security Engineer holds a security veto. Independence: SOC 2 implementation consultant, independent readiness assessor and the CPA are three different firms; outsourced internal audit reports directly to the Board/Audit Committee and tests both 1st- and 2nd-line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runs on automated control health (Security Hub CSPM, Inspector, GRC-platform tests, Splunk silent-source alerts, on-chain monitors), a weekly KPI/KRI refresh and monthly Steering review. Corrective actions are logged and design changes go through the ARB/CUKC; assurance comes from IA and the annual SOC 2 Type II. Exceptions are time-boxed to 90 days with one renewal at most. Policies live in git with semantic versions. The contractor-dependency KRI (critical runbooks without a trained internal owner) must be 0 by W24. The full calendar and trigger responses are on the Governance Model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of the 25 KPIs are shown; all 25 plus 3 KRIs are on the KPIs tab, each with a definition, target, data source, frequency and proposed owner role. Current value and named owner are left blank for the program to fill in. Staking KPIs are measured against the staking provider's SLA; Solana metric definitions after Alpenglow are UNVERIFIED and get fixed in MR-14.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adversarial reviewers (cloud/OS &amp; container 11, identity &amp; monitoring 16, blockchain 15, governance/PMO 16 findings) plus 4 lead re-verification entries. Severity: 7 critical, 26 high, 22 medium, 7 low. After the fixes, the sequencing and load checks were re-run and all pass. Items still open are labelled on the Review Log tab: Bottlerocket CIS method, AWS Backup EKS support, Glamsterdam EIP list, post-Alpenglow Solana metrics, CrowdStrike AL2023/Bottlerocket support, Solana coverage claims of monitoring vendors, SOC 2 minimum period, and the contingent AML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highest-rated risks out of 22 are shown. The custodial/MSB risk (R17) is resolved by D-01 in W4. If the business turns out to be custodial or a money transmitter, Gate 1 triggers a re-plan to add an AML/licensing workstream. Team overload (R06/R22) is the structural risk: internal roles run at the capacity limit, so Steering is asked to pre-approve a descope list (HD-26, HD-30, BC-20, ID-17)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decisions are in the decision log, each with an owning task and due week; the workbook checks that every decision is due on or before the first task that needs it. Shown here are the 8 decisions due by W5. D-17 (W1, Fri 30 Oct) approves the contractor envelope: 8 contractors, 6.5 FTE at peak, 133 FTE-weeks, with a pre-agreed descope list. D-10 (W2, Fri 6 Nov) decides whether 1.34 clusters are upgraded before 2 Dec or kept on extended support at $0.60 per cluster-hour. D-01 (W4, Fri 20 Nov) is the regulatory scope memo; a yes on custodial/MSB triggers a re-plan at Gate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Program Plan v2  |  Steering Committee  |  19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Hardening &amp; Evergreen Governance Program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26-week execution plan for OS &amp; container hardening, security monitoring, and a sustainable governance model - AWS, Entra ID / Azure AD B2C, Ethereum &amp; Solana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069080"/>
            <a:ext cx="256032" cy="256032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40416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container hardening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4069080"/>
            <a:ext cx="256032" cy="256032"/>
          </a:xfrm>
          <a:prstGeom prst="ellipse">
            <a:avLst/>
          </a:prstGeom>
          <a:solidFill>
            <a:srgbClr val="7A5BA6"/>
          </a:solidFill>
          <a:ln w="12700">
            <a:solidFill>
              <a:srgbClr val="7A5B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24912" y="40416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hardening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4069080"/>
            <a:ext cx="256032" cy="25603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3712" y="40416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response &amp; resilience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4069080"/>
            <a:ext cx="256032" cy="256032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40416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4069080"/>
            <a:ext cx="256032" cy="256032"/>
          </a:xfrm>
          <a:prstGeom prst="ellipse">
            <a:avLst/>
          </a:prstGeom>
          <a:solidFill>
            <a:srgbClr val="8C6D46"/>
          </a:solidFill>
          <a:ln w="12700">
            <a:solidFill>
              <a:srgbClr val="8C6D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1312" y="40416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0" y="4069080"/>
            <a:ext cx="256032" cy="256032"/>
          </a:xfrm>
          <a:prstGeom prst="ellipse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40112" y="40416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mgmt &amp; sustainment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 |  Monday 19 October 2026  |  Plan v2 (after four independent reviews)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summary: a staffed, sequenced 26-week program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Exposures land now: Solana Alpenglow activates 21 Oct; EKS 1.31 support ends 26 Nov and 1.34 standard support 2 Dec; Amazon Linux 2 is already past end of support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Immediate actions with named owners and deadlines start this week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tasks in 6 workstreams pass every check: dependencies, end week, decision dates and role load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5.0 internal FTE, 8 contractors (6.5 FTE at peak, 133 FTE-weeks) and 7 partner firms; the budget is not yet costed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55080" y="13441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2039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across 6 workstreams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15400" y="12344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98280" y="13441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9098280" y="20391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actions, owned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7432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8529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 + 6.5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FTE + contractor FTE (peak)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74320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28529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35478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gates: W6, W15, W20, W26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2519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436168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5056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with targets and owners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42519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98280" y="436168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50566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findings applied in v2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Time-critical exposures fall before and inside the window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017520" cy="4480560"/>
          </a:xfrm>
          <a:prstGeom prst="roundRect">
            <a:avLst>
              <a:gd name="adj" fmla="val 2424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past - open findings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2651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 2026: Amazon Linux 2 end of support - remaining AL2 hosts are unsupported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2026: OpenZeppelin Defender shut down - check for orphaned relayers and roles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2026: Azure MFA Phase 2 postponement ended - automation running as users fails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Rolling: Entra keeps sign-in/audit logs 30 days (P1/P2) - archive now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4206240"/>
            <a:ext cx="7498080" cy="0"/>
          </a:xfrm>
          <a:prstGeom prst="line">
            <a:avLst/>
          </a:prstGeom>
          <a:noFill/>
          <a:ln w="25400">
            <a:solidFill>
              <a:srgbClr val="2B3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79366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74855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516794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325880"/>
            <a:ext cx="1161288" cy="1600200"/>
          </a:xfrm>
          <a:prstGeom prst="roundRect">
            <a:avLst>
              <a:gd name="adj" fmla="val 629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1417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828800"/>
            <a:ext cx="978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Alpenglow mainnet (epoch 1064)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H="1">
            <a:off x="4023360" y="2926080"/>
            <a:ext cx="580644" cy="118872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4114800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90718" y="1325880"/>
            <a:ext cx="1161288" cy="1600200"/>
          </a:xfrm>
          <a:prstGeom prst="roundRect">
            <a:avLst>
              <a:gd name="adj" fmla="val 629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82158" y="1417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Oct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82158" y="1828800"/>
            <a:ext cx="978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Glamsterdam on Hoodi testnet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4311748" y="2926080"/>
            <a:ext cx="1559615" cy="118872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0308" y="4114800"/>
            <a:ext cx="182880" cy="1828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8077" y="1325880"/>
            <a:ext cx="1161288" cy="1600200"/>
          </a:xfrm>
          <a:prstGeom prst="roundRect">
            <a:avLst>
              <a:gd name="adj" fmla="val 629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49517" y="1417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Nov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49517" y="1828800"/>
            <a:ext cx="978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1.31 extended support ends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5465298" y="2926080"/>
            <a:ext cx="1673422" cy="118872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73858" y="4114800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25435" y="1325880"/>
            <a:ext cx="1161288" cy="1600200"/>
          </a:xfrm>
          <a:prstGeom prst="roundRect">
            <a:avLst>
              <a:gd name="adj" fmla="val 629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16875" y="1417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Dec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916875" y="1828800"/>
            <a:ext cx="978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1.34 standard support ends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5753686" y="2926080"/>
            <a:ext cx="2652393" cy="118872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2246" y="4114800"/>
            <a:ext cx="182880" cy="1828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92794" y="1325880"/>
            <a:ext cx="1161288" cy="1600200"/>
          </a:xfrm>
          <a:prstGeom prst="roundRect">
            <a:avLst>
              <a:gd name="adj" fmla="val 629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4234" y="1417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Mar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84234" y="1828800"/>
            <a:ext cx="978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1.32 extended support ends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73438" y="2926080"/>
            <a:ext cx="694452" cy="118872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76449" y="4114800"/>
            <a:ext cx="182880" cy="1828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0152" y="1325880"/>
            <a:ext cx="1161288" cy="1600200"/>
          </a:xfrm>
          <a:prstGeom prst="roundRect">
            <a:avLst>
              <a:gd name="adj" fmla="val 629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451592" y="141732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Mar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0451592" y="1828800"/>
            <a:ext cx="978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1.35 standard support ends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 flipH="1">
            <a:off x="10477617" y="2926080"/>
            <a:ext cx="463179" cy="118872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86177" y="4114800"/>
            <a:ext cx="182880" cy="182880"/>
          </a:xfrm>
          <a:prstGeom prst="ellipse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23360" y="4937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Glamsterdam mainnet date not yet set; EKS auto-upgrades at end of extended support without notice or rollback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Immediate actions, each with an owner and a deadline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3716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Sec Eng (BSE)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9659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BC-01  Tue 20 Oct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945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Alpenglow readiness confirmed in writing by staking provider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968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BC-02  Fri 30 Oct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254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withdrawal authorities verified on-chain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2278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BC-22  Fri 6 Nov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564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multisig thresholds + Squads time lock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85876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BC-04  Fri 27 Nov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0873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Glamsterdam gas-repricing impact report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123444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3716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Platform Sec Eng (CSE)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19659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HD-01  Fri 30 Oct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1945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AL2/EKS EOL inventory + upgradePolicy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5968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MR-01  Fri 30 Oct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8254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AWS detection in all accounts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2278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MR-21  Fri 30 Oct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34564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Entra and B2C logs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858768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HD-03  Fri 6 Nov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08736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 containment + migration backlog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4489704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HD-02  20 / 27 Nov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471830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1.31 upgraded; 1.34 per D-10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512064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HD-16B  Fri 26 Feb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34924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clusters on 1.36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63056" y="123444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13716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SecOps Eng (ISE)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19659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MR-00  Fri 30 Oct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327648" y="21945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24/7 on-call and paging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327648" y="25968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ID-01  Fri 30 Oct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327648" y="28254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for Entra and AWS tested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32278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ID-02  Fri 6 Nov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34564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automation broken by MFA Phase 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70264" y="1234440"/>
            <a:ext cx="2651760" cy="457200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34856" y="13716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Lead / GRC Lead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134856" y="196596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PM-01  Fri 23 Oct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134856" y="219456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Immediate-actions cell stood up (PL)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134856" y="2596896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ID-00  Fri 23 Oct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134856" y="2825496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keys + signer wallets ordered (PL)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134856" y="32278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GC-01  Fri 20 Nov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134856" y="34564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go/no-go memo D-01 (GRC)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with measurable targets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417320"/>
            <a:ext cx="274320" cy="27432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OS &amp; container hardening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03120"/>
            <a:ext cx="2322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 instances: 0 by W20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on standard support: 100% by W18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AL2023 L1 pass rate &gt;=90% by W20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coverage 100% by W12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production images 100% by W19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23444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417320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04488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Monitoring &amp; response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103120"/>
            <a:ext cx="2322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coverage from W0 (interim), MDR fully live W13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identity: median &lt;=15 min, p90 &lt;=60 min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on-chain: median &lt;=5 min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Sev-1 containment: median &lt;=4 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&gt;=80% prioritised ATT&amp;CK techniques validated by W18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23444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417320"/>
            <a:ext cx="274320" cy="274320"/>
          </a:xfrm>
          <a:prstGeom prst="ellipse">
            <a:avLst/>
          </a:prstGeom>
          <a:solidFill>
            <a:srgbClr val="8C6D46"/>
          </a:solidFill>
          <a:ln w="12700">
            <a:solidFill>
              <a:srgbClr val="8C6D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Evergreen governance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2103120"/>
            <a:ext cx="2322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as of 21 Mar 2027; Type II period from 22 Mar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 pass rate &gt;=95% by W20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past expiry: 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runbooks with internal owner: 100% by W24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assurance report to Board by W24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70264" y="123444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34856" y="1417320"/>
            <a:ext cx="274320" cy="27432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18904" y="1371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  Identity &amp; on-chain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103120"/>
            <a:ext cx="23225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admin MFA 100% by W12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admins (excl. break-glass) 0 by W15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MFA on withdrawals 100% by W13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Upgrade/admin roles under multisig + timelock 100% by W15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by phase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53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Immediate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W0-W2  |  13 tasks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Immediate-actions tracker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Alpenglow confirmation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+ interim 24/7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register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14016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23744" y="1353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Mobilize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23744" y="1783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W1-W6  |  16 tasks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59736" y="237744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+ interim budget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booked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memo (D-01)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appetite, BIA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79392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353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Assess &amp; Design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783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W2-W10  |  38 tasks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25112" y="237744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 + threat model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ARB-approved designs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set v1.0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matrix, TPRM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44768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353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Build &amp; Harden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1783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W6-W20  |  60 tasks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90488" y="237744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guardrails live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 retired; EKS 1.36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+ PIM enforced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Multisig + timelock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10144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19872" y="1353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Monitor &amp; Validate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19872" y="1783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W10-W22  |  16 tasks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55864" y="237744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waves 1-2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+ retest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Smart-contract audit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readiness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75520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2B3A4A"/>
          </a:solidFill>
          <a:ln w="12700">
            <a:solidFill>
              <a:srgbClr val="2B3A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85248" y="13533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Operationalize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985248" y="17830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W14-W26  |  7 tasks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2377440"/>
            <a:ext cx="1645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calendar live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bounty live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+ Type II start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handover signed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27 weeks, four signed gates, holiday freeze respected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71160" y="1325880"/>
            <a:ext cx="687493" cy="4663440"/>
          </a:xfrm>
          <a:prstGeom prst="rect">
            <a:avLst/>
          </a:prstGeom>
          <a:solidFill>
            <a:srgbClr val="E3E7EC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71160" y="1325880"/>
            <a:ext cx="6874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64933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752427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43992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127413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4907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0240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189893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877387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6488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252373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939867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627360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14853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819656"/>
            <a:ext cx="219456" cy="219456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17099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container hardening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313432"/>
            <a:ext cx="11109960" cy="0"/>
          </a:xfrm>
          <a:prstGeom prst="line">
            <a:avLst/>
          </a:prstGeom>
          <a:noFill/>
          <a:ln w="6350">
            <a:solidFill>
              <a:srgbClr val="D5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4933" y="1655064"/>
            <a:ext cx="1347555" cy="274320"/>
          </a:xfrm>
          <a:prstGeom prst="rect">
            <a:avLst/>
          </a:prstGeom>
          <a:solidFill>
            <a:srgbClr val="3D7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92365" y="167335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EOS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9920" y="1655064"/>
            <a:ext cx="1003808" cy="274320"/>
          </a:xfrm>
          <a:prstGeom prst="rect">
            <a:avLst/>
          </a:prstGeom>
          <a:solidFill>
            <a:srgbClr val="3D7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7352" y="167335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58653" y="1655064"/>
            <a:ext cx="2722541" cy="274320"/>
          </a:xfrm>
          <a:prstGeom prst="rect">
            <a:avLst/>
          </a:prstGeom>
          <a:solidFill>
            <a:srgbClr val="3D7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86085" y="1673352"/>
            <a:ext cx="26859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hops to 1.36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1133" y="1655064"/>
            <a:ext cx="1347555" cy="274320"/>
          </a:xfrm>
          <a:prstGeom prst="rect">
            <a:avLst/>
          </a:prstGeom>
          <a:solidFill>
            <a:srgbClr val="3D7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48565" y="167335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 wave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64933" y="1984248"/>
            <a:ext cx="1691301" cy="274320"/>
          </a:xfrm>
          <a:prstGeom prst="rect">
            <a:avLst/>
          </a:prstGeom>
          <a:solidFill>
            <a:srgbClr val="3D7EA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92365" y="2002536"/>
            <a:ext cx="16547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83667" y="1984248"/>
            <a:ext cx="2035048" cy="274320"/>
          </a:xfrm>
          <a:prstGeom prst="rect">
            <a:avLst/>
          </a:prstGeom>
          <a:solidFill>
            <a:srgbClr val="3D7EA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11099" y="2002536"/>
            <a:ext cx="1998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46147" y="1984248"/>
            <a:ext cx="1347555" cy="274320"/>
          </a:xfrm>
          <a:prstGeom prst="rect">
            <a:avLst/>
          </a:prstGeom>
          <a:solidFill>
            <a:srgbClr val="3D7EA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3579" y="2002536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 wave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77387" y="1984248"/>
            <a:ext cx="1347555" cy="274320"/>
          </a:xfrm>
          <a:prstGeom prst="rect">
            <a:avLst/>
          </a:prstGeom>
          <a:solidFill>
            <a:srgbClr val="3D7EA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04819" y="2002536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2551176"/>
            <a:ext cx="219456" cy="219456"/>
          </a:xfrm>
          <a:prstGeom prst="ellipse">
            <a:avLst/>
          </a:prstGeom>
          <a:solidFill>
            <a:srgbClr val="7A5BA6"/>
          </a:solidFill>
          <a:ln w="12700">
            <a:solidFill>
              <a:srgbClr val="7A5BA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1248" y="2441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hardening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044952"/>
            <a:ext cx="11109960" cy="0"/>
          </a:xfrm>
          <a:prstGeom prst="line">
            <a:avLst/>
          </a:prstGeom>
          <a:noFill/>
          <a:ln w="6350">
            <a:solidFill>
              <a:srgbClr val="D5DC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77440" y="2386584"/>
            <a:ext cx="660061" cy="274320"/>
          </a:xfrm>
          <a:prstGeom prst="rect">
            <a:avLst/>
          </a:prstGeom>
          <a:solidFill>
            <a:srgbClr val="7A5B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404872" y="2404872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83667" y="2386584"/>
            <a:ext cx="1347555" cy="274320"/>
          </a:xfrm>
          <a:prstGeom prst="rect">
            <a:avLst/>
          </a:prstGeom>
          <a:solidFill>
            <a:srgbClr val="7A5B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11099" y="240487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report-only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58653" y="2386584"/>
            <a:ext cx="660061" cy="274320"/>
          </a:xfrm>
          <a:prstGeom prst="rect">
            <a:avLst/>
          </a:prstGeom>
          <a:solidFill>
            <a:srgbClr val="7A5B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86085" y="2404872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46147" y="2386584"/>
            <a:ext cx="1003808" cy="274320"/>
          </a:xfrm>
          <a:prstGeom prst="rect">
            <a:avLst/>
          </a:prstGeom>
          <a:solidFill>
            <a:srgbClr val="7A5B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73579" y="240487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71160" y="2715768"/>
            <a:ext cx="1691301" cy="274320"/>
          </a:xfrm>
          <a:prstGeom prst="rect">
            <a:avLst/>
          </a:prstGeom>
          <a:solidFill>
            <a:srgbClr val="7A5BA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98592" y="2734056"/>
            <a:ext cx="16547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step-up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33640" y="2715768"/>
            <a:ext cx="1003808" cy="274320"/>
          </a:xfrm>
          <a:prstGeom prst="rect">
            <a:avLst/>
          </a:prstGeom>
          <a:solidFill>
            <a:srgbClr val="7A5BA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561072" y="2734056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sign-in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3282696"/>
            <a:ext cx="219456" cy="21945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1248" y="31729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response &amp; resilience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48640" y="3776472"/>
            <a:ext cx="11109960" cy="0"/>
          </a:xfrm>
          <a:prstGeom prst="line">
            <a:avLst/>
          </a:prstGeom>
          <a:noFill/>
          <a:ln w="6350">
            <a:solidFill>
              <a:srgbClr val="D5DC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3118104"/>
            <a:ext cx="660061" cy="274320"/>
          </a:xfrm>
          <a:prstGeom prst="rect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404872" y="3136392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83667" y="3118104"/>
            <a:ext cx="1347555" cy="274320"/>
          </a:xfrm>
          <a:prstGeom prst="rect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11099" y="313639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158653" y="3118104"/>
            <a:ext cx="1003808" cy="274320"/>
          </a:xfrm>
          <a:prstGeom prst="rect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186085" y="313639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89893" y="3118104"/>
            <a:ext cx="1003808" cy="274320"/>
          </a:xfrm>
          <a:prstGeom prst="rect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217325" y="313639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564880" y="3118104"/>
            <a:ext cx="660061" cy="274320"/>
          </a:xfrm>
          <a:prstGeom prst="rect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592312" y="3136392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252373" y="3118104"/>
            <a:ext cx="1003808" cy="274320"/>
          </a:xfrm>
          <a:prstGeom prst="rect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279805" y="313639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096173" y="3447288"/>
            <a:ext cx="3066288" cy="274320"/>
          </a:xfrm>
          <a:prstGeom prst="rect">
            <a:avLst/>
          </a:prstGeom>
          <a:solidFill>
            <a:srgbClr val="E8A33D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123605" y="3465576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onboarding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877387" y="3447288"/>
            <a:ext cx="660061" cy="274320"/>
          </a:xfrm>
          <a:prstGeom prst="rect">
            <a:avLst/>
          </a:prstGeom>
          <a:solidFill>
            <a:srgbClr val="E8A33D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904819" y="3465576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test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908627" y="3447288"/>
            <a:ext cx="660061" cy="274320"/>
          </a:xfrm>
          <a:prstGeom prst="rect">
            <a:avLst/>
          </a:prstGeom>
          <a:solidFill>
            <a:srgbClr val="E8A33D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936059" y="3465576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48640" y="4014216"/>
            <a:ext cx="219456" cy="219456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41248" y="39044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security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48640" y="4507992"/>
            <a:ext cx="11109960" cy="0"/>
          </a:xfrm>
          <a:prstGeom prst="line">
            <a:avLst/>
          </a:prstGeom>
          <a:noFill/>
          <a:ln w="6350">
            <a:solidFill>
              <a:srgbClr val="D5DCE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77440" y="3849624"/>
            <a:ext cx="1003808" cy="274320"/>
          </a:xfrm>
          <a:prstGeom prst="rect">
            <a:avLst/>
          </a:prstGeom>
          <a:solidFill>
            <a:srgbClr val="0F9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404872" y="386791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Multisig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408680" y="3849624"/>
            <a:ext cx="1003808" cy="274320"/>
          </a:xfrm>
          <a:prstGeom prst="rect">
            <a:avLst/>
          </a:prstGeom>
          <a:solidFill>
            <a:srgbClr val="0F9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436112" y="386791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58653" y="3849624"/>
            <a:ext cx="1347555" cy="274320"/>
          </a:xfrm>
          <a:prstGeom prst="rect">
            <a:avLst/>
          </a:prstGeom>
          <a:solidFill>
            <a:srgbClr val="0F9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186085" y="386791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33640" y="3849624"/>
            <a:ext cx="316315" cy="274320"/>
          </a:xfrm>
          <a:prstGeom prst="rect">
            <a:avLst/>
          </a:prstGeom>
          <a:solidFill>
            <a:srgbClr val="0F9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561072" y="3867912"/>
            <a:ext cx="2797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877387" y="3849624"/>
            <a:ext cx="1347555" cy="274320"/>
          </a:xfrm>
          <a:prstGeom prst="rect">
            <a:avLst/>
          </a:prstGeom>
          <a:solidFill>
            <a:srgbClr val="0F9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904819" y="386791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252373" y="3849624"/>
            <a:ext cx="1003808" cy="274320"/>
          </a:xfrm>
          <a:prstGeom prst="rect">
            <a:avLst/>
          </a:prstGeom>
          <a:solidFill>
            <a:srgbClr val="0F9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279805" y="386791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0283613" y="3849624"/>
            <a:ext cx="660061" cy="274320"/>
          </a:xfrm>
          <a:prstGeom prst="rect">
            <a:avLst/>
          </a:prstGeom>
          <a:solidFill>
            <a:srgbClr val="0F9D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311045" y="3867912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439920" y="4178808"/>
            <a:ext cx="1347555" cy="274320"/>
          </a:xfrm>
          <a:prstGeom prst="rect">
            <a:avLst/>
          </a:prstGeom>
          <a:solidFill>
            <a:srgbClr val="0F9D8A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467352" y="4197096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DD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5814907" y="4178808"/>
            <a:ext cx="1691301" cy="274320"/>
          </a:xfrm>
          <a:prstGeom prst="rect">
            <a:avLst/>
          </a:prstGeom>
          <a:solidFill>
            <a:srgbClr val="0F9D8A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842339" y="4197096"/>
            <a:ext cx="16547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1.x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48640" y="4745736"/>
            <a:ext cx="219456" cy="219456"/>
          </a:xfrm>
          <a:prstGeom prst="ellipse">
            <a:avLst/>
          </a:prstGeom>
          <a:solidFill>
            <a:srgbClr val="8C6D46"/>
          </a:solidFill>
          <a:ln w="12700">
            <a:solidFill>
              <a:srgbClr val="8C6D4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41248" y="46360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48640" y="5239512"/>
            <a:ext cx="11109960" cy="0"/>
          </a:xfrm>
          <a:prstGeom prst="line">
            <a:avLst/>
          </a:prstGeom>
          <a:noFill/>
          <a:ln w="6350">
            <a:solidFill>
              <a:srgbClr val="D5DCE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377440" y="4581144"/>
            <a:ext cx="1691301" cy="274320"/>
          </a:xfrm>
          <a:prstGeom prst="rect">
            <a:avLst/>
          </a:prstGeom>
          <a:solidFill>
            <a:srgbClr val="8C6D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2404872" y="4599432"/>
            <a:ext cx="16547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D-01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096173" y="4581144"/>
            <a:ext cx="1347555" cy="274320"/>
          </a:xfrm>
          <a:prstGeom prst="rect">
            <a:avLst/>
          </a:prstGeom>
          <a:solidFill>
            <a:srgbClr val="8C6D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123605" y="459943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127413" y="4581144"/>
            <a:ext cx="1347555" cy="274320"/>
          </a:xfrm>
          <a:prstGeom prst="rect">
            <a:avLst/>
          </a:prstGeom>
          <a:solidFill>
            <a:srgbClr val="8C6D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154845" y="459943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221133" y="4581144"/>
            <a:ext cx="660061" cy="274320"/>
          </a:xfrm>
          <a:prstGeom prst="rect">
            <a:avLst/>
          </a:prstGeom>
          <a:solidFill>
            <a:srgbClr val="8C6D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248565" y="4599432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908627" y="4581144"/>
            <a:ext cx="1003808" cy="274320"/>
          </a:xfrm>
          <a:prstGeom prst="rect">
            <a:avLst/>
          </a:prstGeom>
          <a:solidFill>
            <a:srgbClr val="8C6D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936059" y="459943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Remed.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9939867" y="4581144"/>
            <a:ext cx="1347555" cy="274320"/>
          </a:xfrm>
          <a:prstGeom prst="rect">
            <a:avLst/>
          </a:prstGeom>
          <a:solidFill>
            <a:srgbClr val="8C6D4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967299" y="459943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4439920" y="4910328"/>
            <a:ext cx="1347555" cy="274320"/>
          </a:xfrm>
          <a:prstGeom prst="rect">
            <a:avLst/>
          </a:prstGeom>
          <a:solidFill>
            <a:srgbClr val="8C6D4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4467352" y="4928616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TPRM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189893" y="4910328"/>
            <a:ext cx="1003808" cy="274320"/>
          </a:xfrm>
          <a:prstGeom prst="rect">
            <a:avLst/>
          </a:prstGeom>
          <a:solidFill>
            <a:srgbClr val="8C6D4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217325" y="4928616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9939867" y="4910328"/>
            <a:ext cx="1003808" cy="274320"/>
          </a:xfrm>
          <a:prstGeom prst="rect">
            <a:avLst/>
          </a:prstGeom>
          <a:solidFill>
            <a:srgbClr val="8C6D46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9967299" y="4928616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48640" y="5477256"/>
            <a:ext cx="219456" cy="219456"/>
          </a:xfrm>
          <a:prstGeom prst="ellipse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841248" y="53675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mgmt &amp; sustainment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548640" y="5971032"/>
            <a:ext cx="11109960" cy="0"/>
          </a:xfrm>
          <a:prstGeom prst="line">
            <a:avLst/>
          </a:prstGeom>
          <a:noFill/>
          <a:ln w="6350">
            <a:solidFill>
              <a:srgbClr val="D5DCE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721187" y="5312664"/>
            <a:ext cx="660061" cy="274320"/>
          </a:xfrm>
          <a:prstGeom prst="rect">
            <a:avLst/>
          </a:prstGeom>
          <a:solidFill>
            <a:srgbClr val="5B6B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2748619" y="5330952"/>
            <a:ext cx="6234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3408680" y="5312664"/>
            <a:ext cx="1003808" cy="274320"/>
          </a:xfrm>
          <a:prstGeom prst="rect">
            <a:avLst/>
          </a:prstGeom>
          <a:solidFill>
            <a:srgbClr val="5B6B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3436112" y="5330952"/>
            <a:ext cx="967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9596120" y="5312664"/>
            <a:ext cx="1347555" cy="274320"/>
          </a:xfrm>
          <a:prstGeom prst="rect">
            <a:avLst/>
          </a:prstGeom>
          <a:solidFill>
            <a:srgbClr val="5B6B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623552" y="5330952"/>
            <a:ext cx="13109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10971107" y="5312664"/>
            <a:ext cx="316315" cy="274320"/>
          </a:xfrm>
          <a:prstGeom prst="rect">
            <a:avLst/>
          </a:prstGeom>
          <a:solidFill>
            <a:srgbClr val="5B6B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0998539" y="5330952"/>
            <a:ext cx="2797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4611793" y="1554480"/>
            <a:ext cx="0" cy="443484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128" name="Shape 126"/>
          <p:cNvSpPr/>
          <p:nvPr/>
        </p:nvSpPr>
        <p:spPr>
          <a:xfrm>
            <a:off x="4483777" y="6035040"/>
            <a:ext cx="256032" cy="256032"/>
          </a:xfrm>
          <a:prstGeom prst="diamond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4154593" y="6318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W6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7705513" y="1554480"/>
            <a:ext cx="0" cy="443484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>
            <a:off x="7577497" y="6035040"/>
            <a:ext cx="256032" cy="256032"/>
          </a:xfrm>
          <a:prstGeom prst="diamond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7248313" y="6318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W15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9424247" y="1554480"/>
            <a:ext cx="0" cy="443484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>
            <a:off x="9296231" y="6035040"/>
            <a:ext cx="256032" cy="256032"/>
          </a:xfrm>
          <a:prstGeom prst="diamond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8967047" y="6318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W20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11486727" y="1554480"/>
            <a:ext cx="0" cy="443484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11358711" y="6035040"/>
            <a:ext cx="256032" cy="256032"/>
          </a:xfrm>
          <a:prstGeom prst="diamond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11029527" y="6318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W26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 1: OS &amp; container hardening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323015" y="457200"/>
            <a:ext cx="320040" cy="32004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7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guardrails: SCP, RCP, EC2 declarative policies, Control Tower controls (EBS encryption via controls, not declarative)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End-of-life: AL2 to zero; EKS node OS then version hops to 1.36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AL2023 image to CIS L1; SSM before Inspector CIS and runtime agents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baseline, signed images, network and data protection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tasks.  </a:t>
            </a:r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led by role: KHE 13, CSE 12, CPE 4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343400"/>
                <a:gridCol w="86868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end-of-support remediation (1.31 before 26 Nov; 1.34 per D-10...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W2-W5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SSM enrolment fleet-wide (prerequisite for runtime agents, Patch...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W2-W6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HD-16A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node groups AL2 -&gt; AL2023/Bottlerocket at 1.32 (non-prod W6-7,...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W6-W8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org guardrails (sandbox/non-prod W7-W8; prod from W11)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W7-W12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HD-16B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version hops 1.32 -&gt; 1.36 (before 1.32 extended EOS 23 Mar 2027)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W11-W18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hardening rollout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W11-W15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AL2 migration wave 2 (to zero AL2)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W17-W20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supply chain: signing and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W16-W19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74920" y="4800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live in all OUs; AL2 count 0; all clusters on 1.36; CIS L1 baseline; signed-image enforcement; immutable log archive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5285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AWS Foundations v5.0.0 (automated) / v7.1.0 (delta); CIS AL2023 v1.0.0; CIS EKS v2.0.0; CIS Bottlerocket v1.0.0; Security Hub EC2.7/EC2.8/SSM.1/EKS.2/EKS.8/ECR.2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 2: Identity hardening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323015" y="457200"/>
            <a:ext cx="320040" cy="320040"/>
          </a:xfrm>
          <a:prstGeom prst="ellipse">
            <a:avLst/>
          </a:prstGeom>
          <a:solidFill>
            <a:srgbClr val="7A5BA6"/>
          </a:solidFill>
          <a:ln w="12700">
            <a:solidFill>
              <a:srgbClr val="7A5B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first, then Conditional Access report-only, then enforce after FIDO2 enrolment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standing admin: PIM incl. PIM for Groups to AWS IAM Identity Center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identity: B2C hardening and step-up on withdrawals; External ID roadmap before May 2030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identities, app-consent governance, wallet sign-in (EIP-4361)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tasks.  </a:t>
            </a:r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led by role: IDC 9, ISE 8, PL 1, BSE 1, CPE 1, BSC 1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343400"/>
                <a:gridCol w="86868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Break-glass accounts before any Conditional Access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MFA Phase 2 (enforced): move user-run automation to workload...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Conditional Access baseline in report-only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W7-W10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 device-bound FIDO2 keys for admins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W9-W10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ID-08B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Conditional Access baseline (after freeze)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W11-W12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 hardening and step-up MFA on withdrawals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W9-W13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PIM: zero standing privileged access (Entra, Azure, PIM for Groups...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W13-W15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identity roadmap: B2C to External ID (D-06)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W14-W15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74920" y="4800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admin MFA; zero standing admins; step-up on withdrawals; External ID roadmap (D-06); hardened wallet sign-in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5285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licensing, auth strengths, emergency access; B2C FAQ (P2 retired 15 Mar 2026); External ID features; IAM Identity Center SCIM limits; EIP-4361; CIS Controls 5/6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 3: Monitoring, response &amp; resilience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323015" y="457200"/>
            <a:ext cx="320040" cy="32004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AWS detection independent of SIEM; interim 24/7 until MDR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before detections: Splunk add-ons incl. Security Hub OCSF; Entra via Event Hub; B2C via Lighthouse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Detection-as-code, two detection waves, SOAR, purple team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and staking monitoring; IR plan, tabletop, DR test, pentest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tasks.  </a:t>
            </a:r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led by role: DET 9, ISE 5, CSE 4, CPE 3, PMC 1, MDR 1, BSE 1, PEN 1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343400"/>
                <a:gridCol w="86868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24/7 coverage until MDR is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agentless AWS detection services org-wide (independent of SIEM)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onboarding in phases (EDR/GuardDuty/Entra first, Splunk...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W5-W13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telemetry to Splunk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W7-W10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On-chain monitoring deployment (production)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W7-W9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wave 1: identity and control plane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W11-W13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Penetration test (cloud, EKS, dApp front-end, wallet sign-in, B2C...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W18-W19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Tabletop exercises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W19-W20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74920" y="4800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MDR live; log sources 100% green; detections in production; IR plan and on-chain playbooks; DR restore evidence; pentest retest letter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5285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800-61r3; MITRE ATT&amp;CK; Splunkbase 1876/8642/3110/5082; GuardDuty Runtime Monitoring docs; SEAL Monitoring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 4: Blockchain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323015" y="457200"/>
            <a:ext cx="320040" cy="32004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multisig hardening now; role matrix with timelocks, pause guardian and canceller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hygiene after Bybit and Drift: clear signing, independent hash checks, no durable-nonce admin txs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for Solidity and Rust/Anchor; verified builds; code freeze before audit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(CCSS v9), staking oversight, hard-fork readiness, bug bounty, crypto-agility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tasks.  </a:t>
            </a:r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led by role: BSE 18, BSC 5, CSO 4, CPE 1, SCA 1, ISE 1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343400"/>
                <a:gridCol w="86868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Alpenglow readiness confirmation from staking provider (activates...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multisig hardening (Drift-pattern exposure)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Staking provider due diligence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W6-W9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Privileged on-chain roles under multisig and timelock (role matrix)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W11-W14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Signer operations hardening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W13-W15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freeze for audit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Smart-contract audit (Ethereum + Solana, parallel teams)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W16-W19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bounty and SEAL Safe Harbor decision (D-09)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W23-W24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74920" y="4800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Privileged-role register; 100% upgrade/admin roles under multisig + timelock; audit + fix review; live bounty; fork runbook; PQ roadmap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5285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BSSC SCS, KMS, NOS v2; CCSS v9.0; OWASP SC Top 10 2026; SEAL Frameworks; EIP-7002/7251/7702; Safe 1.5.0; Squads v4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 5: Governance &amp; compliance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323015" y="457200"/>
            <a:ext cx="320040" cy="320040"/>
          </a:xfrm>
          <a:prstGeom prst="ellipse">
            <a:avLst/>
          </a:prstGeom>
          <a:solidFill>
            <a:srgbClr val="8C6D46"/>
          </a:solidFill>
          <a:ln w="12700">
            <a:solidFill>
              <a:srgbClr val="8C6D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C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go/no-go first: MiCA/DORA/PCI out of scope with conditions; custodial/MSB question answered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policies, unified control matrix, TPRM and vendor exit plans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2: independent readiness, Type I as of 21 Mar 2027, gap-free Type II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firms kept separate: implementation, readiness, attestation; IA reports to the 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tasks.  </a:t>
            </a:r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led by role: GRC 11, GRCC 5, PL 3, CSO 2, PMC 1, ISE 1, HRB 1, RDA 1, CPA 1, IA 1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343400"/>
                <a:gridCol w="86868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scope go/no-go (D-01) with counsel engaged in W0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scope, system description and period plan (D-08, D-12)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W5-W7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framework (version-controlled)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W5-W8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/ ICT risk programme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W6-W9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control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W8-W11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readiness assessment (independent firm)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W17-W18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Type I (as-of Sun 21 Mar 2027) and Type II period start (Mon...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W22-W25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GC-16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assurance review (third 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W22-W24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74920" y="4800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memo; policy set v1.0; control matrix; TPRM register; readiness report; SOC 2 Type I; IA report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5285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AICPA TSC 2017 (2022 PoF); NIST CSF 2.0; ISO/IEC 27001:2022; CIS Controls v8.1; MiCA Art 61/143; DORA Art 2; FinCEN CVC guidance; OFAC VC guidance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Workstream 6: Program mgmt &amp; sustainment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323015" y="457200"/>
            <a:ext cx="320040" cy="320040"/>
          </a:xfrm>
          <a:prstGeom prst="ellipse">
            <a:avLst/>
          </a:prstGeom>
          <a:solidFill>
            <a:srgbClr val="5B6B7B"/>
          </a:solidFill>
          <a:ln w="12700">
            <a:solidFill>
              <a:srgbClr val="5B6B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interim budget and partner bookings in weeks 0-2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appetite, threat model and CSF 2.0 gap baseline before design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ARB reviews; four signed gates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handover, KPI dashboard, evergreen model, next-year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709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tasks.  </a:t>
            </a:r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led by role: PL 14, PMC 2, GRC 2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343400"/>
                <a:gridCol w="86868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PM-02A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budget approval for long-lead commitments (D-17)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long-lead partners and contractors (weeks 1-2)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W1-W2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 (cloud, identity, on-chain, supply chain, insider)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W3-W5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gap assessment (CSF 2.0 current/target profile)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W3-W5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PM-09A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 #1: guardrail, image, identity, telemetry designs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PM-09B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 #2: network, Kubernetes, workload identity, CIAM, DR, SSDLC...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Evergreen operating model live before SOC 2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W14-W16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Runbooks and BAU handover per workstream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W21-W24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74920" y="48006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Charter; booked SOWs; risk appetite; threat model; ARB approvals; gate minutes; handover acceptance; FY roadmap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52852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GV; ISO 27001 clauses 5-10; IIA Three Lines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Team: 5.0 internal FTE, contractors for the build peak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868680"/>
                <a:gridCol w="457200"/>
                <a:gridCol w="822960"/>
                <a:gridCol w="502920"/>
                <a:gridCol w="2880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Certifications /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Program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CISSP or CISM; PMP/PRINCE2 or equivalent...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&amp; Platform Security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Certified Security - Specialty; 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Security Operations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SC-300; SC-200 or Splunk ES Certified Admin...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 &amp; Risk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CISA and/or CRISC; ISO 27001 Lead Implementer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Security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W0-W26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audit/contest track record (audit...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Cloud/K8s Hardening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W2-W22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CKS; AWS Security Specialty; CIS-CAT experience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Cloud Platform Security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W3-W20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Security Specialty or SA Professional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Detection Engineer (Splunk)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W3-W24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Certified Cybersecurity Defense...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Identity Specialist (Entra/B2C)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W3-W18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SC-300; delivered B2C custom-policy projects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Custody, Staking &amp; Sanctions Specialist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W3-W22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CCSS auditor (CCSSA) or equivalent custody...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Smart-Contract Security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W5-W22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audit or contest record on EVM and Solana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SOC 2 Implementation Consultant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W3-W24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CISA; &gt;=3 SOC 2 implementations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PMO Coordinator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W1-W26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PMP/CAPM or equivalent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006840" y="11887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261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17647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FTE (range 3-5)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006840" y="2267712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0" y="23408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28437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FTE at peak (8 roles)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006840" y="3346704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0" y="3419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39227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FTE-weeks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006840" y="4425696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0" y="44988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50017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firms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5532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rule: &lt;=3 concurrent lead tasks per FTE and weighted load &lt;=4.0 per FTE in every week; all roles pass (internal roles peak at the limit)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sized for a small team, with independent assurance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129844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+ gates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2024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budget, gates, risk acceptance, policy approval; quarterly board report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129844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6227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(in CAB slot)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192024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designs and standards; time-boxed exceptions (&lt;=90 days)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1887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11312" y="129844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&amp; Key Committee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+ ad hoc &lt;=4h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192024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chair; deploys, upgrades, signer/threshold/timelock, custody and staking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9864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Advisory Board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2278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Weekly; emergency &lt;=2h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52044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changes; freeze windows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62272" y="289864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forum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62272" y="32278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(interim on-call, MDR)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62272" y="352044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and contain; notify per D-01; invoke emergency pause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E1F3F0"/>
          </a:solidFill>
          <a:ln w="12700">
            <a:solidFill>
              <a:srgbClr val="E1F3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11312" y="2898648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assurance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11312" y="32278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IA + SOC 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3520440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reports to Board; CPA, readiness assessor and implementer are separate firms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3566160" cy="822960"/>
          </a:xfrm>
          <a:prstGeom prst="chevron">
            <a:avLst/>
          </a:prstGeom>
          <a:solidFill>
            <a:srgbClr val="2B3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63600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and control owners run controls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0" y="4526280"/>
            <a:ext cx="3566160" cy="822960"/>
          </a:xfrm>
          <a:prstGeom prst="chevron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463600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Lead oversees, never tests own controls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4526280"/>
            <a:ext cx="3566160" cy="822960"/>
          </a:xfrm>
          <a:prstGeom prst="chevron">
            <a:avLst/>
          </a:prstGeom>
          <a:solidFill>
            <a:srgbClr val="1420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463600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line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Outsourced IA + SOC 2 CPA test independently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rights, inputs and outputs per forum: Governance Model tab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 model: monitor, measure, review, improve, assure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2011680"/>
            <a:ext cx="3017520" cy="3017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5DCE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810512" y="1600200"/>
            <a:ext cx="1133856" cy="822960"/>
          </a:xfrm>
          <a:prstGeom prst="ellipse">
            <a:avLst/>
          </a:prstGeom>
          <a:solidFill>
            <a:srgbClr val="0F9D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288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993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control health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5428" y="2642728"/>
            <a:ext cx="1133856" cy="822960"/>
          </a:xfrm>
          <a:prstGeom prst="ellipse">
            <a:avLst/>
          </a:prstGeom>
          <a:solidFill>
            <a:srgbClr val="3D7E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63716" y="277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63716" y="303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KPI/KRI refresh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339" y="4329572"/>
            <a:ext cx="1133856" cy="822960"/>
          </a:xfrm>
          <a:prstGeom prst="ellipse">
            <a:avLst/>
          </a:prstGeom>
          <a:solidFill>
            <a:srgbClr val="2B3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627" y="44667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15627" y="47227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Steering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23685" y="4329572"/>
            <a:ext cx="1133856" cy="82296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973" y="44667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1973" y="47227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CAPA, ARB, CUKC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596" y="2642728"/>
            <a:ext cx="1133856" cy="822960"/>
          </a:xfrm>
          <a:prstGeom prst="ellipse">
            <a:avLst/>
          </a:prstGeom>
          <a:solidFill>
            <a:srgbClr val="1420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3884" y="277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3884" y="303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SOC 2 Type II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1572768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calendar, patch SLA, detection tuning, CAB, CUKC, on-chain alert review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35915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risk review, exception expiry, privileged access review, staking report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1455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3145536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reviews, tabletop, restore tests, signer drill, benchmark/version check, board report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931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Semi-annual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39319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tranche, pause drill, custody/staking reassessment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7183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4718304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II, pentest, full DR test, risk &amp; fraud assessment, IA, management review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64108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Re-assessment triggers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641080" y="1572768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78240" y="1645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deploy or upgrade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41080" y="206654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0" y="21396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fork or client release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41080" y="256032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78240" y="2633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benchmark or vendor version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41080" y="3054096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0" y="31272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 (ours or industry)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641080" y="3547872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3621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changed vendor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41080" y="4041648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78240" y="41148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or new market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41080" y="4535424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778240" y="460857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Signer, admin or key-person change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641080" y="502920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78240" y="51023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 announcement; exception expiry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KPIs: 25 measures, each with a target, data source and owner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 / EOL OS instance count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(or approved exceptions with expiry) by W20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55848" y="1188720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2618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clusters on a standard-support version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by W18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1188720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2618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AL2023 Level 1 pass rate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&gt;=90% by W20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70264" y="1188720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07424" y="12618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coverage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07424" y="17190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instances by W12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304288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377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 CSPM security score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&gt;=90% by W20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55848" y="2304288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93008" y="2377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workloads running signed images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493008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by W19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63056" y="2304288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0216" y="2377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using phishing-resistant MFA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0216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by W12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0264" y="2304288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07424" y="2377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privileged admins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07424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 W15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419856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4930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withdrawals / payout-address changes protected by step-up MFA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3950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flows by W13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55848" y="3419856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93008" y="34930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- identity high-severity events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493008" y="3950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&lt;=15 min; p90 &lt;=60 min from W14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63056" y="3419856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0216" y="34930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- on-chain privileged events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300216" y="3950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&lt;=5 min; p90 &lt;=15 min from W13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970264" y="3419856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07424" y="34930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- Sev-1 containment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107424" y="3950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&lt;=4 h; p90 &lt;=8 h from W17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4535424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608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Upgrade/admin on-chain roles under multisig + timelock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5065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by W15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355848" y="4535424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93008" y="4608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- Ethereum: effectiveness vs provider SLA; slashing events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493008" y="5065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SLA; 0 slashing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3056" y="4535424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00216" y="4608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automated control pass rate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300216" y="5065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&gt;=95% by W20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970264" y="4535424"/>
            <a:ext cx="2651760" cy="987552"/>
          </a:xfrm>
          <a:prstGeom prst="roundRect">
            <a:avLst>
              <a:gd name="adj" fmla="val 74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107424" y="46085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past expiry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107424" y="5065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independent review changed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grew from 109 in v1 to 150 in v2. 55 findings fixed or verified; 7 are partially fixed, contingent or awaiting validation, each with a named validation task.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983480" y="1261872"/>
            <a:ext cx="274320" cy="27432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1188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517904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agents only after SSM; EKS split into node migration before the freeze, then version hops to 1.36 ahead of the 23 Mar 2027 hard stop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83480" y="2377440"/>
            <a:ext cx="274320" cy="274320"/>
          </a:xfrm>
          <a:prstGeom prst="ellipse">
            <a:avLst/>
          </a:prstGeom>
          <a:solidFill>
            <a:srgbClr val="7A5BA6"/>
          </a:solidFill>
          <a:ln w="12700">
            <a:solidFill>
              <a:srgbClr val="7A5B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23042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SOC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63347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24/7 on-call from W0; FIDO2 keys ordered and enrolled before CA is enforced; Entra/B2C logs archived now; Security Hub OCSF uses its own Splunk add-on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83480" y="3493008"/>
            <a:ext cx="274320" cy="27432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34198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74904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multisig hardening now; pause guardian kept outside timelocks; Alpenglow fee is per epoch; code freeze after timelocks; Anchor 1.x migration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83480" y="4608576"/>
            <a:ext cx="274320" cy="274320"/>
          </a:xfrm>
          <a:prstGeom prst="ellipse">
            <a:avLst/>
          </a:prstGeom>
          <a:solidFill>
            <a:srgbClr val="8C6D46"/>
          </a:solidFill>
          <a:ln w="12700">
            <a:solidFill>
              <a:srgbClr val="8C6D4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453542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486460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Custodial/MSB question added to D-01; BIA, BCP and fraud risk assessment; three separate assurance firms; evergreen calendar live before the SOC 2 period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 and how the plan mitigates them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0"/>
                <a:gridCol w="685800"/>
                <a:gridCol w="5029200"/>
                <a:gridCol w="62179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AL2 workloads cannot migrate on time (app dependencies)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Containment (HD-03), two migration waves, time-boxed exceptions with expiry, CrowdStrike prevention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team overload / key-person dependency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rule enforced (&lt;=3 leads and weighted &lt;=4.0 per FTE); 8 contractors for build peaks; deputies named in RACI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Signer-UI compromise or multisig social engineering (Bybit/Drift patterns)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BC-10 timelocks/thresholds/delegatecall guard/durable-nonce ban; BC-11 clear signing and independent hash check; MR-13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is custodial / an MSB -&gt; FinCEN, state licensing, FTC Safeguards obligations not in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D-01 answers explicitly; re-plan at Gate 1 if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forced upgrade after 26 Nov 2026 breaks workloads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HD-02 controlled 1.31-&gt;1.32 upgrade by W4; add-on testing; rollback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Smart-contract audit slot slips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in W1-2 (PM-03) sized by nSLOC; code freeze W15; parallel EVM/Solana teams; backup auditor shortlisted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ingest/licence overrun (Entra non-interactive logs 5-10x; OCSF volumes)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sizing in MR-03; filtering at Event Hub/HEC; tiered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= likelihood x impact (1-5 each); 15+ is High. All 22 risks with owners are on the Risks and Decisions tab.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requested from Steering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3520440"/>
                <a:gridCol w="251460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capacity envelope (8 contractors, 6.5 FTE peak, 133 FTE-weeks) vs descope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/ approve with descope list (HD-26, HD-30, BC-20, ID-17) / reject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W1 - Fri 30 Oct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1.34 clusters and upgradePolicy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to 1.35 before 2 Dec / EXTENDED at $0.60 per cluster-hr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W2 - Fri 6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Hot-wallet caps and velocity limits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risk appetite tiers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W3 - Fri 13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scope: MiCA/DORA/PCI no-go conditions; custodial/MSB/state licensing/Safeguards Rule; OFAC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 with conditions / in scope (re-plan at G1) / 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W4 - Fri 20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provider and 24/7 owner per alert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Falcon Complete Next-Gen MDR / Splunk-integrated MDR / 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W4 - Fri 20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services plan and cost (Security Hub per-resource, GuardDuty, Inspector, EKS extended, Splunk ingest)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Essentials / add-ons / reduced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W4 - Fri 20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licensing (admins, access-review population, workforce risk CA, workload identities)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/ ID Governance / Entra Suite / Workload ID 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W5 - Fri 27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node 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AL2023 managed nodes / Bottlerocket / EKS Auto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W4 - Fri 20 Nov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32520" y="118872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E1F3F0"/>
          </a:solidFill>
          <a:ln w="12700">
            <a:solidFill>
              <a:srgbClr val="E1F3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15400" y="1298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today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169164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scope and gate dates (W6, W15, W20, W26)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Immediate actions and their owners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budget envelope (D-17)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732520" y="3474720"/>
            <a:ext cx="2926080" cy="2240280"/>
          </a:xfrm>
          <a:prstGeom prst="roundRect">
            <a:avLst>
              <a:gd name="adj" fmla="val 326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397764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not costed (licences, partners, contractors)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Custodial/MSB status unknown until D-01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4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review items await validation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al Ink">
  <a:themeElements>
    <a:clrScheme name="Signal Ink">
      <a:dk1>
        <a:srgbClr val="14202E"/>
      </a:dk1>
      <a:lt1>
        <a:srgbClr val="FFFFFF"/>
      </a:lt1>
      <a:dk2>
        <a:srgbClr val="2B3A4A"/>
      </a:dk2>
      <a:lt2>
        <a:srgbClr val="EEF2F5"/>
      </a:lt2>
      <a:accent1>
        <a:srgbClr val="0F9D8A"/>
      </a:accent1>
      <a:accent2>
        <a:srgbClr val="E8A33D"/>
      </a:accent2>
      <a:accent3>
        <a:srgbClr val="C2410C"/>
      </a:accent3>
      <a:accent4>
        <a:srgbClr val="5B6B7B"/>
      </a:accent4>
      <a:accent5>
        <a:srgbClr val="3D7EA6"/>
      </a:accent5>
      <a:accent6>
        <a:srgbClr val="7A5BA6"/>
      </a:accent6>
      <a:hlink>
        <a:srgbClr val="0F9D8A"/>
      </a:hlink>
      <a:folHlink>
        <a:srgbClr val="5B6B7B"/>
      </a:folHlink>
    </a:clrScheme>
    <a:fontScheme name="Signal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Security Program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Program Plan v2</dc:title>
  <dc:subject>PptxGenJS Presentation</dc:subject>
  <dc:creator>PptxGenJS</dc:creator>
  <cp:lastModifiedBy>PptxGenJS</cp:lastModifiedBy>
  <cp:revision>1</cp:revision>
  <dcterms:created xsi:type="dcterms:W3CDTF">2026-10-19T17:44:39Z</dcterms:created>
  <dcterms:modified xsi:type="dcterms:W3CDTF">2026-10-19T17:44:39Z</dcterms:modified>
</cp:coreProperties>
</file>