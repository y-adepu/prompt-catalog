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secure approval for a 26-week program and three immediate actions. The plan was reviewed by four independent specialist reviewers before this briefing.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line first. The plan was re-baselined after independent review; figures here match the v2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surfaced by the independent review and re-verified against vendor sources on 17 Oct 2026 (Solana/Anza, AWS AL2 FAQ, ESMA/AMF on MiCA, DORA Art. 19). Owners: Blockchain Infra Engineer (B-00), Compliance Counsel (G-04, M-00), Platform Engineer (O-11).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Frameworks used: NIST CSF 2.0 as the outcome map, CIS benchmarks for technical settings, BSSC and CCSS for blockchain, SOC 2 and MiCA/DORA (and PCI DSS v4.0.1 if in scope) for assurance.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deliverable maps to a task ID in the Project Plan tab. Gates are Steering Committee go/no-go decisions with signed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path runs through AL2/EKS remediation, EKS hardening and fleet roll-out; track their float weekly.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review moved SSM enrolment ahead of scanning, added AL2 retirement, and extended EKS hardening to six weeks to include access entries and version upgrades.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B2C P2 retirement removed Identity Protection for customer accounts, so the plan adds explicit anti-fraud controls and step-up MFA for withdrawals and wallet linking. External ID does not run B2C custom policies, which drives the week-8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 pausing from SOAR uses a dedicated pause-only guardian role held in HSM or MPC, never an upgrade key. Container detections follow container telemetry; the review caught the original ordering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Signers recompute Safe transaction hashes independently (lesson of the Feb 2025 Bybit loss). Solana upgrades go through Squads with solana-verify build checks. Pectra made Ethereum withdrawal credentials control keys, so they move under multisig or cold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PCI DSS v4.0.1 applies only if cardholder data is in scope; tokenisation is the preferred way to keep scope small. DORA applies to authorised CASPs.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Combines the Program and Sustainment tracks of the workbook (9 + 4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FTE meets the 3–5 target only at its upper bound. To trim: merge Program Lead into the Security Architect role or move more detection work to the MDR partner. Plan to convert one blockchain security role to an internal hire before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merged the separate risk forum into Steering, moved the key committee to an internal chair, and added independent assurance so the GRC Lead does not mark their own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health is measured automatically in the GRC platform (target ≥95% passing). Incidents, exercises and audit findings feed one backlog prioritised at Steering. Exceptions expire automatically (max 6 months). Policies and the control matrix live in version control. A contractor-dependency KRI tracks knowledge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list with data sources and owners is in the KPIs tab. Solana client-diversity targets are paused until after the Alpenglow migration because only Agave-based clients are supported during the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reviewer worked independently from current vendor documentation. Three critical facts were re-verified directly: Alpenglow 21 Oct 2026, AL2 end of support 30 Jun 2026, Sentinel Azure-portal end 31 Mar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risk register and decision log in the workbook (Risks, Decisions tabs).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figures are not included; tooling (SIEM, on-chain monitoring, GRC platform, MPC custody) and audit fees should be costed before Gate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0392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0392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1F5FA8"/>
          </a:solidFill>
          <a:ln/>
        </p:spPr>
      </p:sp>
      <p:sp>
        <p:nvSpPr>
          <p:cNvPr id="3" name="Text 1"/>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8A464"/>
                </a:solidFill>
                <a:latin typeface="IBM Plex Sans" pitchFamily="34" charset="0"/>
                <a:ea typeface="IBM Plex Sans" pitchFamily="34" charset="-122"/>
                <a:cs typeface="IBM Plex Sans" pitchFamily="34" charset="-120"/>
              </a:rPr>
              <a:t>EXECUTIVE BRIEFING · OCTOBER 2026</a:t>
            </a:r>
            <a:endParaRPr lang="en-US" sz="1400" dirty="0"/>
          </a:p>
        </p:txBody>
      </p:sp>
      <p:sp>
        <p:nvSpPr>
          <p:cNvPr id="4" name="Text 2"/>
          <p:cNvSpPr/>
          <p:nvPr>
            <p:ph type="title"/>
          </p:nvPr>
        </p:nvSpPr>
        <p:spPr>
          <a:xfrm>
            <a:off x="812800" y="2331839"/>
            <a:ext cx="10883392" cy="1412081"/>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7F6F2"/>
                </a:solidFill>
                <a:latin typeface="Source Serif 4" pitchFamily="18" charset="0"/>
                <a:ea typeface="Source Serif 4" pitchFamily="18" charset="-122"/>
                <a:cs typeface="Source Serif 4" pitchFamily="18" charset="-120"/>
              </a:rPr>
              <a:t>Security Hardening, Monitoring &amp; Governance Program</a:t>
            </a:r>
            <a:endParaRPr lang="en-US" sz="5200" dirty="0"/>
          </a:p>
        </p:txBody>
      </p:sp>
      <p:sp>
        <p:nvSpPr>
          <p:cNvPr id="5" name="Text 3"/>
          <p:cNvSpPr/>
          <p:nvPr/>
        </p:nvSpPr>
        <p:spPr>
          <a:xfrm>
            <a:off x="812800" y="3921720"/>
            <a:ext cx="10883392"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CADB"/>
                </a:solidFill>
                <a:latin typeface="IBM Plex Sans" pitchFamily="34" charset="0"/>
                <a:ea typeface="IBM Plex Sans" pitchFamily="34" charset="-122"/>
                <a:cs typeface="IBM Plex Sans" pitchFamily="34" charset="-120"/>
              </a:rPr>
              <a:t>A 26-week plan for AWS workloads, Ethereum and Solana dApps, and Microsoft Entra ID / Azure AD B2C identity — independently reviewed and re-baselined</a:t>
            </a:r>
            <a:endParaRPr lang="en-US" sz="1800" dirty="0"/>
          </a:p>
        </p:txBody>
      </p:sp>
      <p:sp>
        <p:nvSpPr>
          <p:cNvPr id="6" name="Text 4"/>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ADB"/>
                </a:solidFill>
                <a:latin typeface="IBM Plex Sans" pitchFamily="34" charset="0"/>
                <a:ea typeface="IBM Plex Sans" pitchFamily="34" charset="-122"/>
                <a:cs typeface="IBM Plex Sans" pitchFamily="34" charset="-120"/>
              </a:rPr>
              <a:t>Plan v2 · 75 tasks · 6 workstreams · 4 governance gates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EXECUTIVE SUMMARY</a:t>
            </a:r>
            <a:endParaRPr lang="en-US" sz="1200" dirty="0"/>
          </a:p>
        </p:txBody>
      </p:sp>
      <p:sp>
        <p:nvSpPr>
          <p:cNvPr id="3" name="Text 1"/>
          <p:cNvSpPr/>
          <p:nvPr>
            <p:ph type="title"/>
          </p:nvPr>
        </p:nvSpPr>
        <p:spPr>
          <a:xfrm>
            <a:off x="812800" y="128012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In 26 weeks we close today’s critical gaps and leave an operating model that keeps security current</a:t>
            </a:r>
            <a:endParaRPr lang="en-US" sz="3000" dirty="0"/>
          </a:p>
        </p:txBody>
      </p:sp>
      <p:sp>
        <p:nvSpPr>
          <p:cNvPr id="4" name="Shape 2"/>
          <p:cNvSpPr/>
          <p:nvPr/>
        </p:nvSpPr>
        <p:spPr>
          <a:xfrm>
            <a:off x="812800" y="2391370"/>
            <a:ext cx="2489200" cy="0"/>
          </a:xfrm>
          <a:prstGeom prst="line">
            <a:avLst/>
          </a:prstGeom>
          <a:noFill/>
          <a:ln w="38100">
            <a:solidFill>
              <a:srgbClr val="1F5FA8"/>
            </a:solidFill>
            <a:prstDash val="solid"/>
          </a:ln>
        </p:spPr>
      </p:sp>
      <p:sp>
        <p:nvSpPr>
          <p:cNvPr id="5" name="Text 3"/>
          <p:cNvSpPr/>
          <p:nvPr/>
        </p:nvSpPr>
        <p:spPr>
          <a:xfrm>
            <a:off x="812800" y="2562820"/>
            <a:ext cx="2563876"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F5FA8"/>
                </a:solidFill>
                <a:latin typeface="Source Serif 4" pitchFamily="18" charset="0"/>
                <a:ea typeface="Source Serif 4" pitchFamily="18" charset="-122"/>
                <a:cs typeface="Source Serif 4" pitchFamily="18" charset="-120"/>
              </a:rPr>
              <a:t>75</a:t>
            </a:r>
            <a:endParaRPr lang="en-US" sz="3600" dirty="0"/>
          </a:p>
        </p:txBody>
      </p:sp>
      <p:sp>
        <p:nvSpPr>
          <p:cNvPr id="6" name="Text 4"/>
          <p:cNvSpPr/>
          <p:nvPr/>
        </p:nvSpPr>
        <p:spPr>
          <a:xfrm>
            <a:off x="812800" y="3253680"/>
            <a:ext cx="2563876"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tasks in 6 workstreams, sequenced and dependency-checked</a:t>
            </a:r>
            <a:endParaRPr lang="en-US" sz="1300" dirty="0"/>
          </a:p>
        </p:txBody>
      </p:sp>
      <p:sp>
        <p:nvSpPr>
          <p:cNvPr id="7" name="Shape 5"/>
          <p:cNvSpPr/>
          <p:nvPr/>
        </p:nvSpPr>
        <p:spPr>
          <a:xfrm>
            <a:off x="3505200" y="2391370"/>
            <a:ext cx="2489200" cy="0"/>
          </a:xfrm>
          <a:prstGeom prst="line">
            <a:avLst/>
          </a:prstGeom>
          <a:noFill/>
          <a:ln w="38100">
            <a:solidFill>
              <a:srgbClr val="1F5FA8"/>
            </a:solidFill>
            <a:prstDash val="solid"/>
          </a:ln>
        </p:spPr>
      </p:sp>
      <p:sp>
        <p:nvSpPr>
          <p:cNvPr id="8" name="Text 6"/>
          <p:cNvSpPr/>
          <p:nvPr/>
        </p:nvSpPr>
        <p:spPr>
          <a:xfrm>
            <a:off x="3505200" y="2562820"/>
            <a:ext cx="2563876"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F5FA8"/>
                </a:solidFill>
                <a:latin typeface="Source Serif 4" pitchFamily="18" charset="0"/>
                <a:ea typeface="Source Serif 4" pitchFamily="18" charset="-122"/>
                <a:cs typeface="Source Serif 4" pitchFamily="18" charset="-120"/>
              </a:rPr>
              <a:t>5 + 4</a:t>
            </a:r>
            <a:endParaRPr lang="en-US" sz="3600" dirty="0"/>
          </a:p>
        </p:txBody>
      </p:sp>
      <p:sp>
        <p:nvSpPr>
          <p:cNvPr id="9" name="Text 7"/>
          <p:cNvSpPr/>
          <p:nvPr/>
        </p:nvSpPr>
        <p:spPr>
          <a:xfrm>
            <a:off x="3505200" y="3253680"/>
            <a:ext cx="2563876"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internal + contractor FTE, plus an MDR partner and external auditors</a:t>
            </a:r>
            <a:endParaRPr lang="en-US" sz="1300" dirty="0"/>
          </a:p>
        </p:txBody>
      </p:sp>
      <p:sp>
        <p:nvSpPr>
          <p:cNvPr id="10" name="Shape 8"/>
          <p:cNvSpPr/>
          <p:nvPr/>
        </p:nvSpPr>
        <p:spPr>
          <a:xfrm>
            <a:off x="6197600" y="2391370"/>
            <a:ext cx="2489200" cy="0"/>
          </a:xfrm>
          <a:prstGeom prst="line">
            <a:avLst/>
          </a:prstGeom>
          <a:noFill/>
          <a:ln w="38100">
            <a:solidFill>
              <a:srgbClr val="1F5FA8"/>
            </a:solidFill>
            <a:prstDash val="solid"/>
          </a:ln>
        </p:spPr>
      </p:sp>
      <p:sp>
        <p:nvSpPr>
          <p:cNvPr id="11" name="Text 9"/>
          <p:cNvSpPr/>
          <p:nvPr/>
        </p:nvSpPr>
        <p:spPr>
          <a:xfrm>
            <a:off x="6197600" y="2562820"/>
            <a:ext cx="2563876"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F5FA8"/>
                </a:solidFill>
                <a:latin typeface="Source Serif 4" pitchFamily="18" charset="0"/>
                <a:ea typeface="Source Serif 4" pitchFamily="18" charset="-122"/>
                <a:cs typeface="Source Serif 4" pitchFamily="18" charset="-120"/>
              </a:rPr>
              <a:t>4</a:t>
            </a:r>
            <a:endParaRPr lang="en-US" sz="3600" dirty="0"/>
          </a:p>
        </p:txBody>
      </p:sp>
      <p:sp>
        <p:nvSpPr>
          <p:cNvPr id="12" name="Text 10"/>
          <p:cNvSpPr/>
          <p:nvPr/>
        </p:nvSpPr>
        <p:spPr>
          <a:xfrm>
            <a:off x="6197600" y="3253680"/>
            <a:ext cx="25638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steering gates: weeks 6, 15, 20 and 26</a:t>
            </a:r>
            <a:endParaRPr lang="en-US" sz="1300" dirty="0"/>
          </a:p>
        </p:txBody>
      </p:sp>
      <p:sp>
        <p:nvSpPr>
          <p:cNvPr id="13" name="Shape 11"/>
          <p:cNvSpPr/>
          <p:nvPr/>
        </p:nvSpPr>
        <p:spPr>
          <a:xfrm>
            <a:off x="8890000" y="2391370"/>
            <a:ext cx="2489200" cy="0"/>
          </a:xfrm>
          <a:prstGeom prst="line">
            <a:avLst/>
          </a:prstGeom>
          <a:noFill/>
          <a:ln w="38100">
            <a:solidFill>
              <a:srgbClr val="C8641E"/>
            </a:solidFill>
            <a:prstDash val="solid"/>
          </a:ln>
        </p:spPr>
      </p:sp>
      <p:sp>
        <p:nvSpPr>
          <p:cNvPr id="14" name="Text 12"/>
          <p:cNvSpPr/>
          <p:nvPr/>
        </p:nvSpPr>
        <p:spPr>
          <a:xfrm>
            <a:off x="8890000" y="2562820"/>
            <a:ext cx="2563876"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C8641E"/>
                </a:solidFill>
                <a:latin typeface="Source Serif 4" pitchFamily="18" charset="0"/>
                <a:ea typeface="Source Serif 4" pitchFamily="18" charset="-122"/>
                <a:cs typeface="Source Serif 4" pitchFamily="18" charset="-120"/>
              </a:rPr>
              <a:t>3</a:t>
            </a:r>
            <a:endParaRPr lang="en-US" sz="3600" dirty="0"/>
          </a:p>
        </p:txBody>
      </p:sp>
      <p:sp>
        <p:nvSpPr>
          <p:cNvPr id="15" name="Text 13"/>
          <p:cNvSpPr/>
          <p:nvPr/>
        </p:nvSpPr>
        <p:spPr>
          <a:xfrm>
            <a:off x="8890000" y="3253680"/>
            <a:ext cx="25638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immediate actions that cannot wait for mobilization</a:t>
            </a:r>
            <a:endParaRPr lang="en-US" sz="1300" dirty="0"/>
          </a:p>
        </p:txBody>
      </p:sp>
      <p:sp>
        <p:nvSpPr>
          <p:cNvPr id="16" name="Text 14"/>
          <p:cNvSpPr/>
          <p:nvPr/>
        </p:nvSpPr>
        <p:spPr>
          <a:xfrm>
            <a:off x="891032" y="4200922"/>
            <a:ext cx="10797540" cy="1056481"/>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b="1" dirty="0">
                <a:solidFill>
                  <a:srgbClr val="3D4A5C"/>
                </a:solidFill>
                <a:latin typeface="IBM Plex Sans" pitchFamily="34" charset="0"/>
                <a:ea typeface="IBM Plex Sans" pitchFamily="34" charset="-122"/>
                <a:cs typeface="IBM Plex Sans" pitchFamily="34" charset="-120"/>
              </a:rPr>
              <a:t>Outcome:</a:t>
            </a:r>
            <a:r>
              <a:rPr lang="en-US" sz="1400" dirty="0">
                <a:solidFill>
                  <a:srgbClr val="3D4A5C"/>
                </a:solidFill>
                <a:latin typeface="IBM Plex Sans" pitchFamily="34" charset="0"/>
                <a:ea typeface="IBM Plex Sans" pitchFamily="34" charset="-122"/>
                <a:cs typeface="IBM Plex Sans" pitchFamily="34" charset="-120"/>
              </a:rPr>
              <a:t> hardened OS and containers (CIS Level 1 ≥95%), unified monitoring across cloud, identity and chain, and SOC 2 readiness.</a:t>
            </a:r>
            <a:endParaRPr lang="en-US" sz="1400" dirty="0"/>
          </a:p>
          <a:p>
            <a:pPr algn="l" marL="175768" indent="-175768">
              <a:lnSpc>
                <a:spcPts val="2030"/>
              </a:lnSpc>
              <a:buSzPct val="100000"/>
              <a:buChar char="•"/>
            </a:pPr>
            <a:r>
              <a:rPr lang="en-US" sz="1400" b="1" dirty="0">
                <a:solidFill>
                  <a:srgbClr val="3D4A5C"/>
                </a:solidFill>
                <a:latin typeface="IBM Plex Sans" pitchFamily="34" charset="0"/>
                <a:ea typeface="IBM Plex Sans" pitchFamily="34" charset="-122"/>
                <a:cs typeface="IBM Plex Sans" pitchFamily="34" charset="-120"/>
              </a:rPr>
              <a:t>Sustainability:</a:t>
            </a:r>
            <a:r>
              <a:rPr lang="en-US" sz="1400" dirty="0">
                <a:solidFill>
                  <a:srgbClr val="3D4A5C"/>
                </a:solidFill>
                <a:latin typeface="IBM Plex Sans" pitchFamily="34" charset="0"/>
                <a:ea typeface="IBM Plex Sans" pitchFamily="34" charset="-122"/>
                <a:cs typeface="IBM Plex Sans" pitchFamily="34" charset="-120"/>
              </a:rPr>
              <a:t> standing forums, KPIs and event triggers keep controls aligned as AWS, Microsoft, Ethereum and Solana change.</a:t>
            </a:r>
            <a:endParaRPr lang="en-US" sz="1400" dirty="0"/>
          </a:p>
          <a:p>
            <a:pPr algn="l" marL="175768" indent="-175768">
              <a:lnSpc>
                <a:spcPts val="2030"/>
              </a:lnSpc>
              <a:buSzPct val="100000"/>
              <a:buChar char="•"/>
            </a:pPr>
            <a:r>
              <a:rPr lang="en-US" sz="1400" b="1" dirty="0">
                <a:solidFill>
                  <a:srgbClr val="3D4A5C"/>
                </a:solidFill>
                <a:latin typeface="IBM Plex Sans" pitchFamily="34" charset="0"/>
                <a:ea typeface="IBM Plex Sans" pitchFamily="34" charset="-122"/>
                <a:cs typeface="IBM Plex Sans" pitchFamily="34" charset="-120"/>
              </a:rPr>
              <a:t>Ask:</a:t>
            </a:r>
            <a:r>
              <a:rPr lang="en-US" sz="1400" dirty="0">
                <a:solidFill>
                  <a:srgbClr val="3D4A5C"/>
                </a:solidFill>
                <a:latin typeface="IBM Plex Sans" pitchFamily="34" charset="0"/>
                <a:ea typeface="IBM Plex Sans" pitchFamily="34" charset="-122"/>
                <a:cs typeface="IBM Plex Sans" pitchFamily="34" charset="-120"/>
              </a:rPr>
              <a:t> approve the program, staffing and partner bookings, and the three immediate actions on the next slide.</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Source: Security_Hardening_Governance_Project_Plan.xlsx (v2, 17 Oct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8641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1208"/>
                </a:solidFill>
                <a:latin typeface="IBM Plex Sans" pitchFamily="34" charset="0"/>
                <a:ea typeface="IBM Plex Sans" pitchFamily="34" charset="-122"/>
                <a:cs typeface="IBM Plex Sans" pitchFamily="34" charset="-120"/>
              </a:rPr>
              <a:t>ACT THIS WEEK — BEFORE THE PROGRAM STARTS</a:t>
            </a:r>
            <a:endParaRPr lang="en-US" sz="1200" dirty="0"/>
          </a:p>
        </p:txBody>
      </p:sp>
      <p:sp>
        <p:nvSpPr>
          <p:cNvPr id="3" name="Text 1"/>
          <p:cNvSpPr/>
          <p:nvPr>
            <p:ph type="title"/>
          </p:nvPr>
        </p:nvSpPr>
        <p:spPr>
          <a:xfrm>
            <a:off x="812800" y="1330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208"/>
                </a:solidFill>
                <a:latin typeface="Source Serif 4" pitchFamily="18" charset="0"/>
                <a:ea typeface="Source Serif 4" pitchFamily="18" charset="-122"/>
                <a:cs typeface="Source Serif 4" pitchFamily="18" charset="-120"/>
              </a:rPr>
              <a:t>Three exposures are live today</a:t>
            </a:r>
            <a:endParaRPr lang="en-US" sz="3200" dirty="0"/>
          </a:p>
        </p:txBody>
      </p:sp>
      <p:sp>
        <p:nvSpPr>
          <p:cNvPr id="4" name="Shape 2"/>
          <p:cNvSpPr/>
          <p:nvPr/>
        </p:nvSpPr>
        <p:spPr>
          <a:xfrm>
            <a:off x="812800" y="2082701"/>
            <a:ext cx="3386634" cy="2628404"/>
          </a:xfrm>
          <a:prstGeom prst="roundRect">
            <a:avLst>
              <a:gd name="adj" fmla="val 3865"/>
            </a:avLst>
          </a:prstGeom>
          <a:solidFill>
            <a:srgbClr val="FBEFE3"/>
          </a:solidFill>
          <a:ln/>
        </p:spPr>
      </p:sp>
      <p:sp>
        <p:nvSpPr>
          <p:cNvPr id="5" name="Text 3"/>
          <p:cNvSpPr/>
          <p:nvPr/>
        </p:nvSpPr>
        <p:spPr>
          <a:xfrm>
            <a:off x="1066800" y="2336701"/>
            <a:ext cx="29649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E0B"/>
                </a:solidFill>
                <a:latin typeface="IBM Plex Sans" pitchFamily="34" charset="0"/>
                <a:ea typeface="IBM Plex Sans" pitchFamily="34" charset="-122"/>
                <a:cs typeface="IBM Plex Sans" pitchFamily="34" charset="-120"/>
              </a:rPr>
              <a:t>21 OCTOBER 2026</a:t>
            </a:r>
            <a:endParaRPr lang="en-US" sz="1200" dirty="0"/>
          </a:p>
        </p:txBody>
      </p:sp>
      <p:sp>
        <p:nvSpPr>
          <p:cNvPr id="6" name="Text 4"/>
          <p:cNvSpPr/>
          <p:nvPr/>
        </p:nvSpPr>
        <p:spPr>
          <a:xfrm>
            <a:off x="1066800" y="2651621"/>
            <a:ext cx="2964993"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208"/>
                </a:solidFill>
                <a:latin typeface="IBM Plex Sans" pitchFamily="34" charset="0"/>
                <a:ea typeface="IBM Plex Sans" pitchFamily="34" charset="-122"/>
                <a:cs typeface="IBM Plex Sans" pitchFamily="34" charset="-120"/>
              </a:rPr>
              <a:t>Solana Alpenglow consensus switch</a:t>
            </a:r>
            <a:endParaRPr lang="en-US" sz="1800" dirty="0"/>
          </a:p>
        </p:txBody>
      </p:sp>
      <p:sp>
        <p:nvSpPr>
          <p:cNvPr id="7" name="Text 5"/>
          <p:cNvSpPr/>
          <p:nvPr/>
        </p:nvSpPr>
        <p:spPr>
          <a:xfrm>
            <a:off x="1066800" y="3301702"/>
            <a:ext cx="2964993"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2A1A"/>
                </a:solidFill>
                <a:latin typeface="IBM Plex Sans" pitchFamily="34" charset="0"/>
                <a:ea typeface="IBM Plex Sans" pitchFamily="34" charset="-122"/>
                <a:cs typeface="IBM Plex Sans" pitchFamily="34" charset="-120"/>
              </a:rPr>
              <a:t>Validators must run an Agave 4.3.0-based client and fund vote accounts (0.8 SOL per epoch), or they stop producing blocks. Firedancer is not supported during the switch.</a:t>
            </a:r>
            <a:endParaRPr lang="en-US" sz="1300" dirty="0"/>
          </a:p>
        </p:txBody>
      </p:sp>
      <p:sp>
        <p:nvSpPr>
          <p:cNvPr id="8" name="Shape 6"/>
          <p:cNvSpPr/>
          <p:nvPr/>
        </p:nvSpPr>
        <p:spPr>
          <a:xfrm>
            <a:off x="4402634" y="2082701"/>
            <a:ext cx="3386733" cy="2628404"/>
          </a:xfrm>
          <a:prstGeom prst="roundRect">
            <a:avLst>
              <a:gd name="adj" fmla="val 3865"/>
            </a:avLst>
          </a:prstGeom>
          <a:solidFill>
            <a:srgbClr val="FBEFE3"/>
          </a:solidFill>
          <a:ln/>
        </p:spPr>
      </p:sp>
      <p:sp>
        <p:nvSpPr>
          <p:cNvPr id="9" name="Text 7"/>
          <p:cNvSpPr/>
          <p:nvPr/>
        </p:nvSpPr>
        <p:spPr>
          <a:xfrm>
            <a:off x="4656634" y="2336701"/>
            <a:ext cx="296509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E0B"/>
                </a:solidFill>
                <a:latin typeface="IBM Plex Sans" pitchFamily="34" charset="0"/>
                <a:ea typeface="IBM Plex Sans" pitchFamily="34" charset="-122"/>
                <a:cs typeface="IBM Plex Sans" pitchFamily="34" charset="-120"/>
              </a:rPr>
              <a:t>ENDED 1 JULY 2026</a:t>
            </a:r>
            <a:endParaRPr lang="en-US" sz="1200" dirty="0"/>
          </a:p>
        </p:txBody>
      </p:sp>
      <p:sp>
        <p:nvSpPr>
          <p:cNvPr id="10" name="Text 8"/>
          <p:cNvSpPr/>
          <p:nvPr/>
        </p:nvSpPr>
        <p:spPr>
          <a:xfrm>
            <a:off x="4656634" y="2651621"/>
            <a:ext cx="2965095"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208"/>
                </a:solidFill>
                <a:latin typeface="IBM Plex Sans" pitchFamily="34" charset="0"/>
                <a:ea typeface="IBM Plex Sans" pitchFamily="34" charset="-122"/>
                <a:cs typeface="IBM Plex Sans" pitchFamily="34" charset="-120"/>
              </a:rPr>
              <a:t>MiCA transition and DORA duties</a:t>
            </a:r>
            <a:endParaRPr lang="en-US" sz="1800" dirty="0"/>
          </a:p>
        </p:txBody>
      </p:sp>
      <p:sp>
        <p:nvSpPr>
          <p:cNvPr id="11" name="Text 9"/>
          <p:cNvSpPr/>
          <p:nvPr/>
        </p:nvSpPr>
        <p:spPr>
          <a:xfrm>
            <a:off x="4656634" y="3301702"/>
            <a:ext cx="2965095"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2A1A"/>
                </a:solidFill>
                <a:latin typeface="IBM Plex Sans" pitchFamily="34" charset="0"/>
                <a:ea typeface="IBM Plex Sans" pitchFamily="34" charset="-122"/>
                <a:cs typeface="IBM Plex Sans" pitchFamily="34" charset="-120"/>
              </a:rPr>
              <a:t>Confirm authorisation status now. If we are a CASP, DORA incident reporting (4h / 72h / 1 month) applies today, so an interim procedure is needed.</a:t>
            </a:r>
            <a:endParaRPr lang="en-US" sz="1300" dirty="0"/>
          </a:p>
        </p:txBody>
      </p:sp>
      <p:sp>
        <p:nvSpPr>
          <p:cNvPr id="12" name="Shape 10"/>
          <p:cNvSpPr/>
          <p:nvPr/>
        </p:nvSpPr>
        <p:spPr>
          <a:xfrm>
            <a:off x="7992566" y="2082701"/>
            <a:ext cx="3386634" cy="2628404"/>
          </a:xfrm>
          <a:prstGeom prst="roundRect">
            <a:avLst>
              <a:gd name="adj" fmla="val 3865"/>
            </a:avLst>
          </a:prstGeom>
          <a:solidFill>
            <a:srgbClr val="FBEFE3"/>
          </a:solidFill>
          <a:ln/>
        </p:spPr>
      </p:sp>
      <p:sp>
        <p:nvSpPr>
          <p:cNvPr id="13" name="Text 11"/>
          <p:cNvSpPr/>
          <p:nvPr/>
        </p:nvSpPr>
        <p:spPr>
          <a:xfrm>
            <a:off x="8246566" y="2336701"/>
            <a:ext cx="29649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E0B"/>
                </a:solidFill>
                <a:latin typeface="IBM Plex Sans" pitchFamily="34" charset="0"/>
                <a:ea typeface="IBM Plex Sans" pitchFamily="34" charset="-122"/>
                <a:cs typeface="IBM Plex Sans" pitchFamily="34" charset="-120"/>
              </a:rPr>
              <a:t>ENDED 30 JUNE 2026</a:t>
            </a:r>
            <a:endParaRPr lang="en-US" sz="1200" dirty="0"/>
          </a:p>
        </p:txBody>
      </p:sp>
      <p:sp>
        <p:nvSpPr>
          <p:cNvPr id="14" name="Text 12"/>
          <p:cNvSpPr/>
          <p:nvPr/>
        </p:nvSpPr>
        <p:spPr>
          <a:xfrm>
            <a:off x="8246566" y="265162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208"/>
                </a:solidFill>
                <a:latin typeface="IBM Plex Sans" pitchFamily="34" charset="0"/>
                <a:ea typeface="IBM Plex Sans" pitchFamily="34" charset="-122"/>
                <a:cs typeface="IBM Plex Sans" pitchFamily="34" charset="-120"/>
              </a:rPr>
              <a:t>Amazon Linux 2 support</a:t>
            </a:r>
            <a:endParaRPr lang="en-US" sz="1800" dirty="0"/>
          </a:p>
        </p:txBody>
      </p:sp>
      <p:sp>
        <p:nvSpPr>
          <p:cNvPr id="15" name="Text 13"/>
          <p:cNvSpPr/>
          <p:nvPr/>
        </p:nvSpPr>
        <p:spPr>
          <a:xfrm>
            <a:off x="8246566" y="3027462"/>
            <a:ext cx="2964993"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2A1A"/>
                </a:solidFill>
                <a:latin typeface="IBM Plex Sans" pitchFamily="34" charset="0"/>
                <a:ea typeface="IBM Plex Sans" pitchFamily="34" charset="-122"/>
                <a:cs typeface="IBM Plex Sans" pitchFamily="34" charset="-120"/>
              </a:rPr>
              <a:t>Any remaining AL2 hosts no longer receive security updates. Inventory now; migrate to AL2023 or Bottlerocket under task O-11.</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PROGRAM OBJECTIVES</a:t>
            </a:r>
            <a:endParaRPr lang="en-US" sz="1200" dirty="0"/>
          </a:p>
        </p:txBody>
      </p:sp>
      <p:sp>
        <p:nvSpPr>
          <p:cNvPr id="3" name="Text 1"/>
          <p:cNvSpPr/>
          <p:nvPr>
            <p:ph type="title"/>
          </p:nvPr>
        </p:nvSpPr>
        <p:spPr>
          <a:xfrm>
            <a:off x="812800" y="1280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Four objectives, each with a measurable end state</a:t>
            </a:r>
            <a:endParaRPr lang="en-US" sz="3000" dirty="0"/>
          </a:p>
        </p:txBody>
      </p:sp>
      <p:sp>
        <p:nvSpPr>
          <p:cNvPr id="4" name="Shape 2"/>
          <p:cNvSpPr/>
          <p:nvPr/>
        </p:nvSpPr>
        <p:spPr>
          <a:xfrm>
            <a:off x="815975" y="1956395"/>
            <a:ext cx="5187950" cy="1492052"/>
          </a:xfrm>
          <a:prstGeom prst="roundRect">
            <a:avLst>
              <a:gd name="adj" fmla="val 6597"/>
            </a:avLst>
          </a:prstGeom>
          <a:solidFill>
            <a:srgbClr val="FFFFFF"/>
          </a:solidFill>
          <a:ln w="6350">
            <a:solidFill>
              <a:srgbClr val="D9DEE5"/>
            </a:solidFill>
            <a:prstDash val="solid"/>
          </a:ln>
        </p:spPr>
      </p:sp>
      <p:sp>
        <p:nvSpPr>
          <p:cNvPr id="5" name="Text 3"/>
          <p:cNvSpPr/>
          <p:nvPr/>
        </p:nvSpPr>
        <p:spPr>
          <a:xfrm>
            <a:off x="1047750" y="2188170"/>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1 · Harden operating systems and containers</a:t>
            </a:r>
            <a:endParaRPr lang="en-US" sz="1700" dirty="0"/>
          </a:p>
        </p:txBody>
      </p:sp>
      <p:sp>
        <p:nvSpPr>
          <p:cNvPr id="6" name="Text 4"/>
          <p:cNvSpPr/>
          <p:nvPr/>
        </p:nvSpPr>
        <p:spPr>
          <a:xfrm>
            <a:off x="1047750" y="2523430"/>
            <a:ext cx="486613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CIS-hardened AL2023/Bottlerocket images, EKS/ECS to CIS EKS v2.0.0. Target: CIS L1 ≥95%, AL2 = 0, critical patches ≤14 days.</a:t>
            </a:r>
            <a:endParaRPr lang="en-US" sz="1300" dirty="0"/>
          </a:p>
        </p:txBody>
      </p:sp>
      <p:sp>
        <p:nvSpPr>
          <p:cNvPr id="7" name="Shape 5"/>
          <p:cNvSpPr/>
          <p:nvPr/>
        </p:nvSpPr>
        <p:spPr>
          <a:xfrm>
            <a:off x="6188075" y="1956395"/>
            <a:ext cx="5187950" cy="1492052"/>
          </a:xfrm>
          <a:prstGeom prst="roundRect">
            <a:avLst>
              <a:gd name="adj" fmla="val 6597"/>
            </a:avLst>
          </a:prstGeom>
          <a:solidFill>
            <a:srgbClr val="FFFFFF"/>
          </a:solidFill>
          <a:ln w="6350">
            <a:solidFill>
              <a:srgbClr val="D9DEE5"/>
            </a:solidFill>
            <a:prstDash val="solid"/>
          </a:ln>
        </p:spPr>
      </p:sp>
      <p:sp>
        <p:nvSpPr>
          <p:cNvPr id="8" name="Text 6"/>
          <p:cNvSpPr/>
          <p:nvPr/>
        </p:nvSpPr>
        <p:spPr>
          <a:xfrm>
            <a:off x="6419850" y="2188170"/>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2 · Harden security monitoring</a:t>
            </a:r>
            <a:endParaRPr lang="en-US" sz="1700" dirty="0"/>
          </a:p>
        </p:txBody>
      </p:sp>
      <p:sp>
        <p:nvSpPr>
          <p:cNvPr id="9" name="Text 7"/>
          <p:cNvSpPr/>
          <p:nvPr/>
        </p:nvSpPr>
        <p:spPr>
          <a:xfrm>
            <a:off x="6419850" y="2523430"/>
            <a:ext cx="486613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One SIEM view of AWS, Entra/B2C, hosts and on-chain activity. Target: 100% log sources, MTTD &lt;5 min on-chain, &lt;30 min identity.</a:t>
            </a:r>
            <a:endParaRPr lang="en-US" sz="1300" dirty="0"/>
          </a:p>
        </p:txBody>
      </p:sp>
      <p:sp>
        <p:nvSpPr>
          <p:cNvPr id="10" name="Shape 8"/>
          <p:cNvSpPr/>
          <p:nvPr/>
        </p:nvSpPr>
        <p:spPr>
          <a:xfrm>
            <a:off x="815975" y="3632597"/>
            <a:ext cx="5187950" cy="1492052"/>
          </a:xfrm>
          <a:prstGeom prst="roundRect">
            <a:avLst>
              <a:gd name="adj" fmla="val 6597"/>
            </a:avLst>
          </a:prstGeom>
          <a:solidFill>
            <a:srgbClr val="FFFFFF"/>
          </a:solidFill>
          <a:ln w="6350">
            <a:solidFill>
              <a:srgbClr val="D9DEE5"/>
            </a:solidFill>
            <a:prstDash val="solid"/>
          </a:ln>
        </p:spPr>
      </p:sp>
      <p:sp>
        <p:nvSpPr>
          <p:cNvPr id="11" name="Text 9"/>
          <p:cNvSpPr/>
          <p:nvPr/>
        </p:nvSpPr>
        <p:spPr>
          <a:xfrm>
            <a:off x="1047750" y="3864372"/>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3 · Secure identity, keys and contracts</a:t>
            </a:r>
            <a:endParaRPr lang="en-US" sz="1700" dirty="0"/>
          </a:p>
        </p:txBody>
      </p:sp>
      <p:sp>
        <p:nvSpPr>
          <p:cNvPr id="12" name="Text 10"/>
          <p:cNvSpPr/>
          <p:nvPr/>
        </p:nvSpPr>
        <p:spPr>
          <a:xfrm>
            <a:off x="1047750" y="4199632"/>
            <a:ext cx="486613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Phishing-resistant admin MFA, 0 human IAM users, every privileged on-chain role under multisig + timelock, audited code.</a:t>
            </a:r>
            <a:endParaRPr lang="en-US" sz="1300" dirty="0"/>
          </a:p>
        </p:txBody>
      </p:sp>
      <p:sp>
        <p:nvSpPr>
          <p:cNvPr id="13" name="Shape 11"/>
          <p:cNvSpPr/>
          <p:nvPr/>
        </p:nvSpPr>
        <p:spPr>
          <a:xfrm>
            <a:off x="6188075" y="3632597"/>
            <a:ext cx="5187950" cy="1492052"/>
          </a:xfrm>
          <a:prstGeom prst="roundRect">
            <a:avLst>
              <a:gd name="adj" fmla="val 6597"/>
            </a:avLst>
          </a:prstGeom>
          <a:solidFill>
            <a:srgbClr val="FFFFFF"/>
          </a:solidFill>
          <a:ln w="6350">
            <a:solidFill>
              <a:srgbClr val="D9DEE5"/>
            </a:solidFill>
            <a:prstDash val="solid"/>
          </a:ln>
        </p:spPr>
      </p:sp>
      <p:sp>
        <p:nvSpPr>
          <p:cNvPr id="14" name="Text 12"/>
          <p:cNvSpPr/>
          <p:nvPr/>
        </p:nvSpPr>
        <p:spPr>
          <a:xfrm>
            <a:off x="6419850" y="3864372"/>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4 · Build sustainable governance</a:t>
            </a:r>
            <a:endParaRPr lang="en-US" sz="1700" dirty="0"/>
          </a:p>
        </p:txBody>
      </p:sp>
      <p:sp>
        <p:nvSpPr>
          <p:cNvPr id="15" name="Text 13"/>
          <p:cNvSpPr/>
          <p:nvPr/>
        </p:nvSpPr>
        <p:spPr>
          <a:xfrm>
            <a:off x="6419850" y="4199632"/>
            <a:ext cx="486613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Policies, unified control matrix and forums in BAU. Target: SOC 2 observation window open, regulatory obligations mapped.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PROGRAM DELIVERABLES</a:t>
            </a:r>
            <a:endParaRPr lang="en-US" sz="1200" dirty="0"/>
          </a:p>
        </p:txBody>
      </p:sp>
      <p:sp>
        <p:nvSpPr>
          <p:cNvPr id="3" name="Text 1"/>
          <p:cNvSpPr/>
          <p:nvPr>
            <p:ph type="title"/>
          </p:nvPr>
        </p:nvSpPr>
        <p:spPr>
          <a:xfrm>
            <a:off x="812800" y="1254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What the business receives, phase by phase</a:t>
            </a:r>
            <a:endParaRPr lang="en-US" sz="3000" dirty="0"/>
          </a:p>
        </p:txBody>
      </p:sp>
      <p:sp>
        <p:nvSpPr>
          <p:cNvPr id="4" name="Shape 2"/>
          <p:cNvSpPr/>
          <p:nvPr/>
        </p:nvSpPr>
        <p:spPr>
          <a:xfrm>
            <a:off x="11376025" y="1902420"/>
            <a:ext cx="0" cy="2987080"/>
          </a:xfrm>
          <a:prstGeom prst="line">
            <a:avLst/>
          </a:prstGeom>
          <a:noFill/>
          <a:ln w="6350">
            <a:solidFill>
              <a:srgbClr val="D9DEE5"/>
            </a:solidFill>
            <a:prstDash val="solid"/>
          </a:ln>
        </p:spPr>
      </p:sp>
      <p:sp>
        <p:nvSpPr>
          <p:cNvPr id="5" name="Shape 3"/>
          <p:cNvSpPr/>
          <p:nvPr/>
        </p:nvSpPr>
        <p:spPr>
          <a:xfrm>
            <a:off x="812800" y="4886325"/>
            <a:ext cx="10566400" cy="0"/>
          </a:xfrm>
          <a:prstGeom prst="line">
            <a:avLst/>
          </a:prstGeom>
          <a:noFill/>
          <a:ln w="6350">
            <a:solidFill>
              <a:srgbClr val="D9DEE5"/>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915120"/>
          <a:ext cx="10547350" cy="2968030"/>
        </p:xfrm>
        <a:graphic>
          <a:graphicData uri="http://schemas.openxmlformats.org/drawingml/2006/table">
            <a:tbl>
              <a:tblPr/>
              <a:tblGrid>
                <a:gridCol w="1898523"/>
                <a:gridCol w="6961251"/>
                <a:gridCol w="1687576"/>
              </a:tblGrid>
              <a:tr h="332581">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Phase · weeks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Key deliverables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Exit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Immediate · now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Validators ready for Alpenglow; regulatory go/no-go started; AL2 inventory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Validators live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545902">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 Mobilize · 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Charter; partners booked; GuardDuty, Inspector, Security Hub on; validator monitoring; interim DORA procedure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Visibility 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 Assess · 2–7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Inventory, risk appetite, threat model, gap assessment, licensing, governance charter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Gate 1 · wk 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545902">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2 Build · 6–18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Guardrails; golden AMIs; AL2 retired; EKS/ECS hardened; CA, PIM, federation; log archive; multisig + timelocks; custody; policies v1.0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Gate 2 · wk 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545902">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3 Validate · 11–22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Detections and SOAR; IR playbooks; audits and bounty; pentest; DR test; CIS L1 ≥95%; SOC 2 readiness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Gate 3 · wk 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4 Operate · 21–26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Runbooks and handover; BAU calendar; continuous compliance; scorecard; phase-2 roadmap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Gate 4 · wk 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26-WEEK ROADMAP</a:t>
            </a:r>
            <a:endParaRPr lang="en-US" sz="1200" dirty="0"/>
          </a:p>
        </p:txBody>
      </p:sp>
      <p:sp>
        <p:nvSpPr>
          <p:cNvPr id="3" name="Text 1"/>
          <p:cNvSpPr/>
          <p:nvPr>
            <p:ph type="title"/>
          </p:nvPr>
        </p:nvSpPr>
        <p:spPr>
          <a:xfrm>
            <a:off x="812800" y="11785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Phases overlap; four gates keep the program honest</a:t>
            </a:r>
            <a:endParaRPr lang="en-US" sz="3000" dirty="0"/>
          </a:p>
        </p:txBody>
      </p:sp>
      <p:sp>
        <p:nvSpPr>
          <p:cNvPr id="4" name="Text 2"/>
          <p:cNvSpPr/>
          <p:nvPr/>
        </p:nvSpPr>
        <p:spPr>
          <a:xfrm>
            <a:off x="3352800" y="2006600"/>
            <a:ext cx="812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wk 1</a:t>
            </a:r>
            <a:endParaRPr lang="en-US" sz="1200" dirty="0"/>
          </a:p>
        </p:txBody>
      </p:sp>
      <p:sp>
        <p:nvSpPr>
          <p:cNvPr id="5" name="Text 3"/>
          <p:cNvSpPr/>
          <p:nvPr/>
        </p:nvSpPr>
        <p:spPr>
          <a:xfrm>
            <a:off x="4876800" y="2006600"/>
            <a:ext cx="812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wk 6</a:t>
            </a:r>
            <a:endParaRPr lang="en-US" sz="1200" dirty="0"/>
          </a:p>
        </p:txBody>
      </p:sp>
      <p:sp>
        <p:nvSpPr>
          <p:cNvPr id="6" name="Text 4"/>
          <p:cNvSpPr/>
          <p:nvPr/>
        </p:nvSpPr>
        <p:spPr>
          <a:xfrm>
            <a:off x="6400800" y="2006600"/>
            <a:ext cx="812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wk 11</a:t>
            </a:r>
            <a:endParaRPr lang="en-US" sz="1200" dirty="0"/>
          </a:p>
        </p:txBody>
      </p:sp>
      <p:sp>
        <p:nvSpPr>
          <p:cNvPr id="7" name="Text 5"/>
          <p:cNvSpPr/>
          <p:nvPr/>
        </p:nvSpPr>
        <p:spPr>
          <a:xfrm>
            <a:off x="7924800" y="2006600"/>
            <a:ext cx="812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wk 16</a:t>
            </a:r>
            <a:endParaRPr lang="en-US" sz="1200" dirty="0"/>
          </a:p>
        </p:txBody>
      </p:sp>
      <p:sp>
        <p:nvSpPr>
          <p:cNvPr id="8" name="Text 6"/>
          <p:cNvSpPr/>
          <p:nvPr/>
        </p:nvSpPr>
        <p:spPr>
          <a:xfrm>
            <a:off x="9448800" y="2006600"/>
            <a:ext cx="812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wk 21</a:t>
            </a:r>
            <a:endParaRPr lang="en-US" sz="1200" dirty="0"/>
          </a:p>
        </p:txBody>
      </p:sp>
      <p:sp>
        <p:nvSpPr>
          <p:cNvPr id="9" name="Text 7"/>
          <p:cNvSpPr/>
          <p:nvPr/>
        </p:nvSpPr>
        <p:spPr>
          <a:xfrm>
            <a:off x="10744200" y="2006600"/>
            <a:ext cx="635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wk 26</a:t>
            </a:r>
            <a:endParaRPr lang="en-US" sz="1200" dirty="0"/>
          </a:p>
        </p:txBody>
      </p:sp>
      <p:sp>
        <p:nvSpPr>
          <p:cNvPr id="10" name="Shape 8"/>
          <p:cNvSpPr/>
          <p:nvPr/>
        </p:nvSpPr>
        <p:spPr>
          <a:xfrm>
            <a:off x="5181600" y="2260600"/>
            <a:ext cx="19050" cy="2667000"/>
          </a:xfrm>
          <a:prstGeom prst="rect">
            <a:avLst/>
          </a:prstGeom>
          <a:solidFill>
            <a:srgbClr val="14213D"/>
          </a:solidFill>
          <a:ln/>
        </p:spPr>
      </p:sp>
      <p:sp>
        <p:nvSpPr>
          <p:cNvPr id="11" name="Shape 9"/>
          <p:cNvSpPr/>
          <p:nvPr/>
        </p:nvSpPr>
        <p:spPr>
          <a:xfrm>
            <a:off x="7924800" y="2260600"/>
            <a:ext cx="19050" cy="2667000"/>
          </a:xfrm>
          <a:prstGeom prst="rect">
            <a:avLst/>
          </a:prstGeom>
          <a:solidFill>
            <a:srgbClr val="14213D"/>
          </a:solidFill>
          <a:ln/>
        </p:spPr>
      </p:sp>
      <p:sp>
        <p:nvSpPr>
          <p:cNvPr id="12" name="Shape 10"/>
          <p:cNvSpPr/>
          <p:nvPr/>
        </p:nvSpPr>
        <p:spPr>
          <a:xfrm>
            <a:off x="9448800" y="2260600"/>
            <a:ext cx="19050" cy="2667000"/>
          </a:xfrm>
          <a:prstGeom prst="rect">
            <a:avLst/>
          </a:prstGeom>
          <a:solidFill>
            <a:srgbClr val="14213D"/>
          </a:solidFill>
          <a:ln/>
        </p:spPr>
      </p:sp>
      <p:sp>
        <p:nvSpPr>
          <p:cNvPr id="13" name="Shape 11"/>
          <p:cNvSpPr/>
          <p:nvPr/>
        </p:nvSpPr>
        <p:spPr>
          <a:xfrm>
            <a:off x="11258550" y="2260600"/>
            <a:ext cx="19050" cy="2667000"/>
          </a:xfrm>
          <a:prstGeom prst="rect">
            <a:avLst/>
          </a:prstGeom>
          <a:solidFill>
            <a:srgbClr val="14213D"/>
          </a:solidFill>
          <a:ln/>
        </p:spPr>
      </p:sp>
      <p:sp>
        <p:nvSpPr>
          <p:cNvPr id="14" name="Text 12"/>
          <p:cNvSpPr/>
          <p:nvPr/>
        </p:nvSpPr>
        <p:spPr>
          <a:xfrm>
            <a:off x="812800" y="2400300"/>
            <a:ext cx="23545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8641E"/>
                </a:solidFill>
                <a:latin typeface="IBM Plex Sans" pitchFamily="34" charset="0"/>
                <a:ea typeface="IBM Plex Sans" pitchFamily="34" charset="-122"/>
                <a:cs typeface="IBM Plex Sans" pitchFamily="34" charset="-120"/>
              </a:rPr>
              <a:t>Immediate (now)</a:t>
            </a:r>
            <a:endParaRPr lang="en-US" sz="1300" dirty="0"/>
          </a:p>
        </p:txBody>
      </p:sp>
      <p:sp>
        <p:nvSpPr>
          <p:cNvPr id="15" name="Text 13"/>
          <p:cNvSpPr/>
          <p:nvPr/>
        </p:nvSpPr>
        <p:spPr>
          <a:xfrm>
            <a:off x="812800" y="2844800"/>
            <a:ext cx="23545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0 · Mobilize</a:t>
            </a:r>
            <a:endParaRPr lang="en-US" sz="1300" dirty="0"/>
          </a:p>
        </p:txBody>
      </p:sp>
      <p:sp>
        <p:nvSpPr>
          <p:cNvPr id="16" name="Text 14"/>
          <p:cNvSpPr/>
          <p:nvPr/>
        </p:nvSpPr>
        <p:spPr>
          <a:xfrm>
            <a:off x="812800" y="3289300"/>
            <a:ext cx="23545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 · Assess &amp; design</a:t>
            </a:r>
            <a:endParaRPr lang="en-US" sz="1300" dirty="0"/>
          </a:p>
        </p:txBody>
      </p:sp>
      <p:sp>
        <p:nvSpPr>
          <p:cNvPr id="17" name="Text 15"/>
          <p:cNvSpPr/>
          <p:nvPr/>
        </p:nvSpPr>
        <p:spPr>
          <a:xfrm>
            <a:off x="812800" y="3733800"/>
            <a:ext cx="23545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2 · Build &amp; harden</a:t>
            </a:r>
            <a:endParaRPr lang="en-US" sz="1300" dirty="0"/>
          </a:p>
        </p:txBody>
      </p:sp>
      <p:sp>
        <p:nvSpPr>
          <p:cNvPr id="18" name="Text 16"/>
          <p:cNvSpPr/>
          <p:nvPr/>
        </p:nvSpPr>
        <p:spPr>
          <a:xfrm>
            <a:off x="812800" y="4178300"/>
            <a:ext cx="23545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3 · Monitor &amp; validate</a:t>
            </a:r>
            <a:endParaRPr lang="en-US" sz="1300" dirty="0"/>
          </a:p>
        </p:txBody>
      </p:sp>
      <p:sp>
        <p:nvSpPr>
          <p:cNvPr id="19" name="Text 17"/>
          <p:cNvSpPr/>
          <p:nvPr/>
        </p:nvSpPr>
        <p:spPr>
          <a:xfrm>
            <a:off x="812800" y="4622800"/>
            <a:ext cx="23545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4 · Operationalize</a:t>
            </a:r>
            <a:endParaRPr lang="en-US" sz="1300" dirty="0"/>
          </a:p>
        </p:txBody>
      </p:sp>
      <p:pic>
        <p:nvPicPr>
          <p:cNvPr id="20" name="Image 0" descr="diamond">    </p:cNvPr>
          <p:cNvPicPr>
            <a:picLocks noChangeAspect="1"/>
          </p:cNvPicPr>
          <p:nvPr/>
        </p:nvPicPr>
        <p:blipFill>
          <a:blip r:embed="rId1"/>
          <a:srcRect l="0" r="0" t="0" b="0"/>
          <a:stretch/>
        </p:blipFill>
        <p:spPr>
          <a:xfrm>
            <a:off x="3175000" y="2374900"/>
            <a:ext cx="254000" cy="254000"/>
          </a:xfrm>
          <a:prstGeom prst="rect">
            <a:avLst/>
          </a:prstGeom>
        </p:spPr>
      </p:pic>
      <p:sp>
        <p:nvSpPr>
          <p:cNvPr id="21" name="Text 18"/>
          <p:cNvSpPr/>
          <p:nvPr/>
        </p:nvSpPr>
        <p:spPr>
          <a:xfrm>
            <a:off x="3530600" y="24003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3E0B"/>
                </a:solidFill>
                <a:latin typeface="IBM Plex Sans" pitchFamily="34" charset="0"/>
                <a:ea typeface="IBM Plex Sans" pitchFamily="34" charset="-122"/>
                <a:cs typeface="IBM Plex Sans" pitchFamily="34" charset="-120"/>
              </a:rPr>
              <a:t>Alpenglow · regulatory go/no-go · AL2 inventory</a:t>
            </a:r>
            <a:endParaRPr lang="en-US" sz="1200" dirty="0"/>
          </a:p>
        </p:txBody>
      </p:sp>
      <p:sp>
        <p:nvSpPr>
          <p:cNvPr id="22" name="Shape 19"/>
          <p:cNvSpPr/>
          <p:nvPr/>
        </p:nvSpPr>
        <p:spPr>
          <a:xfrm>
            <a:off x="3352800" y="2800350"/>
            <a:ext cx="914400" cy="304800"/>
          </a:xfrm>
          <a:prstGeom prst="roundRect">
            <a:avLst>
              <a:gd name="adj" fmla="val 16667"/>
            </a:avLst>
          </a:prstGeom>
          <a:solidFill>
            <a:srgbClr val="6B8FBF"/>
          </a:solidFill>
          <a:ln/>
        </p:spPr>
      </p:sp>
      <p:sp>
        <p:nvSpPr>
          <p:cNvPr id="23" name="Text 20"/>
          <p:cNvSpPr/>
          <p:nvPr/>
        </p:nvSpPr>
        <p:spPr>
          <a:xfrm>
            <a:off x="3454400" y="2800350"/>
            <a:ext cx="863600" cy="330200"/>
          </a:xfrm>
          <a:prstGeom prst="rect">
            <a:avLst/>
          </a:prstGeom>
          <a:noFill/>
          <a:ln/>
        </p:spPr>
        <p:txBody>
          <a:bodyPr wrap="square" lIns="0" tIns="0" rIns="0" bIns="0" rtlCol="0" anchor="t">
            <a:normAutofit/>
          </a:bodyPr>
          <a:lstStyle/>
          <a:p>
            <a:pPr algn="l" indent="0" marL="0">
              <a:lnSpc>
                <a:spcPts val="2400"/>
              </a:lnSpc>
              <a:buNone/>
            </a:pPr>
            <a:r>
              <a:rPr lang="en-US" sz="1200" b="1" dirty="0">
                <a:solidFill>
                  <a:srgbClr val="14213D"/>
                </a:solidFill>
                <a:latin typeface="IBM Plex Sans" pitchFamily="34" charset="0"/>
                <a:ea typeface="IBM Plex Sans" pitchFamily="34" charset="-122"/>
                <a:cs typeface="IBM Plex Sans" pitchFamily="34" charset="-120"/>
              </a:rPr>
              <a:t>wk 1–3</a:t>
            </a:r>
            <a:endParaRPr lang="en-US" sz="1200" dirty="0"/>
          </a:p>
        </p:txBody>
      </p:sp>
      <p:sp>
        <p:nvSpPr>
          <p:cNvPr id="24" name="Shape 21"/>
          <p:cNvSpPr/>
          <p:nvPr/>
        </p:nvSpPr>
        <p:spPr>
          <a:xfrm>
            <a:off x="3657600" y="3244850"/>
            <a:ext cx="1828800" cy="304800"/>
          </a:xfrm>
          <a:prstGeom prst="roundRect">
            <a:avLst>
              <a:gd name="adj" fmla="val 16667"/>
            </a:avLst>
          </a:prstGeom>
          <a:solidFill>
            <a:srgbClr val="4F7AB3"/>
          </a:solidFill>
          <a:ln/>
        </p:spPr>
      </p:sp>
      <p:sp>
        <p:nvSpPr>
          <p:cNvPr id="25" name="Text 22"/>
          <p:cNvSpPr/>
          <p:nvPr/>
        </p:nvSpPr>
        <p:spPr>
          <a:xfrm>
            <a:off x="3759200" y="3244850"/>
            <a:ext cx="1779016" cy="330200"/>
          </a:xfrm>
          <a:prstGeom prst="rect">
            <a:avLst/>
          </a:prstGeom>
          <a:noFill/>
          <a:ln/>
        </p:spPr>
        <p:txBody>
          <a:bodyPr wrap="square" lIns="0" tIns="0" rIns="0" bIns="0" rtlCol="0" anchor="t">
            <a:normAutofit/>
          </a:bodyPr>
          <a:lstStyle/>
          <a:p>
            <a:pPr algn="l" indent="0" marL="0">
              <a:lnSpc>
                <a:spcPts val="2400"/>
              </a:lnSpc>
              <a:buNone/>
            </a:pPr>
            <a:r>
              <a:rPr lang="en-US" sz="1200" b="1" dirty="0">
                <a:solidFill>
                  <a:srgbClr val="F7F6F2"/>
                </a:solidFill>
                <a:latin typeface="IBM Plex Sans" pitchFamily="34" charset="0"/>
                <a:ea typeface="IBM Plex Sans" pitchFamily="34" charset="-122"/>
                <a:cs typeface="IBM Plex Sans" pitchFamily="34" charset="-120"/>
              </a:rPr>
              <a:t>wk 2–7</a:t>
            </a:r>
            <a:endParaRPr lang="en-US" sz="1200" dirty="0"/>
          </a:p>
        </p:txBody>
      </p:sp>
      <p:sp>
        <p:nvSpPr>
          <p:cNvPr id="26" name="Shape 23"/>
          <p:cNvSpPr/>
          <p:nvPr/>
        </p:nvSpPr>
        <p:spPr>
          <a:xfrm>
            <a:off x="4876800" y="3689350"/>
            <a:ext cx="3962400" cy="304800"/>
          </a:xfrm>
          <a:prstGeom prst="roundRect">
            <a:avLst>
              <a:gd name="adj" fmla="val 16667"/>
            </a:avLst>
          </a:prstGeom>
          <a:solidFill>
            <a:srgbClr val="1F5FA8"/>
          </a:solidFill>
          <a:ln/>
        </p:spPr>
      </p:sp>
      <p:sp>
        <p:nvSpPr>
          <p:cNvPr id="27" name="Text 24"/>
          <p:cNvSpPr/>
          <p:nvPr/>
        </p:nvSpPr>
        <p:spPr>
          <a:xfrm>
            <a:off x="4978400" y="3689350"/>
            <a:ext cx="3976624" cy="330200"/>
          </a:xfrm>
          <a:prstGeom prst="rect">
            <a:avLst/>
          </a:prstGeom>
          <a:noFill/>
          <a:ln/>
        </p:spPr>
        <p:txBody>
          <a:bodyPr wrap="square" lIns="0" tIns="0" rIns="0" bIns="0" rtlCol="0" anchor="t">
            <a:normAutofit/>
          </a:bodyPr>
          <a:lstStyle/>
          <a:p>
            <a:pPr algn="l" indent="0" marL="0">
              <a:lnSpc>
                <a:spcPts val="2400"/>
              </a:lnSpc>
              <a:buNone/>
            </a:pPr>
            <a:r>
              <a:rPr lang="en-US" sz="1200" b="1" dirty="0">
                <a:solidFill>
                  <a:srgbClr val="F7F6F2"/>
                </a:solidFill>
                <a:latin typeface="IBM Plex Sans" pitchFamily="34" charset="0"/>
                <a:ea typeface="IBM Plex Sans" pitchFamily="34" charset="-122"/>
                <a:cs typeface="IBM Plex Sans" pitchFamily="34" charset="-120"/>
              </a:rPr>
              <a:t>wk 6–18</a:t>
            </a:r>
            <a:endParaRPr lang="en-US" sz="1200" dirty="0"/>
          </a:p>
        </p:txBody>
      </p:sp>
      <p:sp>
        <p:nvSpPr>
          <p:cNvPr id="28" name="Shape 25"/>
          <p:cNvSpPr/>
          <p:nvPr/>
        </p:nvSpPr>
        <p:spPr>
          <a:xfrm>
            <a:off x="6400800" y="4133850"/>
            <a:ext cx="3657600" cy="304800"/>
          </a:xfrm>
          <a:prstGeom prst="roundRect">
            <a:avLst>
              <a:gd name="adj" fmla="val 16667"/>
            </a:avLst>
          </a:prstGeom>
          <a:solidFill>
            <a:srgbClr val="17477E"/>
          </a:solidFill>
          <a:ln/>
        </p:spPr>
      </p:sp>
      <p:sp>
        <p:nvSpPr>
          <p:cNvPr id="29" name="Text 26"/>
          <p:cNvSpPr/>
          <p:nvPr/>
        </p:nvSpPr>
        <p:spPr>
          <a:xfrm>
            <a:off x="6502400" y="4133850"/>
            <a:ext cx="3662680" cy="330200"/>
          </a:xfrm>
          <a:prstGeom prst="rect">
            <a:avLst/>
          </a:prstGeom>
          <a:noFill/>
          <a:ln/>
        </p:spPr>
        <p:txBody>
          <a:bodyPr wrap="square" lIns="0" tIns="0" rIns="0" bIns="0" rtlCol="0" anchor="t">
            <a:normAutofit/>
          </a:bodyPr>
          <a:lstStyle/>
          <a:p>
            <a:pPr algn="l" indent="0" marL="0">
              <a:lnSpc>
                <a:spcPts val="2400"/>
              </a:lnSpc>
              <a:buNone/>
            </a:pPr>
            <a:r>
              <a:rPr lang="en-US" sz="1200" b="1" dirty="0">
                <a:solidFill>
                  <a:srgbClr val="F7F6F2"/>
                </a:solidFill>
                <a:latin typeface="IBM Plex Sans" pitchFamily="34" charset="0"/>
                <a:ea typeface="IBM Plex Sans" pitchFamily="34" charset="-122"/>
                <a:cs typeface="IBM Plex Sans" pitchFamily="34" charset="-120"/>
              </a:rPr>
              <a:t>wk 11–22</a:t>
            </a:r>
            <a:endParaRPr lang="en-US" sz="1200" dirty="0"/>
          </a:p>
        </p:txBody>
      </p:sp>
      <p:sp>
        <p:nvSpPr>
          <p:cNvPr id="30" name="Shape 27"/>
          <p:cNvSpPr/>
          <p:nvPr/>
        </p:nvSpPr>
        <p:spPr>
          <a:xfrm>
            <a:off x="9448800" y="4578350"/>
            <a:ext cx="1809750" cy="304800"/>
          </a:xfrm>
          <a:prstGeom prst="roundRect">
            <a:avLst>
              <a:gd name="adj" fmla="val 16667"/>
            </a:avLst>
          </a:prstGeom>
          <a:solidFill>
            <a:srgbClr val="14213D"/>
          </a:solidFill>
          <a:ln/>
        </p:spPr>
      </p:sp>
      <p:sp>
        <p:nvSpPr>
          <p:cNvPr id="31" name="Text 28"/>
          <p:cNvSpPr/>
          <p:nvPr/>
        </p:nvSpPr>
        <p:spPr>
          <a:xfrm>
            <a:off x="9550400" y="4578350"/>
            <a:ext cx="1759395" cy="330200"/>
          </a:xfrm>
          <a:prstGeom prst="rect">
            <a:avLst/>
          </a:prstGeom>
          <a:noFill/>
          <a:ln/>
        </p:spPr>
        <p:txBody>
          <a:bodyPr wrap="square" lIns="0" tIns="0" rIns="0" bIns="0" rtlCol="0" anchor="t">
            <a:normAutofit/>
          </a:bodyPr>
          <a:lstStyle/>
          <a:p>
            <a:pPr algn="l" indent="0" marL="0">
              <a:lnSpc>
                <a:spcPts val="2400"/>
              </a:lnSpc>
              <a:buNone/>
            </a:pPr>
            <a:r>
              <a:rPr lang="en-US" sz="1200" b="1" dirty="0">
                <a:solidFill>
                  <a:srgbClr val="F7F6F2"/>
                </a:solidFill>
                <a:latin typeface="IBM Plex Sans" pitchFamily="34" charset="0"/>
                <a:ea typeface="IBM Plex Sans" pitchFamily="34" charset="-122"/>
                <a:cs typeface="IBM Plex Sans" pitchFamily="34" charset="-120"/>
              </a:rPr>
              <a:t>wk 21–26</a:t>
            </a:r>
            <a:endParaRPr lang="en-US" sz="1200" dirty="0"/>
          </a:p>
        </p:txBody>
      </p:sp>
      <p:sp>
        <p:nvSpPr>
          <p:cNvPr id="32" name="Text 29"/>
          <p:cNvSpPr/>
          <p:nvPr/>
        </p:nvSpPr>
        <p:spPr>
          <a:xfrm>
            <a:off x="4495800" y="5054600"/>
            <a:ext cx="1384300" cy="619522"/>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Gate 1 · wk 6</a:t>
            </a:r>
            <a:endParaRPr lang="en-US" sz="1200" dirty="0"/>
          </a:p>
          <a:p>
            <a:pPr algn="ctr" indent="0" marL="0">
              <a:lnSpc>
                <a:spcPts val="1560"/>
              </a:lnSpc>
              <a:buNone/>
            </a:pPr>
            <a:r>
              <a:rPr lang="en-US" sz="1200" dirty="0">
                <a:solidFill>
                  <a:srgbClr val="14213D"/>
                </a:solidFill>
                <a:latin typeface="IBM Plex Sans" pitchFamily="34" charset="0"/>
                <a:ea typeface="IBM Plex Sans" pitchFamily="34" charset="-122"/>
                <a:cs typeface="IBM Plex Sans" pitchFamily="34" charset="-120"/>
              </a:rPr>
              <a:t>Architecture &amp; decisions</a:t>
            </a:r>
            <a:endParaRPr lang="en-US" sz="1200" dirty="0"/>
          </a:p>
        </p:txBody>
      </p:sp>
      <p:sp>
        <p:nvSpPr>
          <p:cNvPr id="33" name="Text 30"/>
          <p:cNvSpPr/>
          <p:nvPr/>
        </p:nvSpPr>
        <p:spPr>
          <a:xfrm>
            <a:off x="7239000" y="5054600"/>
            <a:ext cx="1384300" cy="421481"/>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Gate 2 · wk 15</a:t>
            </a:r>
            <a:endParaRPr lang="en-US" sz="1200" dirty="0"/>
          </a:p>
          <a:p>
            <a:pPr algn="ctr" indent="0" marL="0">
              <a:lnSpc>
                <a:spcPts val="1560"/>
              </a:lnSpc>
              <a:buNone/>
            </a:pPr>
            <a:r>
              <a:rPr lang="en-US" sz="1200" dirty="0">
                <a:solidFill>
                  <a:srgbClr val="14213D"/>
                </a:solidFill>
                <a:latin typeface="IBM Plex Sans" pitchFamily="34" charset="0"/>
                <a:ea typeface="IBM Plex Sans" pitchFamily="34" charset="-122"/>
                <a:cs typeface="IBM Plex Sans" pitchFamily="34" charset="-120"/>
              </a:rPr>
              <a:t>Build checkpoint</a:t>
            </a:r>
            <a:endParaRPr lang="en-US" sz="1200" dirty="0"/>
          </a:p>
        </p:txBody>
      </p:sp>
      <p:sp>
        <p:nvSpPr>
          <p:cNvPr id="34" name="Text 31"/>
          <p:cNvSpPr/>
          <p:nvPr/>
        </p:nvSpPr>
        <p:spPr>
          <a:xfrm>
            <a:off x="8763000" y="5054600"/>
            <a:ext cx="1320800" cy="421481"/>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Gate 3 · wk 20</a:t>
            </a:r>
            <a:endParaRPr lang="en-US" sz="1200" dirty="0"/>
          </a:p>
          <a:p>
            <a:pPr algn="ctr" indent="0" marL="0">
              <a:lnSpc>
                <a:spcPts val="1560"/>
              </a:lnSpc>
              <a:buNone/>
            </a:pPr>
            <a:r>
              <a:rPr lang="en-US" sz="1200" dirty="0">
                <a:solidFill>
                  <a:srgbClr val="14213D"/>
                </a:solidFill>
                <a:latin typeface="IBM Plex Sans" pitchFamily="34" charset="0"/>
                <a:ea typeface="IBM Plex Sans" pitchFamily="34" charset="-122"/>
                <a:cs typeface="IBM Plex Sans" pitchFamily="34" charset="-120"/>
              </a:rPr>
              <a:t>Validated</a:t>
            </a:r>
            <a:endParaRPr lang="en-US" sz="1200" dirty="0"/>
          </a:p>
        </p:txBody>
      </p:sp>
      <p:sp>
        <p:nvSpPr>
          <p:cNvPr id="35" name="Text 32"/>
          <p:cNvSpPr/>
          <p:nvPr/>
        </p:nvSpPr>
        <p:spPr>
          <a:xfrm>
            <a:off x="10058400" y="5054600"/>
            <a:ext cx="1320800" cy="421481"/>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Gate 4 · wk 26</a:t>
            </a:r>
            <a:endParaRPr lang="en-US" sz="1200" dirty="0"/>
          </a:p>
          <a:p>
            <a:pPr algn="r" indent="0" marL="0">
              <a:lnSpc>
                <a:spcPts val="1560"/>
              </a:lnSpc>
              <a:buNone/>
            </a:pPr>
            <a:r>
              <a:rPr lang="en-US" sz="1200" dirty="0">
                <a:solidFill>
                  <a:srgbClr val="14213D"/>
                </a:solidFill>
                <a:latin typeface="IBM Plex Sans" pitchFamily="34" charset="0"/>
                <a:ea typeface="IBM Plex Sans" pitchFamily="34" charset="-122"/>
                <a:cs typeface="IBM Plex Sans" pitchFamily="34" charset="-120"/>
              </a:rPr>
              <a:t>BAU handover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WORKSTREAM 1 OF 6 · 14 TASKS</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OS &amp; container hardening</a:t>
            </a:r>
            <a:endParaRPr lang="en-US" sz="2800" dirty="0"/>
          </a:p>
        </p:txBody>
      </p:sp>
      <p:sp>
        <p:nvSpPr>
          <p:cNvPr id="4" name="Shape 2"/>
          <p:cNvSpPr/>
          <p:nvPr/>
        </p:nvSpPr>
        <p:spPr>
          <a:xfrm>
            <a:off x="815975" y="1776016"/>
            <a:ext cx="3414117" cy="2774355"/>
          </a:xfrm>
          <a:prstGeom prst="roundRect">
            <a:avLst>
              <a:gd name="adj" fmla="val 3548"/>
            </a:avLst>
          </a:prstGeom>
          <a:solidFill>
            <a:srgbClr val="FFFFFF"/>
          </a:solidFill>
          <a:ln w="6350">
            <a:solidFill>
              <a:srgbClr val="D9DEE5"/>
            </a:solidFill>
            <a:prstDash val="solid"/>
          </a:ln>
        </p:spPr>
      </p:sp>
      <p:sp>
        <p:nvSpPr>
          <p:cNvPr id="5" name="Text 3"/>
          <p:cNvSpPr/>
          <p:nvPr/>
        </p:nvSpPr>
        <p:spPr>
          <a:xfrm>
            <a:off x="1022350" y="1982391"/>
            <a:ext cx="30914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Focus areas</a:t>
            </a:r>
            <a:endParaRPr lang="en-US" sz="1500" dirty="0"/>
          </a:p>
        </p:txBody>
      </p:sp>
      <p:sp>
        <p:nvSpPr>
          <p:cNvPr id="6" name="Text 4"/>
          <p:cNvSpPr/>
          <p:nvPr/>
        </p:nvSpPr>
        <p:spPr>
          <a:xfrm>
            <a:off x="1121156" y="2287191"/>
            <a:ext cx="2984982" cy="2082205"/>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Day-one visibility: GuardDuty, Inspector, Security Hub</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CIS AL2023 / Bottlerocket images; AL2 retired</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EKS to CIS EKS v2.0.0; ECS task standards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Org guardrails: SCPs, RCPs, IMDSv2, Allowed AMIs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Level 2 builds for validator and RPC hosts</a:t>
            </a:r>
            <a:endParaRPr lang="en-US" sz="1200" dirty="0"/>
          </a:p>
        </p:txBody>
      </p:sp>
      <p:sp>
        <p:nvSpPr>
          <p:cNvPr id="7" name="Shape 5"/>
          <p:cNvSpPr/>
          <p:nvPr/>
        </p:nvSpPr>
        <p:spPr>
          <a:xfrm>
            <a:off x="4388842" y="1776016"/>
            <a:ext cx="3414216" cy="2774355"/>
          </a:xfrm>
          <a:prstGeom prst="roundRect">
            <a:avLst>
              <a:gd name="adj" fmla="val 3548"/>
            </a:avLst>
          </a:prstGeom>
          <a:solidFill>
            <a:srgbClr val="FFFFFF"/>
          </a:solidFill>
          <a:ln w="6350">
            <a:solidFill>
              <a:srgbClr val="D9DEE5"/>
            </a:solidFill>
            <a:prstDash val="solid"/>
          </a:ln>
        </p:spPr>
      </p:sp>
      <p:sp>
        <p:nvSpPr>
          <p:cNvPr id="8" name="Text 6"/>
          <p:cNvSpPr/>
          <p:nvPr/>
        </p:nvSpPr>
        <p:spPr>
          <a:xfrm>
            <a:off x="4595217" y="19823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Key tasks (weeks)</a:t>
            </a:r>
            <a:endParaRPr lang="en-US" sz="1500" dirty="0"/>
          </a:p>
        </p:txBody>
      </p:sp>
      <p:sp>
        <p:nvSpPr>
          <p:cNvPr id="9" name="Text 7"/>
          <p:cNvSpPr/>
          <p:nvPr/>
        </p:nvSpPr>
        <p:spPr>
          <a:xfrm>
            <a:off x="4694023" y="2287191"/>
            <a:ext cx="2985084" cy="2082205"/>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Security services baseline (2–3)</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SSM fleet enrolment and patching (4–6)</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AL2 and EKS version remediation (6–17)</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Golden AMI and signed image pipelines (8–10)</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EKS hardening (11–16); enforce admission policy (17–18)</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Fleet roll-out and CIS measurement (14–22)</a:t>
            </a:r>
            <a:endParaRPr lang="en-US" sz="1200" dirty="0"/>
          </a:p>
        </p:txBody>
      </p:sp>
      <p:sp>
        <p:nvSpPr>
          <p:cNvPr id="10" name="Shape 8"/>
          <p:cNvSpPr/>
          <p:nvPr/>
        </p:nvSpPr>
        <p:spPr>
          <a:xfrm>
            <a:off x="7961809" y="1776016"/>
            <a:ext cx="3414216" cy="2774355"/>
          </a:xfrm>
          <a:prstGeom prst="roundRect">
            <a:avLst>
              <a:gd name="adj" fmla="val 3548"/>
            </a:avLst>
          </a:prstGeom>
          <a:solidFill>
            <a:srgbClr val="FFFFFF"/>
          </a:solidFill>
          <a:ln w="6350">
            <a:solidFill>
              <a:srgbClr val="D9DEE5"/>
            </a:solidFill>
            <a:prstDash val="solid"/>
          </a:ln>
        </p:spPr>
      </p:sp>
      <p:sp>
        <p:nvSpPr>
          <p:cNvPr id="11" name="Text 9"/>
          <p:cNvSpPr/>
          <p:nvPr/>
        </p:nvSpPr>
        <p:spPr>
          <a:xfrm>
            <a:off x="8168184" y="19823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Deliverables</a:t>
            </a:r>
            <a:endParaRPr lang="en-US" sz="1500" dirty="0"/>
          </a:p>
        </p:txBody>
      </p:sp>
      <p:sp>
        <p:nvSpPr>
          <p:cNvPr id="12" name="Text 10"/>
          <p:cNvSpPr/>
          <p:nvPr/>
        </p:nvSpPr>
        <p:spPr>
          <a:xfrm>
            <a:off x="8266990" y="2287191"/>
            <a:ext cx="2985084" cy="1465163"/>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Linux and container hardening standards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Hardened AMI catalogue, monthly rebuild</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Signed images with SBOMs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CIS L1 ≥95% report; exception register</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AL2 = 0; EKS on standard support</a:t>
            </a:r>
            <a:endParaRPr lang="en-US" sz="1200" dirty="0"/>
          </a:p>
        </p:txBody>
      </p:sp>
      <p:sp>
        <p:nvSpPr>
          <p:cNvPr id="13" name="Text 11"/>
          <p:cNvSpPr/>
          <p:nvPr/>
        </p:nvSpPr>
        <p:spPr>
          <a:xfrm>
            <a:off x="812800" y="4731345"/>
            <a:ext cx="11379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Roles:</a:t>
            </a:r>
            <a:r>
              <a:rPr lang="en-US" sz="1200" dirty="0">
                <a:solidFill>
                  <a:srgbClr val="14213D"/>
                </a:solidFill>
                <a:latin typeface="IBM Plex Sans" pitchFamily="34" charset="0"/>
                <a:ea typeface="IBM Plex Sans" pitchFamily="34" charset="-122"/>
                <a:cs typeface="IBM Plex Sans" pitchFamily="34" charset="-120"/>
              </a:rPr>
              <a:t> Cloud Security Engineer (lead) · Platform/DevOps Engineer · Kubernetes Security Engineer (CKS) · DevSecOps Engineer · Blockchain Infra Engineer</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References: CIS AL2023 v1.0.0 · CIS Amazon EKS v2.0.0 · CIS AWS Foundations v5/v6 · NIST CSF PR.PS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WORKSTREAM 2 OF 6 · 10 TASKS</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Identity hardening — Entra ID, Azure AD B2C, AWS</a:t>
            </a:r>
            <a:endParaRPr lang="en-US" sz="2800" dirty="0"/>
          </a:p>
        </p:txBody>
      </p:sp>
      <p:sp>
        <p:nvSpPr>
          <p:cNvPr id="4" name="Shape 2"/>
          <p:cNvSpPr/>
          <p:nvPr/>
        </p:nvSpPr>
        <p:spPr>
          <a:xfrm>
            <a:off x="815975" y="1776016"/>
            <a:ext cx="3414117" cy="2362994"/>
          </a:xfrm>
          <a:prstGeom prst="roundRect">
            <a:avLst>
              <a:gd name="adj" fmla="val 4165"/>
            </a:avLst>
          </a:prstGeom>
          <a:solidFill>
            <a:srgbClr val="FFFFFF"/>
          </a:solidFill>
          <a:ln w="6350">
            <a:solidFill>
              <a:srgbClr val="D9DEE5"/>
            </a:solidFill>
            <a:prstDash val="solid"/>
          </a:ln>
        </p:spPr>
      </p:sp>
      <p:sp>
        <p:nvSpPr>
          <p:cNvPr id="5" name="Text 3"/>
          <p:cNvSpPr/>
          <p:nvPr/>
        </p:nvSpPr>
        <p:spPr>
          <a:xfrm>
            <a:off x="1022350" y="1982391"/>
            <a:ext cx="30914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Focus areas</a:t>
            </a:r>
            <a:endParaRPr lang="en-US" sz="1500" dirty="0"/>
          </a:p>
        </p:txBody>
      </p:sp>
      <p:sp>
        <p:nvSpPr>
          <p:cNvPr id="6" name="Text 4"/>
          <p:cNvSpPr/>
          <p:nvPr/>
        </p:nvSpPr>
        <p:spPr>
          <a:xfrm>
            <a:off x="1121156" y="2287191"/>
            <a:ext cx="2984982" cy="1465163"/>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Phishing-resistant MFA (passkeys) for admins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Just-in-time privilege with Entra PIM</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Customer accounts: step-up MFA, anti-fraud</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AWS access only via Entra federation</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Wallet sign-in that cannot bypass MFA</a:t>
            </a:r>
            <a:endParaRPr lang="en-US" sz="1200" dirty="0"/>
          </a:p>
        </p:txBody>
      </p:sp>
      <p:sp>
        <p:nvSpPr>
          <p:cNvPr id="7" name="Shape 5"/>
          <p:cNvSpPr/>
          <p:nvPr/>
        </p:nvSpPr>
        <p:spPr>
          <a:xfrm>
            <a:off x="4388842" y="1776016"/>
            <a:ext cx="3414216" cy="2362994"/>
          </a:xfrm>
          <a:prstGeom prst="roundRect">
            <a:avLst>
              <a:gd name="adj" fmla="val 4165"/>
            </a:avLst>
          </a:prstGeom>
          <a:solidFill>
            <a:srgbClr val="FFFFFF"/>
          </a:solidFill>
          <a:ln w="6350">
            <a:solidFill>
              <a:srgbClr val="D9DEE5"/>
            </a:solidFill>
            <a:prstDash val="solid"/>
          </a:ln>
        </p:spPr>
      </p:sp>
      <p:sp>
        <p:nvSpPr>
          <p:cNvPr id="8" name="Text 6"/>
          <p:cNvSpPr/>
          <p:nvPr/>
        </p:nvSpPr>
        <p:spPr>
          <a:xfrm>
            <a:off x="4595217" y="19823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Key tasks (weeks)</a:t>
            </a:r>
            <a:endParaRPr lang="en-US" sz="1500" dirty="0"/>
          </a:p>
        </p:txBody>
      </p:sp>
      <p:sp>
        <p:nvSpPr>
          <p:cNvPr id="9" name="Text 7"/>
          <p:cNvSpPr/>
          <p:nvPr/>
        </p:nvSpPr>
        <p:spPr>
          <a:xfrm>
            <a:off x="4694023" y="2287191"/>
            <a:ext cx="2985084" cy="1670844"/>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Licensing gap plan, P1/P2/ID Governance (4–5)</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Break-glass, Conditional Access (6–8)</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B2C vs External ID decision (7–8)</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PIM and B2C hardening (9–11)</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AWS federation; wallet sign-in (12–14)</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Anti-fraud; workload identity; detections (14–17)</a:t>
            </a:r>
            <a:endParaRPr lang="en-US" sz="1200" dirty="0"/>
          </a:p>
        </p:txBody>
      </p:sp>
      <p:sp>
        <p:nvSpPr>
          <p:cNvPr id="10" name="Shape 8"/>
          <p:cNvSpPr/>
          <p:nvPr/>
        </p:nvSpPr>
        <p:spPr>
          <a:xfrm>
            <a:off x="7961809" y="1776016"/>
            <a:ext cx="3414216" cy="2362994"/>
          </a:xfrm>
          <a:prstGeom prst="roundRect">
            <a:avLst>
              <a:gd name="adj" fmla="val 4165"/>
            </a:avLst>
          </a:prstGeom>
          <a:solidFill>
            <a:srgbClr val="FFFFFF"/>
          </a:solidFill>
          <a:ln w="6350">
            <a:solidFill>
              <a:srgbClr val="D9DEE5"/>
            </a:solidFill>
            <a:prstDash val="solid"/>
          </a:ln>
        </p:spPr>
      </p:sp>
      <p:sp>
        <p:nvSpPr>
          <p:cNvPr id="11" name="Text 9"/>
          <p:cNvSpPr/>
          <p:nvPr/>
        </p:nvSpPr>
        <p:spPr>
          <a:xfrm>
            <a:off x="8168184" y="19823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Deliverables</a:t>
            </a:r>
            <a:endParaRPr lang="en-US" sz="1500" dirty="0"/>
          </a:p>
        </p:txBody>
      </p:sp>
      <p:sp>
        <p:nvSpPr>
          <p:cNvPr id="12" name="Text 10"/>
          <p:cNvSpPr/>
          <p:nvPr/>
        </p:nvSpPr>
        <p:spPr>
          <a:xfrm>
            <a:off x="8266990" y="2287191"/>
            <a:ext cx="2985084" cy="1259483"/>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Conditional Access policy set</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PIM roll-out, quarterly access reviews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0 human IAM users in AWS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CIAM decision paper and roadmap</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Workforce and customer takeover detections</a:t>
            </a:r>
            <a:endParaRPr lang="en-US" sz="1200" dirty="0"/>
          </a:p>
        </p:txBody>
      </p:sp>
      <p:sp>
        <p:nvSpPr>
          <p:cNvPr id="13" name="Text 11"/>
          <p:cNvSpPr/>
          <p:nvPr/>
        </p:nvSpPr>
        <p:spPr>
          <a:xfrm>
            <a:off x="812800" y="431998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Roles:</a:t>
            </a:r>
            <a:r>
              <a:rPr lang="en-US" sz="1200" dirty="0">
                <a:solidFill>
                  <a:srgbClr val="14213D"/>
                </a:solidFill>
                <a:latin typeface="IBM Plex Sans" pitchFamily="34" charset="0"/>
                <a:ea typeface="IBM Plex Sans" pitchFamily="34" charset="-122"/>
                <a:cs typeface="IBM Plex Sans" pitchFamily="34" charset="-120"/>
              </a:rPr>
              <a:t> Identity Engineer (lead, SC-300) · CIAM Engineer (B2C custom policies) · Security Architect · DevSecOps Engineer</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Context: B2C closed to new customers May 2025, supported to at least May 2030; B2C P2 retired March 2026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WORKSTREAM 3 OF 6 · 15 TASKS</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Security monitoring, response and resilience</a:t>
            </a:r>
            <a:endParaRPr lang="en-US" sz="2800" dirty="0"/>
          </a:p>
        </p:txBody>
      </p:sp>
      <p:sp>
        <p:nvSpPr>
          <p:cNvPr id="4" name="Shape 2"/>
          <p:cNvSpPr/>
          <p:nvPr/>
        </p:nvSpPr>
        <p:spPr>
          <a:xfrm>
            <a:off x="815975" y="1776016"/>
            <a:ext cx="3414117" cy="2774355"/>
          </a:xfrm>
          <a:prstGeom prst="roundRect">
            <a:avLst>
              <a:gd name="adj" fmla="val 3548"/>
            </a:avLst>
          </a:prstGeom>
          <a:solidFill>
            <a:srgbClr val="FFFFFF"/>
          </a:solidFill>
          <a:ln w="6350">
            <a:solidFill>
              <a:srgbClr val="D9DEE5"/>
            </a:solidFill>
            <a:prstDash val="solid"/>
          </a:ln>
        </p:spPr>
      </p:sp>
      <p:sp>
        <p:nvSpPr>
          <p:cNvPr id="5" name="Text 3"/>
          <p:cNvSpPr/>
          <p:nvPr/>
        </p:nvSpPr>
        <p:spPr>
          <a:xfrm>
            <a:off x="1022350" y="1982391"/>
            <a:ext cx="30914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Focus areas</a:t>
            </a:r>
            <a:endParaRPr lang="en-US" sz="1500" dirty="0"/>
          </a:p>
        </p:txBody>
      </p:sp>
      <p:sp>
        <p:nvSpPr>
          <p:cNvPr id="6" name="Text 4"/>
          <p:cNvSpPr/>
          <p:nvPr/>
        </p:nvSpPr>
        <p:spPr>
          <a:xfrm>
            <a:off x="1121156" y="2287191"/>
            <a:ext cx="2984982" cy="1465163"/>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One SIEM view: AWS, Entra/B2C, hosts, chain</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Immutable central log archive</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On-chain alerts for Ethereum and Solana</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24/7 response with an MDR partner</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Regulator-ready incident reporting; DR</a:t>
            </a:r>
            <a:endParaRPr lang="en-US" sz="1200" dirty="0"/>
          </a:p>
        </p:txBody>
      </p:sp>
      <p:sp>
        <p:nvSpPr>
          <p:cNvPr id="7" name="Shape 5"/>
          <p:cNvSpPr/>
          <p:nvPr/>
        </p:nvSpPr>
        <p:spPr>
          <a:xfrm>
            <a:off x="4388842" y="1776016"/>
            <a:ext cx="3414216" cy="2774355"/>
          </a:xfrm>
          <a:prstGeom prst="roundRect">
            <a:avLst>
              <a:gd name="adj" fmla="val 3548"/>
            </a:avLst>
          </a:prstGeom>
          <a:solidFill>
            <a:srgbClr val="FFFFFF"/>
          </a:solidFill>
          <a:ln w="6350">
            <a:solidFill>
              <a:srgbClr val="D9DEE5"/>
            </a:solidFill>
            <a:prstDash val="solid"/>
          </a:ln>
        </p:spPr>
      </p:sp>
      <p:sp>
        <p:nvSpPr>
          <p:cNvPr id="8" name="Text 6"/>
          <p:cNvSpPr/>
          <p:nvPr/>
        </p:nvSpPr>
        <p:spPr>
          <a:xfrm>
            <a:off x="4595217" y="19823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Key tasks (weeks)</a:t>
            </a:r>
            <a:endParaRPr lang="en-US" sz="1500" dirty="0"/>
          </a:p>
        </p:txBody>
      </p:sp>
      <p:sp>
        <p:nvSpPr>
          <p:cNvPr id="9" name="Text 7"/>
          <p:cNvSpPr/>
          <p:nvPr/>
        </p:nvSpPr>
        <p:spPr>
          <a:xfrm>
            <a:off x="4694023" y="2287191"/>
            <a:ext cx="2985084" cy="2082205"/>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Validator monitoring; interim DORA procedure (2–4)</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SIEM decision; logging foundation (6–10)</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On-chain monitoring; detections (11–16)</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IR playbooks; DR restore test (14–18)</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SOAR, pentest, container detections (17–20)</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Tabletop and purple-team (20–21)</a:t>
            </a:r>
            <a:endParaRPr lang="en-US" sz="1200" dirty="0"/>
          </a:p>
        </p:txBody>
      </p:sp>
      <p:sp>
        <p:nvSpPr>
          <p:cNvPr id="10" name="Shape 8"/>
          <p:cNvSpPr/>
          <p:nvPr/>
        </p:nvSpPr>
        <p:spPr>
          <a:xfrm>
            <a:off x="7961809" y="1776016"/>
            <a:ext cx="3414216" cy="2774355"/>
          </a:xfrm>
          <a:prstGeom prst="roundRect">
            <a:avLst>
              <a:gd name="adj" fmla="val 3548"/>
            </a:avLst>
          </a:prstGeom>
          <a:solidFill>
            <a:srgbClr val="FFFFFF"/>
          </a:solidFill>
          <a:ln w="6350">
            <a:solidFill>
              <a:srgbClr val="D9DEE5"/>
            </a:solidFill>
            <a:prstDash val="solid"/>
          </a:ln>
        </p:spPr>
      </p:sp>
      <p:sp>
        <p:nvSpPr>
          <p:cNvPr id="11" name="Text 9"/>
          <p:cNvSpPr/>
          <p:nvPr/>
        </p:nvSpPr>
        <p:spPr>
          <a:xfrm>
            <a:off x="8168184" y="19823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Deliverables</a:t>
            </a:r>
            <a:endParaRPr lang="en-US" sz="1500" dirty="0"/>
          </a:p>
        </p:txBody>
      </p:sp>
      <p:sp>
        <p:nvSpPr>
          <p:cNvPr id="12" name="Text 10"/>
          <p:cNvSpPr/>
          <p:nvPr/>
        </p:nvSpPr>
        <p:spPr>
          <a:xfrm>
            <a:off x="8266990" y="2287191"/>
            <a:ext cx="2985084" cy="1053802"/>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Monitoring architecture, SIEM live</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Detection catalogue mapped to ATT&amp;CK</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IR plan incl. key compromise, exploit</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Tested restore with RTO/RPO</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Security operations KPI dashboard</a:t>
            </a:r>
            <a:endParaRPr lang="en-US" sz="1200" dirty="0"/>
          </a:p>
        </p:txBody>
      </p:sp>
      <p:sp>
        <p:nvSpPr>
          <p:cNvPr id="13" name="Text 11"/>
          <p:cNvSpPr/>
          <p:nvPr/>
        </p:nvSpPr>
        <p:spPr>
          <a:xfrm>
            <a:off x="812800" y="473134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Roles:</a:t>
            </a:r>
            <a:r>
              <a:rPr lang="en-US" sz="1200" dirty="0">
                <a:solidFill>
                  <a:srgbClr val="14213D"/>
                </a:solidFill>
                <a:latin typeface="IBM Plex Sans" pitchFamily="34" charset="0"/>
                <a:ea typeface="IBM Plex Sans" pitchFamily="34" charset="-122"/>
                <a:cs typeface="IBM Plex Sans" pitchFamily="34" charset="-120"/>
              </a:rPr>
              <a:t> Detection Engineer (lead) + MDR partner · Cloud Security Engineer · IR Lead (held by Security Architect) · Blockchain Security Engineer</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If Microsoft Sentinel is chosen: onboard in the Defender portal from day one (Azure portal support ends 31 Mar 2027)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WORKSTREAM 4 OF 6 · 12 TASKS</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Blockchain security — contracts, keys, validators</a:t>
            </a:r>
            <a:endParaRPr lang="en-US" sz="2800" dirty="0"/>
          </a:p>
        </p:txBody>
      </p:sp>
      <p:sp>
        <p:nvSpPr>
          <p:cNvPr id="4" name="Shape 2"/>
          <p:cNvSpPr/>
          <p:nvPr/>
        </p:nvSpPr>
        <p:spPr>
          <a:xfrm>
            <a:off x="815975" y="1776016"/>
            <a:ext cx="3414117" cy="2568674"/>
          </a:xfrm>
          <a:prstGeom prst="roundRect">
            <a:avLst>
              <a:gd name="adj" fmla="val 3832"/>
            </a:avLst>
          </a:prstGeom>
          <a:solidFill>
            <a:srgbClr val="FFFFFF"/>
          </a:solidFill>
          <a:ln w="6350">
            <a:solidFill>
              <a:srgbClr val="D9DEE5"/>
            </a:solidFill>
            <a:prstDash val="solid"/>
          </a:ln>
        </p:spPr>
      </p:sp>
      <p:sp>
        <p:nvSpPr>
          <p:cNvPr id="5" name="Text 3"/>
          <p:cNvSpPr/>
          <p:nvPr/>
        </p:nvSpPr>
        <p:spPr>
          <a:xfrm>
            <a:off x="1022350" y="1982391"/>
            <a:ext cx="30914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Focus areas</a:t>
            </a:r>
            <a:endParaRPr lang="en-US" sz="1500" dirty="0"/>
          </a:p>
        </p:txBody>
      </p:sp>
      <p:sp>
        <p:nvSpPr>
          <p:cNvPr id="6" name="Text 4"/>
          <p:cNvSpPr/>
          <p:nvPr/>
        </p:nvSpPr>
        <p:spPr>
          <a:xfrm>
            <a:off x="1121156" y="2287191"/>
            <a:ext cx="2984982" cy="1670844"/>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Hard-fork readiness: Alpenglow, Glamsterdam</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Admin keys under Safe / Squads + timelocks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MPC or HSM custody, key ceremonies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Secure Solidity and Rust/Anchor pipelines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Validator keys, slashing protection</a:t>
            </a:r>
            <a:endParaRPr lang="en-US" sz="1200" dirty="0"/>
          </a:p>
        </p:txBody>
      </p:sp>
      <p:sp>
        <p:nvSpPr>
          <p:cNvPr id="7" name="Shape 5"/>
          <p:cNvSpPr/>
          <p:nvPr/>
        </p:nvSpPr>
        <p:spPr>
          <a:xfrm>
            <a:off x="4388842" y="1776016"/>
            <a:ext cx="3414216" cy="2568674"/>
          </a:xfrm>
          <a:prstGeom prst="roundRect">
            <a:avLst>
              <a:gd name="adj" fmla="val 3832"/>
            </a:avLst>
          </a:prstGeom>
          <a:solidFill>
            <a:srgbClr val="FFFFFF"/>
          </a:solidFill>
          <a:ln w="6350">
            <a:solidFill>
              <a:srgbClr val="D9DEE5"/>
            </a:solidFill>
            <a:prstDash val="solid"/>
          </a:ln>
        </p:spPr>
      </p:sp>
      <p:sp>
        <p:nvSpPr>
          <p:cNvPr id="8" name="Text 6"/>
          <p:cNvSpPr/>
          <p:nvPr/>
        </p:nvSpPr>
        <p:spPr>
          <a:xfrm>
            <a:off x="4595217" y="19823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Key tasks (weeks)</a:t>
            </a:r>
            <a:endParaRPr lang="en-US" sz="1500" dirty="0"/>
          </a:p>
        </p:txBody>
      </p:sp>
      <p:sp>
        <p:nvSpPr>
          <p:cNvPr id="9" name="Text 7"/>
          <p:cNvSpPr/>
          <p:nvPr/>
        </p:nvSpPr>
        <p:spPr>
          <a:xfrm>
            <a:off x="4694023" y="2287191"/>
            <a:ext cx="2985084" cy="1876524"/>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Alpenglow readiness (now)</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Role inventory; withdrawal credentials (4–5)</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Secure SDLC; Solana baseline (6–9)</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Multisig and timelocks (8–10); custody (7–14)</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Audits and bug bounty (11–18)</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Validator hardening (14–17); PQC review (16–17)</a:t>
            </a:r>
            <a:endParaRPr lang="en-US" sz="1200" dirty="0"/>
          </a:p>
        </p:txBody>
      </p:sp>
      <p:sp>
        <p:nvSpPr>
          <p:cNvPr id="10" name="Shape 8"/>
          <p:cNvSpPr/>
          <p:nvPr/>
        </p:nvSpPr>
        <p:spPr>
          <a:xfrm>
            <a:off x="7961809" y="1776016"/>
            <a:ext cx="3414216" cy="2568674"/>
          </a:xfrm>
          <a:prstGeom prst="roundRect">
            <a:avLst>
              <a:gd name="adj" fmla="val 3832"/>
            </a:avLst>
          </a:prstGeom>
          <a:solidFill>
            <a:srgbClr val="FFFFFF"/>
          </a:solidFill>
          <a:ln w="6350">
            <a:solidFill>
              <a:srgbClr val="D9DEE5"/>
            </a:solidFill>
            <a:prstDash val="solid"/>
          </a:ln>
        </p:spPr>
      </p:sp>
      <p:sp>
        <p:nvSpPr>
          <p:cNvPr id="11" name="Text 9"/>
          <p:cNvSpPr/>
          <p:nvPr/>
        </p:nvSpPr>
        <p:spPr>
          <a:xfrm>
            <a:off x="8168184" y="19823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Deliverables</a:t>
            </a:r>
            <a:endParaRPr lang="en-US" sz="1500" dirty="0"/>
          </a:p>
        </p:txBody>
      </p:sp>
      <p:sp>
        <p:nvSpPr>
          <p:cNvPr id="12" name="Text 10"/>
          <p:cNvSpPr/>
          <p:nvPr/>
        </p:nvSpPr>
        <p:spPr>
          <a:xfrm>
            <a:off x="8266990" y="2287191"/>
            <a:ext cx="2985084" cy="1259483"/>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100% privileged roles multisig + timelock</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Blocking security gates, verified builds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Custody architecture and procedures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Audit reports; bounty with Safe Harbor</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Validator runbooks; crypto-agility plan</a:t>
            </a:r>
            <a:endParaRPr lang="en-US" sz="1200" dirty="0"/>
          </a:p>
        </p:txBody>
      </p:sp>
      <p:sp>
        <p:nvSpPr>
          <p:cNvPr id="13" name="Text 11"/>
          <p:cNvSpPr/>
          <p:nvPr/>
        </p:nvSpPr>
        <p:spPr>
          <a:xfrm>
            <a:off x="812800" y="452566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Roles:</a:t>
            </a:r>
            <a:r>
              <a:rPr lang="en-US" sz="1200" dirty="0">
                <a:solidFill>
                  <a:srgbClr val="14213D"/>
                </a:solidFill>
                <a:latin typeface="IBM Plex Sans" pitchFamily="34" charset="0"/>
                <a:ea typeface="IBM Plex Sans" pitchFamily="34" charset="-122"/>
                <a:cs typeface="IBM Plex Sans" pitchFamily="34" charset="-120"/>
              </a:rPr>
              <a:t> Blockchain Security Engineers (2 contractors: EVM + Solana) · Blockchain Infra Engineer · Key Management Specialist · external auditors</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References: BSSC SCS v1, NOS v2, KMS v1 · CCSS v9 · SEAL multisig framework · OWASP SC Top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WORKSTREAM 5 OF 6 · 11 TASKS</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Governance &amp; compliance</a:t>
            </a:r>
            <a:endParaRPr lang="en-US" sz="2800" dirty="0"/>
          </a:p>
        </p:txBody>
      </p:sp>
      <p:sp>
        <p:nvSpPr>
          <p:cNvPr id="4" name="Shape 2"/>
          <p:cNvSpPr/>
          <p:nvPr/>
        </p:nvSpPr>
        <p:spPr>
          <a:xfrm>
            <a:off x="815975" y="1776016"/>
            <a:ext cx="3414117" cy="1951633"/>
          </a:xfrm>
          <a:prstGeom prst="roundRect">
            <a:avLst>
              <a:gd name="adj" fmla="val 5043"/>
            </a:avLst>
          </a:prstGeom>
          <a:solidFill>
            <a:srgbClr val="FFFFFF"/>
          </a:solidFill>
          <a:ln w="6350">
            <a:solidFill>
              <a:srgbClr val="D9DEE5"/>
            </a:solidFill>
            <a:prstDash val="solid"/>
          </a:ln>
        </p:spPr>
      </p:sp>
      <p:sp>
        <p:nvSpPr>
          <p:cNvPr id="5" name="Text 3"/>
          <p:cNvSpPr/>
          <p:nvPr/>
        </p:nvSpPr>
        <p:spPr>
          <a:xfrm>
            <a:off x="1022350" y="1982391"/>
            <a:ext cx="30914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Focus areas</a:t>
            </a:r>
            <a:endParaRPr lang="en-US" sz="1500" dirty="0"/>
          </a:p>
        </p:txBody>
      </p:sp>
      <p:sp>
        <p:nvSpPr>
          <p:cNvPr id="6" name="Text 4"/>
          <p:cNvSpPr/>
          <p:nvPr/>
        </p:nvSpPr>
        <p:spPr>
          <a:xfrm>
            <a:off x="1121156" y="2287191"/>
            <a:ext cx="2984982" cy="1053802"/>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Regulatory scope: MiCA, DORA, PCI DSS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Policies and one unified control matrix</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Vendor and ICT third-party risk</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Automated evidence in a GRC platform</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SOC 2 readiness and training</a:t>
            </a:r>
            <a:endParaRPr lang="en-US" sz="1200" dirty="0"/>
          </a:p>
        </p:txBody>
      </p:sp>
      <p:sp>
        <p:nvSpPr>
          <p:cNvPr id="7" name="Shape 5"/>
          <p:cNvSpPr/>
          <p:nvPr/>
        </p:nvSpPr>
        <p:spPr>
          <a:xfrm>
            <a:off x="4388842" y="1776016"/>
            <a:ext cx="3414216" cy="1951633"/>
          </a:xfrm>
          <a:prstGeom prst="roundRect">
            <a:avLst>
              <a:gd name="adj" fmla="val 5043"/>
            </a:avLst>
          </a:prstGeom>
          <a:solidFill>
            <a:srgbClr val="FFFFFF"/>
          </a:solidFill>
          <a:ln w="6350">
            <a:solidFill>
              <a:srgbClr val="D9DEE5"/>
            </a:solidFill>
            <a:prstDash val="solid"/>
          </a:ln>
        </p:spPr>
      </p:sp>
      <p:sp>
        <p:nvSpPr>
          <p:cNvPr id="8" name="Text 6"/>
          <p:cNvSpPr/>
          <p:nvPr/>
        </p:nvSpPr>
        <p:spPr>
          <a:xfrm>
            <a:off x="4595217" y="19823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Key tasks (weeks)</a:t>
            </a:r>
            <a:endParaRPr lang="en-US" sz="1500" dirty="0"/>
          </a:p>
        </p:txBody>
      </p:sp>
      <p:sp>
        <p:nvSpPr>
          <p:cNvPr id="9" name="Text 7"/>
          <p:cNvSpPr/>
          <p:nvPr/>
        </p:nvSpPr>
        <p:spPr>
          <a:xfrm>
            <a:off x="4694023" y="2287191"/>
            <a:ext cx="2985084" cy="1259483"/>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Regulatory go/no-go (1–2)</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Operating model and RACI (2–4)</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Policies v1.0; control matrix (5–10)</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Vendor risk; GRC tooling (8–11)</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Exceptions; HR controls (11–12)</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SOC 2 readiness; training (16–20)</a:t>
            </a:r>
            <a:endParaRPr lang="en-US" sz="1200" dirty="0"/>
          </a:p>
        </p:txBody>
      </p:sp>
      <p:sp>
        <p:nvSpPr>
          <p:cNvPr id="10" name="Shape 8"/>
          <p:cNvSpPr/>
          <p:nvPr/>
        </p:nvSpPr>
        <p:spPr>
          <a:xfrm>
            <a:off x="7961809" y="1776016"/>
            <a:ext cx="3414216" cy="1951633"/>
          </a:xfrm>
          <a:prstGeom prst="roundRect">
            <a:avLst>
              <a:gd name="adj" fmla="val 5043"/>
            </a:avLst>
          </a:prstGeom>
          <a:solidFill>
            <a:srgbClr val="FFFFFF"/>
          </a:solidFill>
          <a:ln w="6350">
            <a:solidFill>
              <a:srgbClr val="D9DEE5"/>
            </a:solidFill>
            <a:prstDash val="solid"/>
          </a:ln>
        </p:spPr>
      </p:sp>
      <p:sp>
        <p:nvSpPr>
          <p:cNvPr id="11" name="Text 9"/>
          <p:cNvSpPr/>
          <p:nvPr/>
        </p:nvSpPr>
        <p:spPr>
          <a:xfrm>
            <a:off x="8168184" y="19823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Deliverables</a:t>
            </a:r>
            <a:endParaRPr lang="en-US" sz="1500" dirty="0"/>
          </a:p>
        </p:txBody>
      </p:sp>
      <p:sp>
        <p:nvSpPr>
          <p:cNvPr id="12" name="Text 10"/>
          <p:cNvSpPr/>
          <p:nvPr/>
        </p:nvSpPr>
        <p:spPr>
          <a:xfrm>
            <a:off x="8266990" y="2287191"/>
            <a:ext cx="2985084" cy="1259483"/>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Regulatory obligations register</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11 approved policies, hardening standards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Control matrix: SOC 2, CSF, CIS, BSSC</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Continuous control monitoring live</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SOC 2 window open (~week 20)</a:t>
            </a:r>
            <a:endParaRPr lang="en-US" sz="1200" dirty="0"/>
          </a:p>
        </p:txBody>
      </p:sp>
      <p:sp>
        <p:nvSpPr>
          <p:cNvPr id="13" name="Text 11"/>
          <p:cNvSpPr/>
          <p:nvPr/>
        </p:nvSpPr>
        <p:spPr>
          <a:xfrm>
            <a:off x="812800" y="390862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Roles:</a:t>
            </a:r>
            <a:r>
              <a:rPr lang="en-US" sz="1200" dirty="0">
                <a:solidFill>
                  <a:srgbClr val="14213D"/>
                </a:solidFill>
                <a:latin typeface="IBM Plex Sans" pitchFamily="34" charset="0"/>
                <a:ea typeface="IBM Plex Sans" pitchFamily="34" charset="-122"/>
                <a:cs typeface="IBM Plex Sans" pitchFamily="34" charset="-120"/>
              </a:rPr>
              <a:t> GRC Lead (lead) · GRC Analyst · Compliance Counsel · Program Lead (vendor risk) · all control owners</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SOC 2 uses the 2017 Trust Services Criteria (2022 points of focus); Type II window 3–12 months, so the report lands in 2027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WORKSTREAM 6 OF 6 · 13 TASKS</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Program management &amp; sustainment</a:t>
            </a:r>
            <a:endParaRPr lang="en-US" sz="2800" dirty="0"/>
          </a:p>
        </p:txBody>
      </p:sp>
      <p:sp>
        <p:nvSpPr>
          <p:cNvPr id="4" name="Shape 2"/>
          <p:cNvSpPr/>
          <p:nvPr/>
        </p:nvSpPr>
        <p:spPr>
          <a:xfrm>
            <a:off x="815975" y="1776016"/>
            <a:ext cx="3414117" cy="2157313"/>
          </a:xfrm>
          <a:prstGeom prst="roundRect">
            <a:avLst>
              <a:gd name="adj" fmla="val 4562"/>
            </a:avLst>
          </a:prstGeom>
          <a:solidFill>
            <a:srgbClr val="FFFFFF"/>
          </a:solidFill>
          <a:ln w="6350">
            <a:solidFill>
              <a:srgbClr val="D9DEE5"/>
            </a:solidFill>
            <a:prstDash val="solid"/>
          </a:ln>
        </p:spPr>
      </p:sp>
      <p:sp>
        <p:nvSpPr>
          <p:cNvPr id="5" name="Text 3"/>
          <p:cNvSpPr/>
          <p:nvPr/>
        </p:nvSpPr>
        <p:spPr>
          <a:xfrm>
            <a:off x="1022350" y="1982391"/>
            <a:ext cx="30914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Focus areas</a:t>
            </a:r>
            <a:endParaRPr lang="en-US" sz="1500" dirty="0"/>
          </a:p>
        </p:txBody>
      </p:sp>
      <p:sp>
        <p:nvSpPr>
          <p:cNvPr id="6" name="Text 4"/>
          <p:cNvSpPr/>
          <p:nvPr/>
        </p:nvSpPr>
        <p:spPr>
          <a:xfrm>
            <a:off x="1121156" y="2287191"/>
            <a:ext cx="2984982" cy="1053802"/>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Charter, risk appetite, threat model</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Early partner booking (lead times)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Gate reviews with signed criteria</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Knowledge transfer from contractors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Hand-over to an evergreen BAU rhythm</a:t>
            </a:r>
            <a:endParaRPr lang="en-US" sz="1200" dirty="0"/>
          </a:p>
        </p:txBody>
      </p:sp>
      <p:sp>
        <p:nvSpPr>
          <p:cNvPr id="7" name="Shape 5"/>
          <p:cNvSpPr/>
          <p:nvPr/>
        </p:nvSpPr>
        <p:spPr>
          <a:xfrm>
            <a:off x="4388842" y="1776016"/>
            <a:ext cx="3414216" cy="2157313"/>
          </a:xfrm>
          <a:prstGeom prst="roundRect">
            <a:avLst>
              <a:gd name="adj" fmla="val 4562"/>
            </a:avLst>
          </a:prstGeom>
          <a:solidFill>
            <a:srgbClr val="FFFFFF"/>
          </a:solidFill>
          <a:ln w="6350">
            <a:solidFill>
              <a:srgbClr val="D9DEE5"/>
            </a:solidFill>
            <a:prstDash val="solid"/>
          </a:ln>
        </p:spPr>
      </p:sp>
      <p:sp>
        <p:nvSpPr>
          <p:cNvPr id="8" name="Text 6"/>
          <p:cNvSpPr/>
          <p:nvPr/>
        </p:nvSpPr>
        <p:spPr>
          <a:xfrm>
            <a:off x="4595217" y="19823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Key tasks (weeks)</a:t>
            </a:r>
            <a:endParaRPr lang="en-US" sz="1500" dirty="0"/>
          </a:p>
        </p:txBody>
      </p:sp>
      <p:sp>
        <p:nvSpPr>
          <p:cNvPr id="9" name="Text 7"/>
          <p:cNvSpPr/>
          <p:nvPr/>
        </p:nvSpPr>
        <p:spPr>
          <a:xfrm>
            <a:off x="4694023" y="2287191"/>
            <a:ext cx="2985084" cy="1465163"/>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Charter; book partners (1–2)</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Inventory; risk appetite (2–3)</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Threat model; gap assessment (4–5)</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Gates at weeks 6, 15, 20</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Continuous compliance; runbooks (22–24)</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Gate 4 and phase-2 roadmap (25–26)</a:t>
            </a:r>
            <a:endParaRPr lang="en-US" sz="1200" dirty="0"/>
          </a:p>
        </p:txBody>
      </p:sp>
      <p:sp>
        <p:nvSpPr>
          <p:cNvPr id="10" name="Shape 8"/>
          <p:cNvSpPr/>
          <p:nvPr/>
        </p:nvSpPr>
        <p:spPr>
          <a:xfrm>
            <a:off x="7961809" y="1776016"/>
            <a:ext cx="3414216" cy="2157313"/>
          </a:xfrm>
          <a:prstGeom prst="roundRect">
            <a:avLst>
              <a:gd name="adj" fmla="val 4562"/>
            </a:avLst>
          </a:prstGeom>
          <a:solidFill>
            <a:srgbClr val="FFFFFF"/>
          </a:solidFill>
          <a:ln w="6350">
            <a:solidFill>
              <a:srgbClr val="D9DEE5"/>
            </a:solidFill>
            <a:prstDash val="solid"/>
          </a:ln>
        </p:spPr>
      </p:sp>
      <p:sp>
        <p:nvSpPr>
          <p:cNvPr id="11" name="Text 9"/>
          <p:cNvSpPr/>
          <p:nvPr/>
        </p:nvSpPr>
        <p:spPr>
          <a:xfrm>
            <a:off x="8168184" y="19823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Deliverables</a:t>
            </a:r>
            <a:endParaRPr lang="en-US" sz="1500" dirty="0"/>
          </a:p>
        </p:txBody>
      </p:sp>
      <p:sp>
        <p:nvSpPr>
          <p:cNvPr id="12" name="Text 10"/>
          <p:cNvSpPr/>
          <p:nvPr/>
        </p:nvSpPr>
        <p:spPr>
          <a:xfrm>
            <a:off x="8266990" y="2287191"/>
            <a:ext cx="2985084" cy="1053802"/>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Charter, RAID log, signed partner SOWs</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Threat model and gap assessment</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Approved target architecture</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Runbook library, KT sign-off</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BAU calendar; phase-2 roadmap</a:t>
            </a:r>
            <a:endParaRPr lang="en-US" sz="1200" dirty="0"/>
          </a:p>
        </p:txBody>
      </p:sp>
      <p:sp>
        <p:nvSpPr>
          <p:cNvPr id="13" name="Text 11"/>
          <p:cNvSpPr/>
          <p:nvPr/>
        </p:nvSpPr>
        <p:spPr>
          <a:xfrm>
            <a:off x="812800" y="411430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Roles:</a:t>
            </a:r>
            <a:r>
              <a:rPr lang="en-US" sz="1200" dirty="0">
                <a:solidFill>
                  <a:srgbClr val="14213D"/>
                </a:solidFill>
                <a:latin typeface="IBM Plex Sans" pitchFamily="34" charset="0"/>
                <a:ea typeface="IBM Plex Sans" pitchFamily="34" charset="-122"/>
                <a:cs typeface="IBM Plex Sans" pitchFamily="34" charset="-120"/>
              </a:rPr>
              <a:t> Program Lead (lead) · Security Architect · CISO/Sponsor (gates) · GRC Lead · Cloud Security Engineer</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Critical path: AL2/EKS remediation → EKS hardening → fleet roll-out → handover; float tracked weekly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TEAM AND SKILLS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A lean core team, specialists where depth matters</a:t>
            </a:r>
            <a:endParaRPr lang="en-US" sz="2800" dirty="0"/>
          </a:p>
        </p:txBody>
      </p:sp>
      <p:sp>
        <p:nvSpPr>
          <p:cNvPr id="4" name="Shape 2"/>
          <p:cNvSpPr/>
          <p:nvPr/>
        </p:nvSpPr>
        <p:spPr>
          <a:xfrm>
            <a:off x="5991225" y="1823641"/>
            <a:ext cx="0" cy="3012281"/>
          </a:xfrm>
          <a:prstGeom prst="line">
            <a:avLst/>
          </a:prstGeom>
          <a:noFill/>
          <a:ln w="6350">
            <a:solidFill>
              <a:srgbClr val="D9DEE5"/>
            </a:solidFill>
            <a:prstDash val="solid"/>
          </a:ln>
        </p:spPr>
      </p:sp>
      <p:sp>
        <p:nvSpPr>
          <p:cNvPr id="5" name="Shape 3"/>
          <p:cNvSpPr/>
          <p:nvPr/>
        </p:nvSpPr>
        <p:spPr>
          <a:xfrm>
            <a:off x="812800" y="4832747"/>
            <a:ext cx="5181600" cy="0"/>
          </a:xfrm>
          <a:prstGeom prst="line">
            <a:avLst/>
          </a:prstGeom>
          <a:noFill/>
          <a:ln w="6350">
            <a:solidFill>
              <a:srgbClr val="D9DEE5"/>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5162550" cy="2993231"/>
        </p:xfrm>
        <a:graphic>
          <a:graphicData uri="http://schemas.openxmlformats.org/drawingml/2006/table">
            <a:tbl>
              <a:tblPr/>
              <a:tblGrid>
                <a:gridCol w="2994279"/>
                <a:gridCol w="722757"/>
                <a:gridCol w="1445514"/>
              </a:tblGrid>
              <a:tr h="332581">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Internal (5.0 FTE)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FTE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Evidence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Security Architect (also IR Lead)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CISSP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Cloud Security Engineer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AWS Security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GRC Lead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0.75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CISA / CRISC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Program Lead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PMP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Platform/DevOps Engineer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AWS DevOps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Identity Engineer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SC-300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Detection Engineer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SC-200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DevSecOps Engineer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GCSA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bl>
          </a:graphicData>
        </a:graphic>
      </p:graphicFrame>
      <p:sp>
        <p:nvSpPr>
          <p:cNvPr id="7" name="Shape 4"/>
          <p:cNvSpPr/>
          <p:nvPr/>
        </p:nvSpPr>
        <p:spPr>
          <a:xfrm>
            <a:off x="11376025" y="1823641"/>
            <a:ext cx="0" cy="2679700"/>
          </a:xfrm>
          <a:prstGeom prst="line">
            <a:avLst/>
          </a:prstGeom>
          <a:noFill/>
          <a:ln w="6350">
            <a:solidFill>
              <a:srgbClr val="D9DEE5"/>
            </a:solidFill>
            <a:prstDash val="solid"/>
          </a:ln>
        </p:spPr>
      </p:sp>
      <p:sp>
        <p:nvSpPr>
          <p:cNvPr id="8" name="Shape 5"/>
          <p:cNvSpPr/>
          <p:nvPr/>
        </p:nvSpPr>
        <p:spPr>
          <a:xfrm>
            <a:off x="6197600" y="4500166"/>
            <a:ext cx="5181600" cy="0"/>
          </a:xfrm>
          <a:prstGeom prst="line">
            <a:avLst/>
          </a:prstGeom>
          <a:noFill/>
          <a:ln w="6350">
            <a:solidFill>
              <a:srgbClr val="D9DEE5"/>
            </a:solidFill>
            <a:prstDash val="solid"/>
          </a:ln>
        </p:spPr>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210300" y="1836341"/>
          <a:ext cx="5162550" cy="2660650"/>
        </p:xfrm>
        <a:graphic>
          <a:graphicData uri="http://schemas.openxmlformats.org/drawingml/2006/table">
            <a:tbl>
              <a:tblPr/>
              <a:tblGrid>
                <a:gridCol w="2994279"/>
                <a:gridCol w="722757"/>
                <a:gridCol w="1445514"/>
              </a:tblGrid>
              <a:tr h="332581">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Contractors (4.0 FTE)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D4F87"/>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D4F87"/>
                      </a:solidFill>
                      <a:prstDash val="solid"/>
                      <a:round/>
                      <a:headEnd type="none" w="med" len="med"/>
                      <a:tailEnd type="none" w="med" len="med"/>
                    </a:lnB>
                    <a:solidFill>
                      <a:srgbClr val="1F5FA8"/>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FTE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D4F87"/>
                      </a:solidFill>
                      <a:prstDash val="solid"/>
                      <a:round/>
                      <a:headEnd type="none" w="med" len="med"/>
                      <a:tailEnd type="none" w="med" len="med"/>
                    </a:lnL>
                    <a:lnR w="12700" cap="flat" cmpd="sng" algn="ctr">
                      <a:solidFill>
                        <a:srgbClr val="1D4F87"/>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D4F87"/>
                      </a:solidFill>
                      <a:prstDash val="solid"/>
                      <a:round/>
                      <a:headEnd type="none" w="med" len="med"/>
                      <a:tailEnd type="none" w="med" len="med"/>
                    </a:lnB>
                    <a:solidFill>
                      <a:srgbClr val="1F5FA8"/>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Evidence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D4F87"/>
                      </a:solidFill>
                      <a:prstDash val="solid"/>
                      <a:round/>
                      <a:headEnd type="none" w="med" len="med"/>
                      <a:tailEnd type="none" w="med" len="med"/>
                    </a:lnL>
                    <a:lnR w="12700" cap="flat" cmpd="sng" algn="ctr">
                      <a:solidFill>
                        <a:srgbClr val="1D4F87"/>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D4F87"/>
                      </a:solidFill>
                      <a:prstDash val="solid"/>
                      <a:round/>
                      <a:headEnd type="none" w="med" len="med"/>
                      <a:tailEnd type="none" w="med" len="med"/>
                    </a:lnB>
                    <a:solidFill>
                      <a:srgbClr val="1F5FA8"/>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Blockchain Security Eng.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D4F87"/>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D4F87"/>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Audit record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D4F87"/>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Kubernetes Security Engineer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0.75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CIAM Engineer (B2C)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SC-300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Blockchain Infra Engineer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Validator ops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GRC Analyst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SOC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Key Management Specialist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CCSSA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Partners: MDR, audit, pentest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SOWs wk 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GOVERNANCE MODEL</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Six forums with clear decision rights</a:t>
            </a:r>
            <a:endParaRPr lang="en-US" sz="2800" dirty="0"/>
          </a:p>
        </p:txBody>
      </p:sp>
      <p:sp>
        <p:nvSpPr>
          <p:cNvPr id="4" name="Text 2"/>
          <p:cNvSpPr/>
          <p:nvPr/>
        </p:nvSpPr>
        <p:spPr>
          <a:xfrm>
            <a:off x="812800" y="1772841"/>
            <a:ext cx="113792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A5C"/>
                </a:solidFill>
                <a:latin typeface="IBM Plex Sans" pitchFamily="34" charset="0"/>
                <a:ea typeface="IBM Plex Sans" pitchFamily="34" charset="-122"/>
                <a:cs typeface="IBM Plex Sans" pitchFamily="34" charset="-120"/>
              </a:rPr>
              <a:t>Three lines:</a:t>
            </a:r>
            <a:r>
              <a:rPr lang="en-US" sz="1300" dirty="0">
                <a:solidFill>
                  <a:srgbClr val="3D4A5C"/>
                </a:solidFill>
                <a:latin typeface="IBM Plex Sans" pitchFamily="34" charset="0"/>
                <a:ea typeface="IBM Plex Sans" pitchFamily="34" charset="-122"/>
                <a:cs typeface="IBM Plex Sans" pitchFamily="34" charset="-120"/>
              </a:rPr>
              <a:t> engineering teams own controls · Security and GRC set standards and monitor · auditors and pentesters assure independently</a:t>
            </a:r>
            <a:endParaRPr lang="en-US" sz="1300" dirty="0"/>
          </a:p>
        </p:txBody>
      </p:sp>
      <p:sp>
        <p:nvSpPr>
          <p:cNvPr id="5" name="Shape 3"/>
          <p:cNvSpPr/>
          <p:nvPr/>
        </p:nvSpPr>
        <p:spPr>
          <a:xfrm>
            <a:off x="11376025" y="2181721"/>
            <a:ext cx="0" cy="2560439"/>
          </a:xfrm>
          <a:prstGeom prst="line">
            <a:avLst/>
          </a:prstGeom>
          <a:noFill/>
          <a:ln w="6350">
            <a:solidFill>
              <a:srgbClr val="D9DEE5"/>
            </a:solidFill>
            <a:prstDash val="solid"/>
          </a:ln>
        </p:spPr>
      </p:sp>
      <p:sp>
        <p:nvSpPr>
          <p:cNvPr id="6" name="Shape 4"/>
          <p:cNvSpPr/>
          <p:nvPr/>
        </p:nvSpPr>
        <p:spPr>
          <a:xfrm>
            <a:off x="812800" y="4738985"/>
            <a:ext cx="10566400" cy="0"/>
          </a:xfrm>
          <a:prstGeom prst="line">
            <a:avLst/>
          </a:prstGeom>
          <a:noFill/>
          <a:ln w="6350">
            <a:solidFill>
              <a:srgbClr val="D9DEE5"/>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194421"/>
          <a:ext cx="10547350" cy="2541389"/>
        </p:xfrm>
        <a:graphic>
          <a:graphicData uri="http://schemas.openxmlformats.org/drawingml/2006/table">
            <a:tbl>
              <a:tblPr/>
              <a:tblGrid>
                <a:gridCol w="2531364"/>
                <a:gridCol w="1687576"/>
                <a:gridCol w="6328410"/>
              </a:tblGrid>
              <a:tr h="332581">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Forum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Cadence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Decides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Security Steering Committee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Monthly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Risk appetite, policies, budget, High/Critical risk acceptance; risk and compliance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Architecture Review Board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Bi-weekly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Designs, standards, Medium exceptions, reference architectures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545902">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Contract Upgrade &amp; Key Committee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Per change + monthly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Upgrades, parameter changes, signer changes, key ceremonies (internal chair)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Change Advisory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Weekly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AMI roll-outs, EKS and validator client upgrades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Incident Response Team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24/7 with MDR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Invoke playbooks: pause, key rotation, regulator and customer notices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Independent assurance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Annual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SOC 2, contract audits, pentest, independent review of GRC-tested controls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A464"/>
                </a:solidFill>
                <a:latin typeface="IBM Plex Sans" pitchFamily="34" charset="0"/>
                <a:ea typeface="IBM Plex Sans" pitchFamily="34" charset="-122"/>
                <a:cs typeface="IBM Plex Sans" pitchFamily="34" charset="-120"/>
              </a:rPr>
              <a:t>EVERGREEN OPERATING MODEL</a:t>
            </a:r>
            <a:endParaRPr lang="en-US" sz="1200" dirty="0"/>
          </a:p>
        </p:txBody>
      </p:sp>
      <p:sp>
        <p:nvSpPr>
          <p:cNvPr id="3" name="Text 1"/>
          <p:cNvSpPr/>
          <p:nvPr>
            <p:ph type="title"/>
          </p:nvPr>
        </p:nvSpPr>
        <p:spPr>
          <a:xfrm>
            <a:off x="812800" y="11785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7F6F2"/>
                </a:solidFill>
                <a:latin typeface="Source Serif 4" pitchFamily="18" charset="0"/>
                <a:ea typeface="Source Serif 4" pitchFamily="18" charset="-122"/>
                <a:cs typeface="Source Serif 4" pitchFamily="18" charset="-120"/>
              </a:rPr>
              <a:t>A loop that runs on a calendar and on events</a:t>
            </a:r>
            <a:endParaRPr lang="en-US" sz="2800" dirty="0"/>
          </a:p>
        </p:txBody>
      </p:sp>
      <p:pic>
        <p:nvPicPr>
          <p:cNvPr id="4" name="Image 0" descr="connector">    </p:cNvPr>
          <p:cNvPicPr>
            <a:picLocks noChangeAspect="1"/>
          </p:cNvPicPr>
          <p:nvPr/>
        </p:nvPicPr>
        <p:blipFill>
          <a:blip r:embed="rId1"/>
          <a:srcRect l="0" r="0" t="0" b="0"/>
          <a:stretch/>
        </p:blipFill>
        <p:spPr>
          <a:xfrm>
            <a:off x="4330700" y="2489200"/>
            <a:ext cx="450850" cy="660400"/>
          </a:xfrm>
          <a:prstGeom prst="rect">
            <a:avLst/>
          </a:prstGeom>
        </p:spPr>
      </p:pic>
      <p:pic>
        <p:nvPicPr>
          <p:cNvPr id="5" name="Image 1" descr="connector">    </p:cNvPr>
          <p:cNvPicPr>
            <a:picLocks noChangeAspect="1"/>
          </p:cNvPicPr>
          <p:nvPr/>
        </p:nvPicPr>
        <p:blipFill>
          <a:blip r:embed="rId2"/>
          <a:srcRect l="0" r="0" t="0" b="0"/>
          <a:stretch/>
        </p:blipFill>
        <p:spPr>
          <a:xfrm>
            <a:off x="4679950" y="3771900"/>
            <a:ext cx="387350" cy="1085850"/>
          </a:xfrm>
          <a:prstGeom prst="rect">
            <a:avLst/>
          </a:prstGeom>
        </p:spPr>
      </p:pic>
      <p:pic>
        <p:nvPicPr>
          <p:cNvPr id="6" name="Image 2" descr="connector">    </p:cNvPr>
          <p:cNvPicPr>
            <a:picLocks noChangeAspect="1"/>
          </p:cNvPicPr>
          <p:nvPr/>
        </p:nvPicPr>
        <p:blipFill>
          <a:blip r:embed="rId3"/>
          <a:srcRect l="0" r="0" t="0" b="0"/>
          <a:stretch/>
        </p:blipFill>
        <p:spPr>
          <a:xfrm>
            <a:off x="3187700" y="5118100"/>
            <a:ext cx="749300" cy="101600"/>
          </a:xfrm>
          <a:prstGeom prst="rect">
            <a:avLst/>
          </a:prstGeom>
        </p:spPr>
      </p:pic>
      <p:pic>
        <p:nvPicPr>
          <p:cNvPr id="7" name="Image 3" descr="connector">    </p:cNvPr>
          <p:cNvPicPr>
            <a:picLocks noChangeAspect="1"/>
          </p:cNvPicPr>
          <p:nvPr/>
        </p:nvPicPr>
        <p:blipFill>
          <a:blip r:embed="rId4"/>
          <a:srcRect l="0" r="0" t="0" b="0"/>
          <a:stretch/>
        </p:blipFill>
        <p:spPr>
          <a:xfrm>
            <a:off x="2044700" y="3771900"/>
            <a:ext cx="292100" cy="1085850"/>
          </a:xfrm>
          <a:prstGeom prst="rect">
            <a:avLst/>
          </a:prstGeom>
        </p:spPr>
      </p:pic>
      <p:pic>
        <p:nvPicPr>
          <p:cNvPr id="8" name="Image 4" descr="connector">    </p:cNvPr>
          <p:cNvPicPr>
            <a:picLocks noChangeAspect="1"/>
          </p:cNvPicPr>
          <p:nvPr/>
        </p:nvPicPr>
        <p:blipFill>
          <a:blip r:embed="rId5"/>
          <a:srcRect l="0" r="0" t="0" b="0"/>
          <a:stretch/>
        </p:blipFill>
        <p:spPr>
          <a:xfrm>
            <a:off x="2425700" y="2552700"/>
            <a:ext cx="355600" cy="596900"/>
          </a:xfrm>
          <a:prstGeom prst="rect">
            <a:avLst/>
          </a:prstGeom>
        </p:spPr>
      </p:pic>
      <p:sp>
        <p:nvSpPr>
          <p:cNvPr id="9" name="Shape 2"/>
          <p:cNvSpPr/>
          <p:nvPr/>
        </p:nvSpPr>
        <p:spPr>
          <a:xfrm>
            <a:off x="2730500" y="2063750"/>
            <a:ext cx="1651000" cy="698500"/>
          </a:xfrm>
          <a:prstGeom prst="roundRect">
            <a:avLst>
              <a:gd name="adj" fmla="val 14545"/>
            </a:avLst>
          </a:prstGeom>
          <a:solidFill>
            <a:srgbClr val="1F5FA8"/>
          </a:solidFill>
          <a:ln/>
        </p:spPr>
      </p:sp>
      <p:sp>
        <p:nvSpPr>
          <p:cNvPr id="10" name="Text 3"/>
          <p:cNvSpPr/>
          <p:nvPr/>
        </p:nvSpPr>
        <p:spPr>
          <a:xfrm>
            <a:off x="2705100" y="2139950"/>
            <a:ext cx="170180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Monitor</a:t>
            </a:r>
            <a:endParaRPr lang="en-US" sz="1400" dirty="0"/>
          </a:p>
        </p:txBody>
      </p:sp>
      <p:sp>
        <p:nvSpPr>
          <p:cNvPr id="11" name="Text 4"/>
          <p:cNvSpPr/>
          <p:nvPr/>
        </p:nvSpPr>
        <p:spPr>
          <a:xfrm>
            <a:off x="2705100" y="2393950"/>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6F2"/>
                </a:solidFill>
                <a:latin typeface="IBM Plex Sans" pitchFamily="34" charset="0"/>
                <a:ea typeface="IBM Plex Sans" pitchFamily="34" charset="-122"/>
                <a:cs typeface="IBM Plex Sans" pitchFamily="34" charset="-120"/>
              </a:rPr>
              <a:t>SIEM · CSPM · GRC</a:t>
            </a:r>
            <a:endParaRPr lang="en-US" sz="1200" dirty="0"/>
          </a:p>
        </p:txBody>
      </p:sp>
      <p:sp>
        <p:nvSpPr>
          <p:cNvPr id="12" name="Shape 5"/>
          <p:cNvSpPr/>
          <p:nvPr/>
        </p:nvSpPr>
        <p:spPr>
          <a:xfrm>
            <a:off x="4191000" y="3111500"/>
            <a:ext cx="1651000" cy="698500"/>
          </a:xfrm>
          <a:prstGeom prst="roundRect">
            <a:avLst>
              <a:gd name="adj" fmla="val 14545"/>
            </a:avLst>
          </a:prstGeom>
          <a:solidFill>
            <a:srgbClr val="1F5FA8"/>
          </a:solidFill>
          <a:ln/>
        </p:spPr>
      </p:sp>
      <p:sp>
        <p:nvSpPr>
          <p:cNvPr id="13" name="Text 6"/>
          <p:cNvSpPr/>
          <p:nvPr/>
        </p:nvSpPr>
        <p:spPr>
          <a:xfrm>
            <a:off x="4165600" y="3187700"/>
            <a:ext cx="170180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Measure</a:t>
            </a:r>
            <a:endParaRPr lang="en-US" sz="1400" dirty="0"/>
          </a:p>
        </p:txBody>
      </p:sp>
      <p:sp>
        <p:nvSpPr>
          <p:cNvPr id="14" name="Text 7"/>
          <p:cNvSpPr/>
          <p:nvPr/>
        </p:nvSpPr>
        <p:spPr>
          <a:xfrm>
            <a:off x="4165600" y="3441700"/>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6F2"/>
                </a:solidFill>
                <a:latin typeface="IBM Plex Sans" pitchFamily="34" charset="0"/>
                <a:ea typeface="IBM Plex Sans" pitchFamily="34" charset="-122"/>
                <a:cs typeface="IBM Plex Sans" pitchFamily="34" charset="-120"/>
              </a:rPr>
              <a:t>KPIs · KRIs · drift</a:t>
            </a:r>
            <a:endParaRPr lang="en-US" sz="1200" dirty="0"/>
          </a:p>
        </p:txBody>
      </p:sp>
      <p:sp>
        <p:nvSpPr>
          <p:cNvPr id="15" name="Shape 8"/>
          <p:cNvSpPr/>
          <p:nvPr/>
        </p:nvSpPr>
        <p:spPr>
          <a:xfrm>
            <a:off x="3886200" y="4819650"/>
            <a:ext cx="1651000" cy="698500"/>
          </a:xfrm>
          <a:prstGeom prst="roundRect">
            <a:avLst>
              <a:gd name="adj" fmla="val 14545"/>
            </a:avLst>
          </a:prstGeom>
          <a:solidFill>
            <a:srgbClr val="1F5FA8"/>
          </a:solidFill>
          <a:ln/>
        </p:spPr>
      </p:sp>
      <p:sp>
        <p:nvSpPr>
          <p:cNvPr id="16" name="Text 9"/>
          <p:cNvSpPr/>
          <p:nvPr/>
        </p:nvSpPr>
        <p:spPr>
          <a:xfrm>
            <a:off x="3860800" y="4895850"/>
            <a:ext cx="170180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Review</a:t>
            </a:r>
            <a:endParaRPr lang="en-US" sz="1400" dirty="0"/>
          </a:p>
        </p:txBody>
      </p:sp>
      <p:sp>
        <p:nvSpPr>
          <p:cNvPr id="17" name="Text 10"/>
          <p:cNvSpPr/>
          <p:nvPr/>
        </p:nvSpPr>
        <p:spPr>
          <a:xfrm>
            <a:off x="3860800" y="5149850"/>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6F2"/>
                </a:solidFill>
                <a:latin typeface="IBM Plex Sans" pitchFamily="34" charset="0"/>
                <a:ea typeface="IBM Plex Sans" pitchFamily="34" charset="-122"/>
                <a:cs typeface="IBM Plex Sans" pitchFamily="34" charset="-120"/>
              </a:rPr>
              <a:t>Steering · ARB</a:t>
            </a:r>
            <a:endParaRPr lang="en-US" sz="1200" dirty="0"/>
          </a:p>
        </p:txBody>
      </p:sp>
      <p:sp>
        <p:nvSpPr>
          <p:cNvPr id="18" name="Shape 11"/>
          <p:cNvSpPr/>
          <p:nvPr/>
        </p:nvSpPr>
        <p:spPr>
          <a:xfrm>
            <a:off x="1574800" y="4819650"/>
            <a:ext cx="1651000" cy="698500"/>
          </a:xfrm>
          <a:prstGeom prst="roundRect">
            <a:avLst>
              <a:gd name="adj" fmla="val 14545"/>
            </a:avLst>
          </a:prstGeom>
          <a:solidFill>
            <a:srgbClr val="1F5FA8"/>
          </a:solidFill>
          <a:ln/>
        </p:spPr>
      </p:sp>
      <p:sp>
        <p:nvSpPr>
          <p:cNvPr id="19" name="Text 12"/>
          <p:cNvSpPr/>
          <p:nvPr/>
        </p:nvSpPr>
        <p:spPr>
          <a:xfrm>
            <a:off x="1549400" y="4895850"/>
            <a:ext cx="170180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Improve</a:t>
            </a:r>
            <a:endParaRPr lang="en-US" sz="1400" dirty="0"/>
          </a:p>
        </p:txBody>
      </p:sp>
      <p:sp>
        <p:nvSpPr>
          <p:cNvPr id="20" name="Text 13"/>
          <p:cNvSpPr/>
          <p:nvPr/>
        </p:nvSpPr>
        <p:spPr>
          <a:xfrm>
            <a:off x="1549400" y="5149850"/>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6F2"/>
                </a:solidFill>
                <a:latin typeface="IBM Plex Sans" pitchFamily="34" charset="0"/>
                <a:ea typeface="IBM Plex Sans" pitchFamily="34" charset="-122"/>
                <a:cs typeface="IBM Plex Sans" pitchFamily="34" charset="-120"/>
              </a:rPr>
              <a:t>Backlog · standards</a:t>
            </a:r>
            <a:endParaRPr lang="en-US" sz="1200" dirty="0"/>
          </a:p>
        </p:txBody>
      </p:sp>
      <p:sp>
        <p:nvSpPr>
          <p:cNvPr id="21" name="Shape 14"/>
          <p:cNvSpPr/>
          <p:nvPr/>
        </p:nvSpPr>
        <p:spPr>
          <a:xfrm>
            <a:off x="1270000" y="3111500"/>
            <a:ext cx="1651000" cy="698500"/>
          </a:xfrm>
          <a:prstGeom prst="roundRect">
            <a:avLst>
              <a:gd name="adj" fmla="val 14545"/>
            </a:avLst>
          </a:prstGeom>
          <a:solidFill>
            <a:srgbClr val="C8641E"/>
          </a:solidFill>
          <a:ln/>
        </p:spPr>
      </p:sp>
      <p:sp>
        <p:nvSpPr>
          <p:cNvPr id="22" name="Text 15"/>
          <p:cNvSpPr/>
          <p:nvPr/>
        </p:nvSpPr>
        <p:spPr>
          <a:xfrm>
            <a:off x="1244600" y="3187700"/>
            <a:ext cx="170180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B1208"/>
                </a:solidFill>
                <a:latin typeface="IBM Plex Sans" pitchFamily="34" charset="0"/>
                <a:ea typeface="IBM Plex Sans" pitchFamily="34" charset="-122"/>
                <a:cs typeface="IBM Plex Sans" pitchFamily="34" charset="-120"/>
              </a:rPr>
              <a:t>Assure</a:t>
            </a:r>
            <a:endParaRPr lang="en-US" sz="1400" dirty="0"/>
          </a:p>
        </p:txBody>
      </p:sp>
      <p:sp>
        <p:nvSpPr>
          <p:cNvPr id="23" name="Text 16"/>
          <p:cNvSpPr/>
          <p:nvPr/>
        </p:nvSpPr>
        <p:spPr>
          <a:xfrm>
            <a:off x="1244600" y="3441700"/>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1208"/>
                </a:solidFill>
                <a:latin typeface="IBM Plex Sans" pitchFamily="34" charset="0"/>
                <a:ea typeface="IBM Plex Sans" pitchFamily="34" charset="-122"/>
                <a:cs typeface="IBM Plex Sans" pitchFamily="34" charset="-120"/>
              </a:rPr>
              <a:t>Audits · tests</a:t>
            </a:r>
            <a:endParaRPr lang="en-US" sz="1200" dirty="0"/>
          </a:p>
        </p:txBody>
      </p:sp>
      <p:sp>
        <p:nvSpPr>
          <p:cNvPr id="24" name="Text 17"/>
          <p:cNvSpPr/>
          <p:nvPr/>
        </p:nvSpPr>
        <p:spPr>
          <a:xfrm>
            <a:off x="2959100" y="4064000"/>
            <a:ext cx="1193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CADB"/>
                </a:solidFill>
                <a:latin typeface="IBM Plex Sans" pitchFamily="34" charset="0"/>
                <a:ea typeface="IBM Plex Sans" pitchFamily="34" charset="-122"/>
                <a:cs typeface="IBM Plex Sans" pitchFamily="34" charset="-120"/>
              </a:rPr>
              <a:t>continuous improvement</a:t>
            </a:r>
            <a:endParaRPr lang="en-US" sz="1200" dirty="0"/>
          </a:p>
        </p:txBody>
      </p:sp>
      <p:sp>
        <p:nvSpPr>
          <p:cNvPr id="25" name="Shape 18"/>
          <p:cNvSpPr/>
          <p:nvPr/>
        </p:nvSpPr>
        <p:spPr>
          <a:xfrm>
            <a:off x="6604000" y="2032000"/>
            <a:ext cx="4775200" cy="1739602"/>
          </a:xfrm>
          <a:prstGeom prst="roundRect">
            <a:avLst>
              <a:gd name="adj" fmla="val 5840"/>
            </a:avLst>
          </a:prstGeom>
          <a:solidFill>
            <a:srgbClr val="1E2F52"/>
          </a:solidFill>
          <a:ln/>
        </p:spPr>
      </p:sp>
      <p:sp>
        <p:nvSpPr>
          <p:cNvPr id="26" name="Text 19"/>
          <p:cNvSpPr/>
          <p:nvPr/>
        </p:nvSpPr>
        <p:spPr>
          <a:xfrm>
            <a:off x="6807200" y="2235200"/>
            <a:ext cx="44998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8A464"/>
                </a:solidFill>
                <a:latin typeface="IBM Plex Sans" pitchFamily="34" charset="0"/>
                <a:ea typeface="IBM Plex Sans" pitchFamily="34" charset="-122"/>
                <a:cs typeface="IBM Plex Sans" pitchFamily="34" charset="-120"/>
              </a:rPr>
              <a:t>Calendar</a:t>
            </a:r>
            <a:endParaRPr lang="en-US" sz="1500" dirty="0"/>
          </a:p>
        </p:txBody>
      </p:sp>
      <p:sp>
        <p:nvSpPr>
          <p:cNvPr id="27" name="Text 20"/>
          <p:cNvSpPr/>
          <p:nvPr/>
        </p:nvSpPr>
        <p:spPr>
          <a:xfrm>
            <a:off x="6906006" y="2540000"/>
            <a:ext cx="4393438" cy="1053802"/>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F7F6F2"/>
                </a:solidFill>
                <a:latin typeface="IBM Plex Sans" pitchFamily="34" charset="0"/>
                <a:ea typeface="IBM Plex Sans" pitchFamily="34" charset="-122"/>
                <a:cs typeface="IBM Plex Sans" pitchFamily="34" charset="-120"/>
              </a:rPr>
              <a:t>Weekly · vulnerability and alert triage, change advisory</a:t>
            </a:r>
            <a:endParaRPr lang="en-US" sz="1200" dirty="0"/>
          </a:p>
          <a:p>
            <a:pPr algn="l" marL="155194" indent="-155194">
              <a:lnSpc>
                <a:spcPts val="1620"/>
              </a:lnSpc>
              <a:buSzPct val="100000"/>
              <a:buChar char="•"/>
            </a:pPr>
            <a:r>
              <a:rPr lang="en-US" sz="1200" dirty="0">
                <a:solidFill>
                  <a:srgbClr val="F7F6F2"/>
                </a:solidFill>
                <a:latin typeface="IBM Plex Sans" pitchFamily="34" charset="0"/>
                <a:ea typeface="IBM Plex Sans" pitchFamily="34" charset="-122"/>
                <a:cs typeface="IBM Plex Sans" pitchFamily="34" charset="-120"/>
              </a:rPr>
              <a:t>Monthly · Steering with KPI/KRI pack, risk register</a:t>
            </a:r>
            <a:endParaRPr lang="en-US" sz="1200" dirty="0"/>
          </a:p>
          <a:p>
            <a:pPr algn="l" marL="155194" indent="-155194">
              <a:lnSpc>
                <a:spcPts val="1620"/>
              </a:lnSpc>
              <a:buSzPct val="100000"/>
              <a:buChar char="•"/>
            </a:pPr>
            <a:r>
              <a:rPr lang="en-US" sz="1200" dirty="0">
                <a:solidFill>
                  <a:srgbClr val="F7F6F2"/>
                </a:solidFill>
                <a:latin typeface="IBM Plex Sans" pitchFamily="34" charset="0"/>
                <a:ea typeface="IBM Plex Sans" pitchFamily="34" charset="-122"/>
                <a:cs typeface="IBM Plex Sans" pitchFamily="34" charset="-120"/>
              </a:rPr>
              <a:t>Quarterly · access reviews, standards refresh</a:t>
            </a:r>
            <a:endParaRPr lang="en-US" sz="1200" dirty="0"/>
          </a:p>
          <a:p>
            <a:pPr algn="l" marL="155194" indent="-155194">
              <a:lnSpc>
                <a:spcPts val="1620"/>
              </a:lnSpc>
              <a:buSzPct val="100000"/>
              <a:buChar char="•"/>
            </a:pPr>
            <a:r>
              <a:rPr lang="en-US" sz="1200" dirty="0">
                <a:solidFill>
                  <a:srgbClr val="F7F6F2"/>
                </a:solidFill>
                <a:latin typeface="IBM Plex Sans" pitchFamily="34" charset="0"/>
                <a:ea typeface="IBM Plex Sans" pitchFamily="34" charset="-122"/>
                <a:cs typeface="IBM Plex Sans" pitchFamily="34" charset="-120"/>
              </a:rPr>
              <a:t>Semi-annual · tabletops, DR test, CSF re-score</a:t>
            </a:r>
            <a:endParaRPr lang="en-US" sz="1200" dirty="0"/>
          </a:p>
          <a:p>
            <a:pPr algn="l" marL="155194" indent="-155194">
              <a:lnSpc>
                <a:spcPts val="1620"/>
              </a:lnSpc>
              <a:buSzPct val="100000"/>
              <a:buChar char="•"/>
            </a:pPr>
            <a:r>
              <a:rPr lang="en-US" sz="1200" dirty="0">
                <a:solidFill>
                  <a:srgbClr val="F7F6F2"/>
                </a:solidFill>
                <a:latin typeface="IBM Plex Sans" pitchFamily="34" charset="0"/>
                <a:ea typeface="IBM Plex Sans" pitchFamily="34" charset="-122"/>
                <a:cs typeface="IBM Plex Sans" pitchFamily="34" charset="-120"/>
              </a:rPr>
              <a:t>Annual · risk assessment, pentest, SOC 2 audit</a:t>
            </a:r>
            <a:endParaRPr lang="en-US" sz="1200" dirty="0"/>
          </a:p>
        </p:txBody>
      </p:sp>
      <p:sp>
        <p:nvSpPr>
          <p:cNvPr id="28" name="Shape 21"/>
          <p:cNvSpPr/>
          <p:nvPr/>
        </p:nvSpPr>
        <p:spPr>
          <a:xfrm>
            <a:off x="6604000" y="4318000"/>
            <a:ext cx="4775200" cy="1351161"/>
          </a:xfrm>
          <a:prstGeom prst="roundRect">
            <a:avLst>
              <a:gd name="adj" fmla="val 7519"/>
            </a:avLst>
          </a:prstGeom>
          <a:solidFill>
            <a:srgbClr val="1E2F52"/>
          </a:solidFill>
          <a:ln/>
        </p:spPr>
      </p:sp>
      <p:sp>
        <p:nvSpPr>
          <p:cNvPr id="29" name="Text 22"/>
          <p:cNvSpPr/>
          <p:nvPr/>
        </p:nvSpPr>
        <p:spPr>
          <a:xfrm>
            <a:off x="6807200" y="4521200"/>
            <a:ext cx="44998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8A464"/>
                </a:solidFill>
                <a:latin typeface="IBM Plex Sans" pitchFamily="34" charset="0"/>
                <a:ea typeface="IBM Plex Sans" pitchFamily="34" charset="-122"/>
                <a:cs typeface="IBM Plex Sans" pitchFamily="34" charset="-120"/>
              </a:rPr>
              <a:t>Event triggers force a re-assessment</a:t>
            </a:r>
            <a:endParaRPr lang="en-US" sz="1500" dirty="0"/>
          </a:p>
        </p:txBody>
      </p:sp>
      <p:sp>
        <p:nvSpPr>
          <p:cNvPr id="30" name="Text 23"/>
          <p:cNvSpPr/>
          <p:nvPr/>
        </p:nvSpPr>
        <p:spPr>
          <a:xfrm>
            <a:off x="6807200" y="4826000"/>
            <a:ext cx="449986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IBM Plex Sans" pitchFamily="34" charset="0"/>
                <a:ea typeface="IBM Plex Sans" pitchFamily="34" charset="-122"/>
                <a:cs typeface="IBM Plex Sans" pitchFamily="34" charset="-120"/>
              </a:rPr>
              <a:t>Contract deploy or upgrade · hard fork or client release · new CIS, BSSC or vendor version · major incident · new vendor · regulatory change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HOW WE WILL KNOW IT WORKS</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Ten headline measures reported monthly to Steering</a:t>
            </a:r>
            <a:endParaRPr lang="en-US" sz="2800" dirty="0"/>
          </a:p>
        </p:txBody>
      </p:sp>
      <p:sp>
        <p:nvSpPr>
          <p:cNvPr id="4" name="Shape 2"/>
          <p:cNvSpPr/>
          <p:nvPr/>
        </p:nvSpPr>
        <p:spPr>
          <a:xfrm>
            <a:off x="11376025" y="1772841"/>
            <a:ext cx="0" cy="3677444"/>
          </a:xfrm>
          <a:prstGeom prst="line">
            <a:avLst/>
          </a:prstGeom>
          <a:noFill/>
          <a:ln w="6350">
            <a:solidFill>
              <a:srgbClr val="D9DEE5"/>
            </a:solidFill>
            <a:prstDash val="solid"/>
          </a:ln>
        </p:spPr>
      </p:sp>
      <p:sp>
        <p:nvSpPr>
          <p:cNvPr id="5" name="Shape 3"/>
          <p:cNvSpPr/>
          <p:nvPr/>
        </p:nvSpPr>
        <p:spPr>
          <a:xfrm>
            <a:off x="812800" y="5447109"/>
            <a:ext cx="10566400" cy="0"/>
          </a:xfrm>
          <a:prstGeom prst="line">
            <a:avLst/>
          </a:prstGeom>
          <a:noFill/>
          <a:ln w="6350">
            <a:solidFill>
              <a:srgbClr val="D9DEE5"/>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10547350" cy="3658394"/>
        </p:xfrm>
        <a:graphic>
          <a:graphicData uri="http://schemas.openxmlformats.org/drawingml/2006/table">
            <a:tbl>
              <a:tblPr/>
              <a:tblGrid>
                <a:gridCol w="2320417"/>
                <a:gridCol w="5273675"/>
                <a:gridCol w="2953258"/>
              </a:tblGrid>
              <a:tr h="332581">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Area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Measure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OS hardening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CIS Level 1 score; hosts on current image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≥95% / ≥95%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Patching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Critical vulnerabilities fixed in SLA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≥95% within 14 days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AWS posture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AL2 hosts; IMDSv2; Security Hub score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 / 100% / ≥90%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Containers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Images signed and scanned before deploy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Identity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Phishing-resistant admin MFA; standing admins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100% / 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Customer identity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Withdrawals with step-up MFA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Monitoring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MTTD on-chain / identity; MTTR critical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&lt;5 min / &lt;30 min / &lt;4 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On-chain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Privileged roles under multisig + timelock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Validators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Slashing events; Ethereum single-client share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 / &lt;33%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Governance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SOC 2 controls passing automated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INDEPENDENT REVIEW</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Four reviewers found 19 issues: 18 fixed in v2, 1 deferred</a:t>
            </a:r>
            <a:endParaRPr lang="en-US" sz="2800" dirty="0"/>
          </a:p>
        </p:txBody>
      </p:sp>
      <p:sp>
        <p:nvSpPr>
          <p:cNvPr id="4" name="Shape 2"/>
          <p:cNvSpPr/>
          <p:nvPr/>
        </p:nvSpPr>
        <p:spPr>
          <a:xfrm>
            <a:off x="812800" y="1791891"/>
            <a:ext cx="2527300" cy="0"/>
          </a:xfrm>
          <a:prstGeom prst="line">
            <a:avLst/>
          </a:prstGeom>
          <a:noFill/>
          <a:ln w="38100">
            <a:solidFill>
              <a:srgbClr val="C8641E"/>
            </a:solidFill>
            <a:prstDash val="solid"/>
          </a:ln>
        </p:spPr>
      </p:sp>
      <p:sp>
        <p:nvSpPr>
          <p:cNvPr id="5" name="Text 3"/>
          <p:cNvSpPr/>
          <p:nvPr/>
        </p:nvSpPr>
        <p:spPr>
          <a:xfrm>
            <a:off x="812800" y="1912541"/>
            <a:ext cx="2603119"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8641E"/>
                </a:solidFill>
                <a:latin typeface="Source Serif 4" pitchFamily="18" charset="0"/>
                <a:ea typeface="Source Serif 4" pitchFamily="18" charset="-122"/>
                <a:cs typeface="Source Serif 4" pitchFamily="18" charset="-120"/>
              </a:rPr>
              <a:t>2</a:t>
            </a:r>
            <a:endParaRPr lang="en-US" sz="2800" dirty="0"/>
          </a:p>
        </p:txBody>
      </p:sp>
      <p:sp>
        <p:nvSpPr>
          <p:cNvPr id="6" name="Text 4"/>
          <p:cNvSpPr/>
          <p:nvPr/>
        </p:nvSpPr>
        <p:spPr>
          <a:xfrm>
            <a:off x="812800" y="243572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critical</a:t>
            </a:r>
            <a:endParaRPr lang="en-US" sz="1200" dirty="0"/>
          </a:p>
        </p:txBody>
      </p:sp>
      <p:sp>
        <p:nvSpPr>
          <p:cNvPr id="7" name="Shape 5"/>
          <p:cNvSpPr/>
          <p:nvPr/>
        </p:nvSpPr>
        <p:spPr>
          <a:xfrm>
            <a:off x="3492500" y="1791891"/>
            <a:ext cx="2527300" cy="0"/>
          </a:xfrm>
          <a:prstGeom prst="line">
            <a:avLst/>
          </a:prstGeom>
          <a:noFill/>
          <a:ln w="38100">
            <a:solidFill>
              <a:srgbClr val="1F5FA8"/>
            </a:solidFill>
            <a:prstDash val="solid"/>
          </a:ln>
        </p:spPr>
      </p:sp>
      <p:sp>
        <p:nvSpPr>
          <p:cNvPr id="8" name="Text 6"/>
          <p:cNvSpPr/>
          <p:nvPr/>
        </p:nvSpPr>
        <p:spPr>
          <a:xfrm>
            <a:off x="3492500" y="1912541"/>
            <a:ext cx="2603119"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5FA8"/>
                </a:solidFill>
                <a:latin typeface="Source Serif 4" pitchFamily="18" charset="0"/>
                <a:ea typeface="Source Serif 4" pitchFamily="18" charset="-122"/>
                <a:cs typeface="Source Serif 4" pitchFamily="18" charset="-120"/>
              </a:rPr>
              <a:t>12</a:t>
            </a:r>
            <a:endParaRPr lang="en-US" sz="2800" dirty="0"/>
          </a:p>
        </p:txBody>
      </p:sp>
      <p:sp>
        <p:nvSpPr>
          <p:cNvPr id="9" name="Text 7"/>
          <p:cNvSpPr/>
          <p:nvPr/>
        </p:nvSpPr>
        <p:spPr>
          <a:xfrm>
            <a:off x="3492500" y="243572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high</a:t>
            </a:r>
            <a:endParaRPr lang="en-US" sz="1200" dirty="0"/>
          </a:p>
        </p:txBody>
      </p:sp>
      <p:sp>
        <p:nvSpPr>
          <p:cNvPr id="10" name="Shape 8"/>
          <p:cNvSpPr/>
          <p:nvPr/>
        </p:nvSpPr>
        <p:spPr>
          <a:xfrm>
            <a:off x="6172200" y="1791891"/>
            <a:ext cx="2527300" cy="0"/>
          </a:xfrm>
          <a:prstGeom prst="line">
            <a:avLst/>
          </a:prstGeom>
          <a:noFill/>
          <a:ln w="38100">
            <a:solidFill>
              <a:srgbClr val="6B8FBF"/>
            </a:solidFill>
            <a:prstDash val="solid"/>
          </a:ln>
        </p:spPr>
      </p:sp>
      <p:sp>
        <p:nvSpPr>
          <p:cNvPr id="11" name="Text 9"/>
          <p:cNvSpPr/>
          <p:nvPr/>
        </p:nvSpPr>
        <p:spPr>
          <a:xfrm>
            <a:off x="6172200" y="1912541"/>
            <a:ext cx="2603119"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4F7AB3"/>
                </a:solidFill>
                <a:latin typeface="Source Serif 4" pitchFamily="18" charset="0"/>
                <a:ea typeface="Source Serif 4" pitchFamily="18" charset="-122"/>
                <a:cs typeface="Source Serif 4" pitchFamily="18" charset="-120"/>
              </a:rPr>
              <a:t>5</a:t>
            </a:r>
            <a:endParaRPr lang="en-US" sz="2800" dirty="0"/>
          </a:p>
        </p:txBody>
      </p:sp>
      <p:sp>
        <p:nvSpPr>
          <p:cNvPr id="12" name="Text 10"/>
          <p:cNvSpPr/>
          <p:nvPr/>
        </p:nvSpPr>
        <p:spPr>
          <a:xfrm>
            <a:off x="6172200" y="243572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medium</a:t>
            </a:r>
            <a:endParaRPr lang="en-US" sz="1200" dirty="0"/>
          </a:p>
        </p:txBody>
      </p:sp>
      <p:sp>
        <p:nvSpPr>
          <p:cNvPr id="13" name="Shape 11"/>
          <p:cNvSpPr/>
          <p:nvPr/>
        </p:nvSpPr>
        <p:spPr>
          <a:xfrm>
            <a:off x="8851900" y="1791891"/>
            <a:ext cx="2527300" cy="0"/>
          </a:xfrm>
          <a:prstGeom prst="line">
            <a:avLst/>
          </a:prstGeom>
          <a:noFill/>
          <a:ln w="38100">
            <a:solidFill>
              <a:srgbClr val="14213D"/>
            </a:solidFill>
            <a:prstDash val="solid"/>
          </a:ln>
        </p:spPr>
      </p:sp>
      <p:sp>
        <p:nvSpPr>
          <p:cNvPr id="14" name="Text 12"/>
          <p:cNvSpPr/>
          <p:nvPr/>
        </p:nvSpPr>
        <p:spPr>
          <a:xfrm>
            <a:off x="8851900" y="1912541"/>
            <a:ext cx="2603119"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4213D"/>
                </a:solidFill>
                <a:latin typeface="Source Serif 4" pitchFamily="18" charset="0"/>
                <a:ea typeface="Source Serif 4" pitchFamily="18" charset="-122"/>
                <a:cs typeface="Source Serif 4" pitchFamily="18" charset="-120"/>
              </a:rPr>
              <a:t>+19</a:t>
            </a:r>
            <a:endParaRPr lang="en-US" sz="2800" dirty="0"/>
          </a:p>
        </p:txBody>
      </p:sp>
      <p:sp>
        <p:nvSpPr>
          <p:cNvPr id="15" name="Text 13"/>
          <p:cNvSpPr/>
          <p:nvPr/>
        </p:nvSpPr>
        <p:spPr>
          <a:xfrm>
            <a:off x="8851900" y="243572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tasks added, 1 merged</a:t>
            </a:r>
            <a:endParaRPr lang="en-US" sz="1200" dirty="0"/>
          </a:p>
        </p:txBody>
      </p:sp>
      <p:sp>
        <p:nvSpPr>
          <p:cNvPr id="16" name="Shape 14"/>
          <p:cNvSpPr/>
          <p:nvPr/>
        </p:nvSpPr>
        <p:spPr>
          <a:xfrm>
            <a:off x="11376025" y="2826841"/>
            <a:ext cx="0" cy="2347119"/>
          </a:xfrm>
          <a:prstGeom prst="line">
            <a:avLst/>
          </a:prstGeom>
          <a:noFill/>
          <a:ln w="6350">
            <a:solidFill>
              <a:srgbClr val="D9DEE5"/>
            </a:solidFill>
            <a:prstDash val="solid"/>
          </a:ln>
        </p:spPr>
      </p:sp>
      <p:sp>
        <p:nvSpPr>
          <p:cNvPr id="17" name="Shape 15"/>
          <p:cNvSpPr/>
          <p:nvPr/>
        </p:nvSpPr>
        <p:spPr>
          <a:xfrm>
            <a:off x="812800" y="5170785"/>
            <a:ext cx="10566400" cy="0"/>
          </a:xfrm>
          <a:prstGeom prst="line">
            <a:avLst/>
          </a:prstGeom>
          <a:noFill/>
          <a:ln w="6350">
            <a:solidFill>
              <a:srgbClr val="D9DEE5"/>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5500" y="2839541"/>
          <a:ext cx="10547350" cy="2328069"/>
        </p:xfrm>
        <a:graphic>
          <a:graphicData uri="http://schemas.openxmlformats.org/drawingml/2006/table">
            <a:tbl>
              <a:tblPr/>
              <a:tblGrid>
                <a:gridCol w="5273675"/>
                <a:gridCol w="5273675"/>
              </a:tblGrid>
              <a:tr h="332581">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Finding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Resolution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Solana Alpenglow (21 Oct) not in plan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Immediate readiness task; validator monitoring wk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MiCA/DORA scope assessed too late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Go/no-go wks 1–2; interim DORA procedure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Amazon Linux 2 past end of support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Migration task; AL2 banned in the standard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Sequencing errors (SSM, telemetry, audits)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Re-ordered; every dependency re-checked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 DR test, pentest, risk appetite, gates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Added, with four signed gates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Key roles overloaded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GRC analyst, 2nd blockchain engineer, MDR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bl>
          </a:graphicData>
        </a:graphic>
      </p:graphicFrame>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IBM Plex Sans" pitchFamily="34" charset="0"/>
                <a:ea typeface="IBM Plex Sans" pitchFamily="34" charset="-122"/>
                <a:cs typeface="IBM Plex Sans" pitchFamily="34" charset="-120"/>
              </a:rPr>
              <a:t>Reviewers: cloud/OS, identity and monitoring, blockchain, governance/PMO · full log in the workbook’s Review Log tab</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RISKS AND DECISIONS</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Source Serif 4" pitchFamily="18" charset="0"/>
                <a:ea typeface="Source Serif 4" pitchFamily="18" charset="-122"/>
                <a:cs typeface="Source Serif 4" pitchFamily="18" charset="-120"/>
              </a:rPr>
              <a:t>What could derail the plan, and what we must decide</a:t>
            </a:r>
            <a:endParaRPr lang="en-US" sz="2800" dirty="0"/>
          </a:p>
        </p:txBody>
      </p:sp>
      <p:sp>
        <p:nvSpPr>
          <p:cNvPr id="4" name="Shape 2"/>
          <p:cNvSpPr/>
          <p:nvPr/>
        </p:nvSpPr>
        <p:spPr>
          <a:xfrm>
            <a:off x="815975" y="1776016"/>
            <a:ext cx="5175250" cy="2157313"/>
          </a:xfrm>
          <a:prstGeom prst="roundRect">
            <a:avLst>
              <a:gd name="adj" fmla="val 4562"/>
            </a:avLst>
          </a:prstGeom>
          <a:solidFill>
            <a:srgbClr val="FFFFFF"/>
          </a:solidFill>
          <a:ln w="6350">
            <a:solidFill>
              <a:srgbClr val="D9DEE5"/>
            </a:solidFill>
            <a:prstDash val="solid"/>
          </a:ln>
        </p:spPr>
      </p:sp>
      <p:sp>
        <p:nvSpPr>
          <p:cNvPr id="5" name="Text 3"/>
          <p:cNvSpPr/>
          <p:nvPr/>
        </p:nvSpPr>
        <p:spPr>
          <a:xfrm>
            <a:off x="1022350" y="1982391"/>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8641E"/>
                </a:solidFill>
                <a:latin typeface="IBM Plex Sans" pitchFamily="34" charset="0"/>
                <a:ea typeface="IBM Plex Sans" pitchFamily="34" charset="-122"/>
                <a:cs typeface="IBM Plex Sans" pitchFamily="34" charset="-120"/>
              </a:rPr>
              <a:t>Top delivery risks</a:t>
            </a:r>
            <a:endParaRPr lang="en-US" sz="1500" dirty="0"/>
          </a:p>
        </p:txBody>
      </p:sp>
      <p:sp>
        <p:nvSpPr>
          <p:cNvPr id="6" name="Text 4"/>
          <p:cNvSpPr/>
          <p:nvPr/>
        </p:nvSpPr>
        <p:spPr>
          <a:xfrm>
            <a:off x="1121156" y="2287191"/>
            <a:ext cx="4798949" cy="1259483"/>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b="1" dirty="0">
                <a:solidFill>
                  <a:srgbClr val="3D4A5C"/>
                </a:solidFill>
                <a:latin typeface="IBM Plex Sans" pitchFamily="34" charset="0"/>
                <a:ea typeface="IBM Plex Sans" pitchFamily="34" charset="-122"/>
                <a:cs typeface="IBM Plex Sans" pitchFamily="34" charset="-120"/>
              </a:rPr>
              <a:t>Critical:</a:t>
            </a:r>
            <a:r>
              <a:rPr lang="en-US" sz="1200" dirty="0">
                <a:solidFill>
                  <a:srgbClr val="3D4A5C"/>
                </a:solidFill>
                <a:latin typeface="IBM Plex Sans" pitchFamily="34" charset="0"/>
                <a:ea typeface="IBM Plex Sans" pitchFamily="34" charset="-122"/>
                <a:cs typeface="IBM Plex Sans" pitchFamily="34" charset="-120"/>
              </a:rPr>
              <a:t> validators miss the Alpenglow cut-over</a:t>
            </a:r>
            <a:endParaRPr lang="en-US" sz="1200" dirty="0"/>
          </a:p>
          <a:p>
            <a:pPr algn="l" marL="155194" indent="-155194">
              <a:lnSpc>
                <a:spcPts val="1620"/>
              </a:lnSpc>
              <a:buSzPct val="100000"/>
              <a:buChar char="•"/>
            </a:pPr>
            <a:r>
              <a:rPr lang="en-US" sz="1200" b="1" dirty="0">
                <a:solidFill>
                  <a:srgbClr val="3D4A5C"/>
                </a:solidFill>
                <a:latin typeface="IBM Plex Sans" pitchFamily="34" charset="0"/>
                <a:ea typeface="IBM Plex Sans" pitchFamily="34" charset="-122"/>
                <a:cs typeface="IBM Plex Sans" pitchFamily="34" charset="-120"/>
              </a:rPr>
              <a:t>Critical:</a:t>
            </a:r>
            <a:r>
              <a:rPr lang="en-US" sz="1200" dirty="0">
                <a:solidFill>
                  <a:srgbClr val="3D4A5C"/>
                </a:solidFill>
                <a:latin typeface="IBM Plex Sans" pitchFamily="34" charset="0"/>
                <a:ea typeface="IBM Plex Sans" pitchFamily="34" charset="-122"/>
                <a:cs typeface="IBM Plex Sans" pitchFamily="34" charset="-120"/>
              </a:rPr>
              <a:t> unconfirmed MiCA/DORA status</a:t>
            </a:r>
            <a:endParaRPr lang="en-US" sz="1200" dirty="0"/>
          </a:p>
          <a:p>
            <a:pPr algn="l" marL="155194" indent="-155194">
              <a:lnSpc>
                <a:spcPts val="1620"/>
              </a:lnSpc>
              <a:buSzPct val="100000"/>
              <a:buChar char="•"/>
            </a:pPr>
            <a:r>
              <a:rPr lang="en-US" sz="1200" b="1" dirty="0">
                <a:solidFill>
                  <a:srgbClr val="3D4A5C"/>
                </a:solidFill>
                <a:latin typeface="IBM Plex Sans" pitchFamily="34" charset="0"/>
                <a:ea typeface="IBM Plex Sans" pitchFamily="34" charset="-122"/>
                <a:cs typeface="IBM Plex Sans" pitchFamily="34" charset="-120"/>
              </a:rPr>
              <a:t>High:</a:t>
            </a:r>
            <a:r>
              <a:rPr lang="en-US" sz="1200" dirty="0">
                <a:solidFill>
                  <a:srgbClr val="3D4A5C"/>
                </a:solidFill>
                <a:latin typeface="IBM Plex Sans" pitchFamily="34" charset="0"/>
                <a:ea typeface="IBM Plex Sans" pitchFamily="34" charset="-122"/>
                <a:cs typeface="IBM Plex Sans" pitchFamily="34" charset="-120"/>
              </a:rPr>
              <a:t> contractor key-person dependency</a:t>
            </a:r>
            <a:endParaRPr lang="en-US" sz="1200" dirty="0"/>
          </a:p>
          <a:p>
            <a:pPr algn="l" marL="155194" indent="-155194">
              <a:lnSpc>
                <a:spcPts val="1620"/>
              </a:lnSpc>
              <a:buSzPct val="100000"/>
              <a:buChar char="•"/>
            </a:pPr>
            <a:r>
              <a:rPr lang="en-US" sz="1200" b="1" dirty="0">
                <a:solidFill>
                  <a:srgbClr val="3D4A5C"/>
                </a:solidFill>
                <a:latin typeface="IBM Plex Sans" pitchFamily="34" charset="0"/>
                <a:ea typeface="IBM Plex Sans" pitchFamily="34" charset="-122"/>
                <a:cs typeface="IBM Plex Sans" pitchFamily="34" charset="-120"/>
              </a:rPr>
              <a:t>High:</a:t>
            </a:r>
            <a:r>
              <a:rPr lang="en-US" sz="1200" dirty="0">
                <a:solidFill>
                  <a:srgbClr val="3D4A5C"/>
                </a:solidFill>
                <a:latin typeface="IBM Plex Sans" pitchFamily="34" charset="0"/>
                <a:ea typeface="IBM Plex Sans" pitchFamily="34" charset="-122"/>
                <a:cs typeface="IBM Plex Sans" pitchFamily="34" charset="-120"/>
              </a:rPr>
              <a:t> validator slashing during changes</a:t>
            </a:r>
            <a:endParaRPr lang="en-US" sz="1200" dirty="0"/>
          </a:p>
          <a:p>
            <a:pPr algn="l" marL="155194" indent="-155194">
              <a:lnSpc>
                <a:spcPts val="1620"/>
              </a:lnSpc>
              <a:buSzPct val="100000"/>
              <a:buChar char="•"/>
            </a:pPr>
            <a:r>
              <a:rPr lang="en-US" sz="1200" b="1" dirty="0">
                <a:solidFill>
                  <a:srgbClr val="3D4A5C"/>
                </a:solidFill>
                <a:latin typeface="IBM Plex Sans" pitchFamily="34" charset="0"/>
                <a:ea typeface="IBM Plex Sans" pitchFamily="34" charset="-122"/>
                <a:cs typeface="IBM Plex Sans" pitchFamily="34" charset="-120"/>
              </a:rPr>
              <a:t>High:</a:t>
            </a:r>
            <a:r>
              <a:rPr lang="en-US" sz="1200" dirty="0">
                <a:solidFill>
                  <a:srgbClr val="3D4A5C"/>
                </a:solidFill>
                <a:latin typeface="IBM Plex Sans" pitchFamily="34" charset="0"/>
                <a:ea typeface="IBM Plex Sans" pitchFamily="34" charset="-122"/>
                <a:cs typeface="IBM Plex Sans" pitchFamily="34" charset="-120"/>
              </a:rPr>
              <a:t> B2C fraud gap after P2 retirement</a:t>
            </a:r>
            <a:endParaRPr lang="en-US" sz="1200" dirty="0"/>
          </a:p>
          <a:p>
            <a:pPr algn="l" marL="155194" indent="-155194">
              <a:lnSpc>
                <a:spcPts val="1620"/>
              </a:lnSpc>
              <a:buSzPct val="100000"/>
              <a:buChar char="•"/>
            </a:pPr>
            <a:r>
              <a:rPr lang="en-US" sz="1200" b="1" dirty="0">
                <a:solidFill>
                  <a:srgbClr val="3D4A5C"/>
                </a:solidFill>
                <a:latin typeface="IBM Plex Sans" pitchFamily="34" charset="0"/>
                <a:ea typeface="IBM Plex Sans" pitchFamily="34" charset="-122"/>
                <a:cs typeface="IBM Plex Sans" pitchFamily="34" charset="-120"/>
              </a:rPr>
              <a:t>Medium:</a:t>
            </a:r>
            <a:r>
              <a:rPr lang="en-US" sz="1200" dirty="0">
                <a:solidFill>
                  <a:srgbClr val="3D4A5C"/>
                </a:solidFill>
                <a:latin typeface="IBM Plex Sans" pitchFamily="34" charset="0"/>
                <a:ea typeface="IBM Plex Sans" pitchFamily="34" charset="-122"/>
                <a:cs typeface="IBM Plex Sans" pitchFamily="34" charset="-120"/>
              </a:rPr>
              <a:t> hardening breaks apps (audit mode first)</a:t>
            </a:r>
            <a:endParaRPr lang="en-US" sz="1200" dirty="0"/>
          </a:p>
        </p:txBody>
      </p:sp>
      <p:sp>
        <p:nvSpPr>
          <p:cNvPr id="7" name="Shape 5"/>
          <p:cNvSpPr/>
          <p:nvPr/>
        </p:nvSpPr>
        <p:spPr>
          <a:xfrm>
            <a:off x="6200775" y="1776016"/>
            <a:ext cx="5175250" cy="2157313"/>
          </a:xfrm>
          <a:prstGeom prst="roundRect">
            <a:avLst>
              <a:gd name="adj" fmla="val 4562"/>
            </a:avLst>
          </a:prstGeom>
          <a:solidFill>
            <a:srgbClr val="FFFFFF"/>
          </a:solidFill>
          <a:ln w="6350">
            <a:solidFill>
              <a:srgbClr val="D9DEE5"/>
            </a:solidFill>
            <a:prstDash val="solid"/>
          </a:ln>
        </p:spPr>
      </p:sp>
      <p:sp>
        <p:nvSpPr>
          <p:cNvPr id="8" name="Text 6"/>
          <p:cNvSpPr/>
          <p:nvPr/>
        </p:nvSpPr>
        <p:spPr>
          <a:xfrm>
            <a:off x="6407150" y="1982391"/>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FA8"/>
                </a:solidFill>
                <a:latin typeface="IBM Plex Sans" pitchFamily="34" charset="0"/>
                <a:ea typeface="IBM Plex Sans" pitchFamily="34" charset="-122"/>
                <a:cs typeface="IBM Plex Sans" pitchFamily="34" charset="-120"/>
              </a:rPr>
              <a:t>Decisions and due week</a:t>
            </a:r>
            <a:endParaRPr lang="en-US" sz="1500" dirty="0"/>
          </a:p>
        </p:txBody>
      </p:sp>
      <p:sp>
        <p:nvSpPr>
          <p:cNvPr id="9" name="Text 7"/>
          <p:cNvSpPr/>
          <p:nvPr/>
        </p:nvSpPr>
        <p:spPr>
          <a:xfrm>
            <a:off x="6505956" y="2287191"/>
            <a:ext cx="4798949" cy="1465163"/>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Regulatory status; MDR partner — wk 2</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On-chain monitoring vendor (Solana) — wk 5</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Custody: MPC, HSM or hybrid — wk 6</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SIEM platform — wk 7</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Stay on B2C or plan External ID — wk 8</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Kubernetes policy engine — wk 11</a:t>
            </a:r>
            <a:endParaRPr lang="en-US" sz="1200" dirty="0"/>
          </a:p>
          <a:p>
            <a:pPr algn="l" marL="155194" indent="-155194">
              <a:lnSpc>
                <a:spcPts val="162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SOC 2 Type I date and window — wk 16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A464"/>
                </a:solidFill>
                <a:latin typeface="IBM Plex Sans" pitchFamily="34" charset="0"/>
                <a:ea typeface="IBM Plex Sans" pitchFamily="34" charset="-122"/>
                <a:cs typeface="IBM Plex Sans" pitchFamily="34" charset="-120"/>
              </a:rPr>
              <a:t>DECISIONS REQUESTED TODAY</a:t>
            </a:r>
            <a:endParaRPr lang="en-US" sz="1200" dirty="0"/>
          </a:p>
        </p:txBody>
      </p:sp>
      <p:sp>
        <p:nvSpPr>
          <p:cNvPr id="3" name="Text 1"/>
          <p:cNvSpPr/>
          <p:nvPr>
            <p:ph type="title"/>
          </p:nvPr>
        </p:nvSpPr>
        <p:spPr>
          <a:xfrm>
            <a:off x="812800" y="12801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2"/>
                </a:solidFill>
                <a:latin typeface="Source Serif 4" pitchFamily="18" charset="0"/>
                <a:ea typeface="Source Serif 4" pitchFamily="18" charset="-122"/>
                <a:cs typeface="Source Serif 4" pitchFamily="18" charset="-120"/>
              </a:rPr>
              <a:t>Approve the program and start the three immediate actions</a:t>
            </a:r>
            <a:endParaRPr lang="en-US" sz="3200" dirty="0"/>
          </a:p>
        </p:txBody>
      </p:sp>
      <p:sp>
        <p:nvSpPr>
          <p:cNvPr id="4" name="Text 2"/>
          <p:cNvSpPr/>
          <p:nvPr/>
        </p:nvSpPr>
        <p:spPr>
          <a:xfrm>
            <a:off x="841573" y="2428081"/>
            <a:ext cx="10846999" cy="1498302"/>
          </a:xfrm>
          <a:prstGeom prst="rect">
            <a:avLst/>
          </a:prstGeom>
          <a:noFill/>
          <a:ln/>
        </p:spPr>
        <p:txBody>
          <a:bodyPr wrap="square" lIns="0" tIns="0" rIns="0" bIns="0" rtlCol="0" anchor="t">
            <a:normAutofit/>
          </a:bodyPr>
          <a:lstStyle/>
          <a:p>
            <a:pPr algn="l" marL="225227" indent="-225227">
              <a:lnSpc>
                <a:spcPts val="2320"/>
              </a:lnSpc>
              <a:buSzPct val="100000"/>
              <a:buFontTx/>
              <a:buAutoNum type="arabicPeriod" startAt="1"/>
            </a:pPr>
            <a:r>
              <a:rPr lang="en-US" sz="1600" dirty="0">
                <a:solidFill>
                  <a:srgbClr val="F7F6F2"/>
                </a:solidFill>
                <a:latin typeface="IBM Plex Sans" pitchFamily="34" charset="0"/>
                <a:ea typeface="IBM Plex Sans" pitchFamily="34" charset="-122"/>
                <a:cs typeface="IBM Plex Sans" pitchFamily="34" charset="-120"/>
              </a:rPr>
              <a:t>Authorise Solana Alpenglow readiness before 21 October.</a:t>
            </a:r>
            <a:endParaRPr lang="en-US" sz="1600" dirty="0"/>
          </a:p>
          <a:p>
            <a:pPr algn="l" marL="225227" indent="-225227">
              <a:lnSpc>
                <a:spcPts val="2320"/>
              </a:lnSpc>
              <a:buSzPct val="100000"/>
              <a:buFontTx/>
              <a:buAutoNum type="arabicPeriod" startAt="1"/>
            </a:pPr>
            <a:r>
              <a:rPr lang="en-US" sz="1600" dirty="0">
                <a:solidFill>
                  <a:srgbClr val="F7F6F2"/>
                </a:solidFill>
                <a:latin typeface="IBM Plex Sans" pitchFamily="34" charset="0"/>
                <a:ea typeface="IBM Plex Sans" pitchFamily="34" charset="-122"/>
                <a:cs typeface="IBM Plex Sans" pitchFamily="34" charset="-120"/>
              </a:rPr>
              <a:t>Commission the MiCA/DORA go/no-go and the interim incident procedure.</a:t>
            </a:r>
            <a:endParaRPr lang="en-US" sz="1600" dirty="0"/>
          </a:p>
          <a:p>
            <a:pPr algn="l" marL="225227" indent="-225227">
              <a:lnSpc>
                <a:spcPts val="2320"/>
              </a:lnSpc>
              <a:buSzPct val="100000"/>
              <a:buFontTx/>
              <a:buAutoNum type="arabicPeriod" startAt="1"/>
            </a:pPr>
            <a:r>
              <a:rPr lang="en-US" sz="1600" dirty="0">
                <a:solidFill>
                  <a:srgbClr val="F7F6F2"/>
                </a:solidFill>
                <a:latin typeface="IBM Plex Sans" pitchFamily="34" charset="0"/>
                <a:ea typeface="IBM Plex Sans" pitchFamily="34" charset="-122"/>
                <a:cs typeface="IBM Plex Sans" pitchFamily="34" charset="-120"/>
              </a:rPr>
              <a:t>Approve the 26-week program, 5.0 internal + 4.0 contractor FTE and an MDR partner.</a:t>
            </a:r>
            <a:endParaRPr lang="en-US" sz="1600" dirty="0"/>
          </a:p>
          <a:p>
            <a:pPr algn="l" marL="225227" indent="-225227">
              <a:lnSpc>
                <a:spcPts val="2320"/>
              </a:lnSpc>
              <a:buSzPct val="100000"/>
              <a:buFontTx/>
              <a:buAutoNum type="arabicPeriod" startAt="1"/>
            </a:pPr>
            <a:r>
              <a:rPr lang="en-US" sz="1600" dirty="0">
                <a:solidFill>
                  <a:srgbClr val="F7F6F2"/>
                </a:solidFill>
                <a:latin typeface="IBM Plex Sans" pitchFamily="34" charset="0"/>
                <a:ea typeface="IBM Plex Sans" pitchFamily="34" charset="-122"/>
                <a:cs typeface="IBM Plex Sans" pitchFamily="34" charset="-120"/>
              </a:rPr>
              <a:t>Release partner bookings this week: contract auditors, SOC 2 CPA, pentest, GRC platform.</a:t>
            </a:r>
            <a:endParaRPr lang="en-US" sz="1600" dirty="0"/>
          </a:p>
          <a:p>
            <a:pPr algn="l" marL="225227" indent="-225227">
              <a:lnSpc>
                <a:spcPts val="2320"/>
              </a:lnSpc>
              <a:buSzPct val="100000"/>
              <a:buFontTx/>
              <a:buAutoNum type="arabicPeriod" startAt="1"/>
            </a:pPr>
            <a:r>
              <a:rPr lang="en-US" sz="1600" dirty="0">
                <a:solidFill>
                  <a:srgbClr val="F7F6F2"/>
                </a:solidFill>
                <a:latin typeface="IBM Plex Sans" pitchFamily="34" charset="0"/>
                <a:ea typeface="IBM Plex Sans" pitchFamily="34" charset="-122"/>
                <a:cs typeface="IBM Plex Sans" pitchFamily="34" charset="-120"/>
              </a:rPr>
              <a:t>Confirm the Security Steering Committee and the week-6 Gate 1 date.</a:t>
            </a:r>
            <a:endParaRPr lang="en-US" sz="1600" dirty="0"/>
          </a:p>
        </p:txBody>
      </p:sp>
      <p:sp>
        <p:nvSpPr>
          <p:cNvPr id="5" name="Text 3"/>
          <p:cNvSpPr/>
          <p:nvPr/>
        </p:nvSpPr>
        <p:spPr>
          <a:xfrm>
            <a:off x="812800" y="4154984"/>
            <a:ext cx="1088339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ADB"/>
                </a:solidFill>
                <a:latin typeface="IBM Plex Sans" pitchFamily="34" charset="0"/>
                <a:ea typeface="IBM Plex Sans" pitchFamily="34" charset="-122"/>
                <a:cs typeface="IBM Plex Sans" pitchFamily="34" charset="-120"/>
              </a:rPr>
              <a:t>Result by week 26: hardened and measured infrastructure, monitored chains and identities, and a governance loop that keeps pace with change.</a:t>
            </a:r>
            <a:endParaRPr lang="en-US" sz="1300" dirty="0"/>
          </a:p>
        </p:txBody>
      </p:sp>
    </p:spTree>
  </p:cSld>
  <p:clrMapOvr>
    <a:masterClrMapping/>
  </p:clrMapOvr>
</p:sld>
</file>

<file path=ppt/theme/theme1.xml><?xml version="1.0" encoding="utf-8"?>
<a:theme xmlns:a="http://schemas.openxmlformats.org/drawingml/2006/main" name="Security Hardening &amp; Governance Program — Executive Briefing">
  <a:themeElements>
    <a:clrScheme name="Security Hardening &amp; Governance Program — Executive Briefing">
      <a:dk1>
        <a:srgbClr val="14213D"/>
      </a:dk1>
      <a:lt1>
        <a:srgbClr val="F7F6F2"/>
      </a:lt1>
      <a:dk2>
        <a:srgbClr val="4D566A"/>
      </a:dk2>
      <a:lt2>
        <a:srgbClr val="E0E1E0"/>
      </a:lt2>
      <a:accent1>
        <a:srgbClr val="1F5FA8"/>
      </a:accent1>
      <a:accent2>
        <a:srgbClr val="C8641E"/>
      </a:accent2>
      <a:accent3>
        <a:srgbClr val="E8A464"/>
      </a:accent3>
      <a:accent4>
        <a:srgbClr val="8A3E0B"/>
      </a:accent4>
      <a:accent5>
        <a:srgbClr val="4F7AB3"/>
      </a:accent5>
      <a:accent6>
        <a:srgbClr val="6B8FBF"/>
      </a:accent6>
      <a:hlink>
        <a:srgbClr val="0563C1"/>
      </a:hlink>
      <a:folHlink>
        <a:srgbClr val="954F72"/>
      </a:folHlink>
    </a:clrScheme>
    <a:fontScheme name="Security Hardening &amp; Governance Program — Executive Brief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Hardening &amp; Governance Program — Executive Briefing</dc:title>
  <dc:subject/>
  <dc:creator/>
  <cp:lastModifiedBy/>
  <cp:revision>1</cp:revision>
  <dcterms:created xsi:type="dcterms:W3CDTF">2026-10-20T14:27:09Z</dcterms:created>
  <dcterms:modified xsi:type="dcterms:W3CDTF">2026-10-20T14:27:09Z</dcterms:modified>
</cp:coreProperties>
</file>