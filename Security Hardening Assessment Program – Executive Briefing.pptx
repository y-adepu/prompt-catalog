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briefing: approve the charter and the 16-week plan, and make the six start-up decisions on the last slide. The program assesses and recommends; owning teams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One-minute version. The estate spans AWS, Microsoft identity and three blockchain stacks, and nobody has a current, evidence-based picture of its posture. The program is threat-led, maps every test to every standard once, and stops at recommendations. The asks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program’s output is decisions, not changes: for every weakness, what to fix, why, against which standard, in what order and how to verify it. Objectives 1 and 2 are front-loaded so the rest of the program is focused and mapped from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follows the attack paths, not the org chart. That is why signer devices, engineer workstations and the dApp front end are in: recent large crypto losses came through those routes rather than through the cloud. Node operation is outsourced: Alchemy runs the Ethereum, Base and Solana nodes, and Blockdaemon runs the Canton Network validator, which hosts our Daml parties and, by default, their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WS1 sets one method for everyone. The four layer workstreams assess and include their own logging and detection. Everything lands in one register and one roadmap. Detection and response sit inside each layer, not in a separate workstream, to keep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WS1 is the spine of the program. Its week-2 outputs (crown jewels, attack scenarios, rating model and crosswalk v1) decide what the other workstreams test first and how every finding is scored and mapped. Where standards differ, the strictest requirement wins; true conflicts go to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Crown jewel = what an attacker wants; Tier 1 = what we assess first (crown jewels plus anything two steps or fewer away). Key point: CrowdStrike covers EC2 only, and EKS pods run without Fargate. WS2 will confirm whether the Falcon sensor runs on the EKS worker nodes and how GuardDuty Runtime Monitoring covers pods. IMDS hop limit 1 applies to EKS nodes using Pod Identity or IRSA; documented container hosts may need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is the most likely first step of an attack. Compromising Entra compromises AWS through the Identity Center trust, so that trust is a crown jewel, and therefore Tier 1. Entra ID P2 / ID Governance licensing is confirmed, so PIM and access reviews are available. Azure AD B2C is no longer sold to new customers, so a migration plan to Entra External ID is part of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WS4 is the heaviest workstream, so it runs as two staggered tracks: platform in weeks 3–7 (written up during the buffer) and application in weeks 5–13. Detection is tested, not just mapped: atomic tests in weeks 10–11 prove priority detections reach Splunk. Full ASVS depth applies to Tier 1 apps; others get tool-based checks. PCI applies only if cardholder data is confirmed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Vault is the Enterprise edition, so the custody review also covers its Enterprise controls: HSM-backed seal and seal wrap, DR replication with a tested failover, namespaces, Sentinel policies, and control groups for multi-person approval of signing-key operations. Vault Transit has no secp256k1 key type, so Ethereum signing needs a decision: an HSM, AWS KMS secp256k1 keys, MPC, or a plugin. Ed25519 for Solana is native. Node operation is outsourced. Alchemy runs the Ethereum, Base and Solana nodes and holds no keys, so its review covers API-key handling, access and dependency risk. Blockdaemon runs the Canton Network validator, which hosts our Daml parties: by default it generates and stores their party keys and holds the contract data, so the Blockdaemon-hosted validator is treated as a crown jewel and reviewed through its assurance reports, contract terms and our access to it, against BSSC NOS. External contract audits are out of scope; WS5 produces the list of contracts that need one. If the WS5 assessor lacks Solana or Daml skills, a short specialist engagement is decided at gate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are counted from the program start date, which is still to be confirmed. The crown-jewel flash readout is in week 4. Weeks 8–9 are a two-week buffer for internal analysis and crosswalk mapping only; once the start date is set, place it over the main holiday or leave period. A missed gate needs a recorded CISO decision: extend, add staff, or move named scope. Capacity is tight at the high end of sizing; the gate-1 re-estimate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cross-check report, baselines, target-state architecture, register and roadmap are due in week 14; the executive report and handover pack in week 16. The readiness view per standard is an internal view, not a certification or attestation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Decisions 1–3 are needed before week 1. The start date sets where the two-week buffer falls: place it over the main holiday or leave period that the 16 weeks cover. Decisions 4–6 can land by gate 1 (week 2), but sizing drives the capacity re-estimate, so earlier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are pinned in the crosswalk register. NIST’s published informative references link CSF 2.0 to SP 800-53, CIS Controls v8.1, ISO/IEC 27001:2022 and PCI DSS 4.0.1. FATF, EU TFR, EU AMLR and GDPR come from the existing blockchain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Azure CIS register in the project covers Azure services; only its Entra ID rows apply to this AWS estate. The AWS, Amazon Linux 2023 and EKS benchmark rows are imported by ID into crosswalk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BSSC is the Blockchain Security Standards Council. The register maps each control to CSF 2.0, ISO/IEC 27001:2022 and CIS Controls v8.1; SP 800-53 links are added in the crosswalk.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Abbreviations used across the deck and its speaker notes, in alphabetical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Abbreviations used across the deck and its speaker notes, in alphabetical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Abbreviations used across the deck and its speaker notes, in alphabetical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51561"/>
            <a:ext cx="10566400" cy="759460"/>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15821"/>
            <a:ext cx="10566400" cy="39293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51561"/>
            <a:ext cx="10566400" cy="759460"/>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15821"/>
            <a:ext cx="10566400" cy="39293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BA39A"/>
          </a:solidFill>
          <a:ln/>
        </p:spPr>
      </p:sp>
      <p:sp>
        <p:nvSpPr>
          <p:cNvPr id="3" name="Text 1"/>
          <p:cNvSpPr/>
          <p:nvPr/>
        </p:nvSpPr>
        <p:spPr>
          <a:xfrm>
            <a:off x="812800" y="2195989"/>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FD1C7"/>
                </a:solidFill>
                <a:latin typeface="IBM Plex Sans" pitchFamily="34" charset="0"/>
                <a:ea typeface="IBM Plex Sans" pitchFamily="34" charset="-122"/>
                <a:cs typeface="IBM Plex Sans" pitchFamily="34" charset="-120"/>
              </a:rPr>
              <a:t>EXECUTIVE BRIEFING</a:t>
            </a:r>
            <a:endParaRPr lang="en-US" sz="1300" dirty="0"/>
          </a:p>
        </p:txBody>
      </p:sp>
      <p:sp>
        <p:nvSpPr>
          <p:cNvPr id="4" name="Text 2"/>
          <p:cNvSpPr/>
          <p:nvPr>
            <p:ph type="title"/>
          </p:nvPr>
        </p:nvSpPr>
        <p:spPr>
          <a:xfrm>
            <a:off x="812800" y="2630329"/>
            <a:ext cx="9156700" cy="134207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8F7F3"/>
                </a:solidFill>
                <a:latin typeface="IBM Plex Sans" pitchFamily="34" charset="0"/>
                <a:ea typeface="IBM Plex Sans" pitchFamily="34" charset="-122"/>
                <a:cs typeface="IBM Plex Sans" pitchFamily="34" charset="-120"/>
              </a:rPr>
              <a:t>Security Hardening Assessment Program</a:t>
            </a:r>
            <a:endParaRPr lang="en-US" sz="4800" dirty="0"/>
          </a:p>
        </p:txBody>
      </p:sp>
      <p:sp>
        <p:nvSpPr>
          <p:cNvPr id="5" name="Text 3"/>
          <p:cNvSpPr/>
          <p:nvPr/>
        </p:nvSpPr>
        <p:spPr>
          <a:xfrm>
            <a:off x="812800" y="4150201"/>
            <a:ext cx="9156700"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3E0"/>
                </a:solidFill>
                <a:latin typeface="IBM Plex Sans" pitchFamily="34" charset="0"/>
                <a:ea typeface="IBM Plex Sans" pitchFamily="34" charset="-122"/>
                <a:cs typeface="IBM Plex Sans" pitchFamily="34" charset="-120"/>
              </a:rPr>
              <a:t>Charter and 16-week roadmap · start date to be confirmed</a:t>
            </a:r>
            <a:endParaRPr lang="en-US" sz="1800" dirty="0"/>
          </a:p>
        </p:txBody>
      </p:sp>
      <p:sp>
        <p:nvSpPr>
          <p:cNvPr id="6" name="Text 4"/>
          <p:cNvSpPr/>
          <p:nvPr/>
        </p:nvSpPr>
        <p:spPr>
          <a:xfrm>
            <a:off x="812800" y="6192520"/>
            <a:ext cx="23158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CISO steering group briefing</a:t>
            </a:r>
            <a:endParaRPr lang="en-US" sz="1200" dirty="0"/>
          </a:p>
        </p:txBody>
      </p:sp>
      <p:sp>
        <p:nvSpPr>
          <p:cNvPr id="7" name="Text 5"/>
          <p:cNvSpPr/>
          <p:nvPr/>
        </p:nvSpPr>
        <p:spPr>
          <a:xfrm>
            <a:off x="10387933" y="6192520"/>
            <a:ext cx="9912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Confidential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01 · EXECUTIVE SUMMARY</a:t>
            </a:r>
            <a:endParaRPr lang="en-US" sz="1200" dirty="0"/>
          </a:p>
        </p:txBody>
      </p:sp>
      <p:sp>
        <p:nvSpPr>
          <p:cNvPr id="3" name="Text 1"/>
          <p:cNvSpPr/>
          <p:nvPr>
            <p:ph type="title"/>
          </p:nvPr>
        </p:nvSpPr>
        <p:spPr>
          <a:xfrm>
            <a:off x="812800" y="1051560"/>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In 16 weeks we will know what to harden, in what order, and where we stand against every standard we answer to</a:t>
            </a:r>
            <a:endParaRPr lang="en-US" sz="2600" dirty="0"/>
          </a:p>
        </p:txBody>
      </p:sp>
      <p:sp>
        <p:nvSpPr>
          <p:cNvPr id="4" name="Shape 2"/>
          <p:cNvSpPr/>
          <p:nvPr/>
        </p:nvSpPr>
        <p:spPr>
          <a:xfrm>
            <a:off x="815975" y="1991995"/>
            <a:ext cx="3380264" cy="3166745"/>
          </a:xfrm>
          <a:prstGeom prst="rect">
            <a:avLst/>
          </a:prstGeom>
          <a:solidFill>
            <a:srgbClr val="FDFDFB"/>
          </a:solidFill>
          <a:ln w="6350">
            <a:solidFill>
              <a:srgbClr val="D9DCD6"/>
            </a:solidFill>
            <a:prstDash val="solid"/>
          </a:ln>
        </p:spPr>
      </p:sp>
      <p:sp>
        <p:nvSpPr>
          <p:cNvPr id="5" name="Text 3"/>
          <p:cNvSpPr/>
          <p:nvPr/>
        </p:nvSpPr>
        <p:spPr>
          <a:xfrm>
            <a:off x="1071880" y="222250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The situation</a:t>
            </a:r>
            <a:endParaRPr lang="en-US" sz="1600" dirty="0"/>
          </a:p>
        </p:txBody>
      </p:sp>
      <p:sp>
        <p:nvSpPr>
          <p:cNvPr id="6" name="Text 4"/>
          <p:cNvSpPr/>
          <p:nvPr/>
        </p:nvSpPr>
        <p:spPr>
          <a:xfrm>
            <a:off x="1157224" y="2593340"/>
            <a:ext cx="2861543" cy="21056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AWS, Entra ID / B2C and multi-chain estate; current posture is unknown</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High-value targets: signing keys, admin multisigs, customer withdrawals</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Overlapping standards (NIST, ISO, SOC 2, CIS, BSSC); PCI, DORA, MiCA, NYDFS pending Legal review</a:t>
            </a:r>
            <a:endParaRPr lang="en-US" sz="1300" dirty="0"/>
          </a:p>
        </p:txBody>
      </p:sp>
      <p:sp>
        <p:nvSpPr>
          <p:cNvPr id="7" name="Shape 5"/>
          <p:cNvSpPr/>
          <p:nvPr/>
        </p:nvSpPr>
        <p:spPr>
          <a:xfrm>
            <a:off x="4405789" y="1991995"/>
            <a:ext cx="3380343" cy="3166745"/>
          </a:xfrm>
          <a:prstGeom prst="rect">
            <a:avLst/>
          </a:prstGeom>
          <a:solidFill>
            <a:srgbClr val="FDFDFB"/>
          </a:solidFill>
          <a:ln w="6350">
            <a:solidFill>
              <a:srgbClr val="D9DCD6"/>
            </a:solidFill>
            <a:prstDash val="solid"/>
          </a:ln>
        </p:spPr>
      </p:sp>
      <p:sp>
        <p:nvSpPr>
          <p:cNvPr id="8" name="Text 6"/>
          <p:cNvSpPr/>
          <p:nvPr/>
        </p:nvSpPr>
        <p:spPr>
          <a:xfrm>
            <a:off x="4661694" y="222250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Our approach</a:t>
            </a:r>
            <a:endParaRPr lang="en-US" sz="1600" dirty="0"/>
          </a:p>
        </p:txBody>
      </p:sp>
      <p:sp>
        <p:nvSpPr>
          <p:cNvPr id="9" name="Text 7"/>
          <p:cNvSpPr/>
          <p:nvPr/>
        </p:nvSpPr>
        <p:spPr>
          <a:xfrm>
            <a:off x="4747038" y="2593340"/>
            <a:ext cx="2861625" cy="141224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Threat-led: attack paths to the crown jewels first, at full depth</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Test once, map to every standard through one crosswalk</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Assess and recommend only; owners implement after handover</a:t>
            </a:r>
            <a:endParaRPr lang="en-US" sz="1300" dirty="0"/>
          </a:p>
        </p:txBody>
      </p:sp>
      <p:sp>
        <p:nvSpPr>
          <p:cNvPr id="10" name="Shape 8"/>
          <p:cNvSpPr/>
          <p:nvPr/>
        </p:nvSpPr>
        <p:spPr>
          <a:xfrm>
            <a:off x="7995682" y="1991995"/>
            <a:ext cx="3380343" cy="3166745"/>
          </a:xfrm>
          <a:prstGeom prst="rect">
            <a:avLst/>
          </a:prstGeom>
          <a:solidFill>
            <a:srgbClr val="E6F2F0"/>
          </a:solidFill>
          <a:ln w="6350">
            <a:solidFill>
              <a:srgbClr val="B9DAD5"/>
            </a:solidFill>
            <a:prstDash val="solid"/>
          </a:ln>
        </p:spPr>
      </p:sp>
      <p:sp>
        <p:nvSpPr>
          <p:cNvPr id="11" name="Text 9"/>
          <p:cNvSpPr/>
          <p:nvPr/>
        </p:nvSpPr>
        <p:spPr>
          <a:xfrm>
            <a:off x="8251587" y="222250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we need</a:t>
            </a:r>
            <a:endParaRPr lang="en-US" sz="1600" dirty="0"/>
          </a:p>
        </p:txBody>
      </p:sp>
      <p:sp>
        <p:nvSpPr>
          <p:cNvPr id="12" name="Text 10"/>
          <p:cNvSpPr/>
          <p:nvPr/>
        </p:nvSpPr>
        <p:spPr>
          <a:xfrm>
            <a:off x="8336931" y="2593340"/>
            <a:ext cx="2861625" cy="141224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4213D"/>
                </a:solidFill>
                <a:latin typeface="IBM Plex Sans" pitchFamily="34" charset="0"/>
                <a:ea typeface="IBM Plex Sans" pitchFamily="34" charset="-122"/>
                <a:cs typeface="IBM Plex Sans" pitchFamily="34" charset="-120"/>
              </a:rPr>
              <a:t>Approval of the charter and the 16-week plan</a:t>
            </a:r>
            <a:endParaRPr lang="en-US" sz="1300" dirty="0"/>
          </a:p>
          <a:p>
            <a:pPr algn="l" marL="168656" indent="-168656">
              <a:lnSpc>
                <a:spcPts val="1820"/>
              </a:lnSpc>
              <a:buSzPct val="100000"/>
              <a:buChar char="•"/>
            </a:pPr>
            <a:r>
              <a:rPr lang="en-US" sz="1300" dirty="0">
                <a:solidFill>
                  <a:srgbClr val="14213D"/>
                </a:solidFill>
                <a:latin typeface="IBM Plex Sans" pitchFamily="34" charset="0"/>
                <a:ea typeface="IBM Plex Sans" pitchFamily="34" charset="-122"/>
                <a:cs typeface="IBM Plex Sans" pitchFamily="34" charset="-120"/>
              </a:rPr>
              <a:t>Five named workstream leads and read-only access in week 0</a:t>
            </a:r>
            <a:endParaRPr lang="en-US" sz="1300" dirty="0"/>
          </a:p>
          <a:p>
            <a:pPr algn="l" marL="168656" indent="-168656">
              <a:lnSpc>
                <a:spcPts val="1820"/>
              </a:lnSpc>
              <a:buSzPct val="100000"/>
              <a:buChar char="•"/>
            </a:pPr>
            <a:r>
              <a:rPr lang="en-US" sz="1300" dirty="0">
                <a:solidFill>
                  <a:srgbClr val="14213D"/>
                </a:solidFill>
                <a:latin typeface="IBM Plex Sans" pitchFamily="34" charset="0"/>
                <a:ea typeface="IBM Plex Sans" pitchFamily="34" charset="-122"/>
                <a:cs typeface="IBM Plex Sans" pitchFamily="34" charset="-120"/>
              </a:rPr>
              <a:t>Answers on sizing, regulatory scope and the CI/CD platform</a:t>
            </a:r>
            <a:endParaRPr lang="en-US" sz="1300" dirty="0"/>
          </a:p>
        </p:txBody>
      </p:sp>
      <p:sp>
        <p:nvSpPr>
          <p:cNvPr id="13" name="Shape 11"/>
          <p:cNvSpPr/>
          <p:nvPr/>
        </p:nvSpPr>
        <p:spPr>
          <a:xfrm>
            <a:off x="812800" y="5339715"/>
            <a:ext cx="10566400" cy="502285"/>
          </a:xfrm>
          <a:prstGeom prst="rect">
            <a:avLst/>
          </a:prstGeom>
          <a:solidFill>
            <a:srgbClr val="14213D"/>
          </a:solidFill>
          <a:ln/>
        </p:spPr>
      </p:sp>
      <p:sp>
        <p:nvSpPr>
          <p:cNvPr id="14" name="Text 12"/>
          <p:cNvSpPr/>
          <p:nvPr/>
        </p:nvSpPr>
        <p:spPr>
          <a:xfrm>
            <a:off x="1041400" y="5484178"/>
            <a:ext cx="12563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C7"/>
                </a:solidFill>
                <a:latin typeface="IBM Plex Sans" pitchFamily="34" charset="0"/>
                <a:ea typeface="IBM Plex Sans" pitchFamily="34" charset="-122"/>
                <a:cs typeface="IBM Plex Sans" pitchFamily="34" charset="-120"/>
              </a:rPr>
              <a:t>TODAY’S ASK</a:t>
            </a:r>
            <a:endParaRPr lang="en-US" sz="1200" dirty="0"/>
          </a:p>
        </p:txBody>
      </p:sp>
      <p:sp>
        <p:nvSpPr>
          <p:cNvPr id="15" name="Text 13"/>
          <p:cNvSpPr/>
          <p:nvPr/>
        </p:nvSpPr>
        <p:spPr>
          <a:xfrm>
            <a:off x="2297748" y="5479415"/>
            <a:ext cx="911843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7F3"/>
                </a:solidFill>
                <a:latin typeface="IBM Plex Sans" pitchFamily="34" charset="0"/>
                <a:ea typeface="IBM Plex Sans" pitchFamily="34" charset="-122"/>
                <a:cs typeface="IBM Plex Sans" pitchFamily="34" charset="-120"/>
              </a:rPr>
              <a:t>Approve the charter and make the six start-up decisions on slide 13</a:t>
            </a:r>
            <a:endParaRPr lang="en-US" sz="1300" dirty="0"/>
          </a:p>
        </p:txBody>
      </p:sp>
      <p:sp>
        <p:nvSpPr>
          <p:cNvPr id="16" name="Text 14"/>
          <p:cNvSpPr/>
          <p:nvPr/>
        </p:nvSpPr>
        <p:spPr>
          <a:xfrm>
            <a:off x="812800" y="6217920"/>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17" name="Text 15"/>
          <p:cNvSpPr/>
          <p:nvPr/>
        </p:nvSpPr>
        <p:spPr>
          <a:xfrm>
            <a:off x="11236960" y="6217920"/>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02 · PURPOSE AND OBJECTIVES</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The program defines what to fix, why, to which standard, in what order, and how each fix is verified</a:t>
            </a:r>
            <a:endParaRPr lang="en-US" sz="2600" dirty="0"/>
          </a:p>
        </p:txBody>
      </p:sp>
      <p:sp>
        <p:nvSpPr>
          <p:cNvPr id="4" name="Shape 2"/>
          <p:cNvSpPr/>
          <p:nvPr/>
        </p:nvSpPr>
        <p:spPr>
          <a:xfrm>
            <a:off x="812800" y="1988820"/>
            <a:ext cx="3429000" cy="3853180"/>
          </a:xfrm>
          <a:prstGeom prst="rect">
            <a:avLst/>
          </a:prstGeom>
          <a:solidFill>
            <a:srgbClr val="14213D"/>
          </a:solidFill>
          <a:ln/>
        </p:spPr>
      </p:sp>
      <p:sp>
        <p:nvSpPr>
          <p:cNvPr id="5" name="Text 3"/>
          <p:cNvSpPr/>
          <p:nvPr/>
        </p:nvSpPr>
        <p:spPr>
          <a:xfrm>
            <a:off x="1092200" y="2268220"/>
            <a:ext cx="295630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C7"/>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1092200" y="2990850"/>
            <a:ext cx="2956306"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8F7F3"/>
                </a:solidFill>
                <a:latin typeface="IBM Plex Sans" pitchFamily="34" charset="0"/>
                <a:ea typeface="IBM Plex Sans" pitchFamily="34" charset="-122"/>
                <a:cs typeface="IBM Plex Sans" pitchFamily="34" charset="-120"/>
              </a:rPr>
              <a:t>Assess the security of OS, containers, cloud, network, data, applications, identity, detection and blockchain, and deliver prioritized, verifiable hardening recommendations.</a:t>
            </a:r>
            <a:endParaRPr lang="en-US" sz="1500" dirty="0"/>
          </a:p>
        </p:txBody>
      </p:sp>
      <p:sp>
        <p:nvSpPr>
          <p:cNvPr id="7" name="Text 5"/>
          <p:cNvSpPr/>
          <p:nvPr/>
        </p:nvSpPr>
        <p:spPr>
          <a:xfrm>
            <a:off x="1092200" y="5100320"/>
            <a:ext cx="295630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D1C7"/>
                </a:solidFill>
                <a:latin typeface="IBM Plex Sans" pitchFamily="34" charset="0"/>
                <a:ea typeface="IBM Plex Sans" pitchFamily="34" charset="-122"/>
                <a:cs typeface="IBM Plex Sans" pitchFamily="34" charset="-120"/>
              </a:rPr>
              <a:t>We assess and recommend. Owning teams implement.</a:t>
            </a:r>
            <a:endParaRPr lang="en-US" sz="1300" dirty="0"/>
          </a:p>
        </p:txBody>
      </p:sp>
      <p:sp>
        <p:nvSpPr>
          <p:cNvPr id="8" name="Shape 6"/>
          <p:cNvSpPr/>
          <p:nvPr/>
        </p:nvSpPr>
        <p:spPr>
          <a:xfrm>
            <a:off x="4495800" y="2503805"/>
            <a:ext cx="6883400" cy="0"/>
          </a:xfrm>
          <a:prstGeom prst="line">
            <a:avLst/>
          </a:prstGeom>
          <a:noFill/>
          <a:ln w="6350">
            <a:solidFill>
              <a:srgbClr val="D9DCD6"/>
            </a:solidFill>
            <a:prstDash val="solid"/>
          </a:ln>
        </p:spPr>
      </p:sp>
      <p:sp>
        <p:nvSpPr>
          <p:cNvPr id="9" name="Text 7"/>
          <p:cNvSpPr/>
          <p:nvPr/>
        </p:nvSpPr>
        <p:spPr>
          <a:xfrm>
            <a:off x="4495800" y="198882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01</a:t>
            </a:r>
            <a:endParaRPr lang="en-US" sz="1400" dirty="0"/>
          </a:p>
        </p:txBody>
      </p:sp>
      <p:sp>
        <p:nvSpPr>
          <p:cNvPr id="10" name="Text 8"/>
          <p:cNvSpPr/>
          <p:nvPr/>
        </p:nvSpPr>
        <p:spPr>
          <a:xfrm>
            <a:off x="5003800" y="2009141"/>
            <a:ext cx="6566662"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Govern and focus.</a:t>
            </a:r>
            <a:r>
              <a:rPr lang="en-US" sz="1300" dirty="0">
                <a:solidFill>
                  <a:srgbClr val="3E4A5C"/>
                </a:solidFill>
                <a:latin typeface="IBM Plex Sans" pitchFamily="34" charset="0"/>
                <a:ea typeface="IBM Plex Sans" pitchFamily="34" charset="-122"/>
                <a:cs typeface="IBM Plex Sans" pitchFamily="34" charset="-120"/>
              </a:rPr>
              <a:t> Governance, inventory, crown jewels and 6–8 attack scenarios by week 2</a:t>
            </a:r>
            <a:endParaRPr lang="en-US" sz="1300" dirty="0"/>
          </a:p>
        </p:txBody>
      </p:sp>
      <p:sp>
        <p:nvSpPr>
          <p:cNvPr id="11" name="Shape 9"/>
          <p:cNvSpPr/>
          <p:nvPr/>
        </p:nvSpPr>
        <p:spPr>
          <a:xfrm>
            <a:off x="4495800" y="3227705"/>
            <a:ext cx="6883400" cy="0"/>
          </a:xfrm>
          <a:prstGeom prst="line">
            <a:avLst/>
          </a:prstGeom>
          <a:noFill/>
          <a:ln w="6350">
            <a:solidFill>
              <a:srgbClr val="D9DCD6"/>
            </a:solidFill>
            <a:prstDash val="solid"/>
          </a:ln>
        </p:spPr>
      </p:sp>
      <p:sp>
        <p:nvSpPr>
          <p:cNvPr id="12" name="Text 10"/>
          <p:cNvSpPr/>
          <p:nvPr/>
        </p:nvSpPr>
        <p:spPr>
          <a:xfrm>
            <a:off x="4495800" y="271272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02</a:t>
            </a:r>
            <a:endParaRPr lang="en-US" sz="1400" dirty="0"/>
          </a:p>
        </p:txBody>
      </p:sp>
      <p:sp>
        <p:nvSpPr>
          <p:cNvPr id="13" name="Text 11"/>
          <p:cNvSpPr/>
          <p:nvPr/>
        </p:nvSpPr>
        <p:spPr>
          <a:xfrm>
            <a:off x="5003800" y="2733041"/>
            <a:ext cx="6566662"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Cross-check standards.</a:t>
            </a:r>
            <a:r>
              <a:rPr lang="en-US" sz="1300" dirty="0">
                <a:solidFill>
                  <a:srgbClr val="3E4A5C"/>
                </a:solidFill>
                <a:latin typeface="IBM Plex Sans" pitchFamily="34" charset="0"/>
                <a:ea typeface="IBM Plex Sans" pitchFamily="34" charset="-122"/>
                <a:cs typeface="IBM Plex Sans" pitchFamily="34" charset="-120"/>
              </a:rPr>
              <a:t> Full-catalogue crosswalk of CSF 2.0, 800-53, ISO 27001, SOC 2, CIS, BSSC, PCI and regulation</a:t>
            </a:r>
            <a:endParaRPr lang="en-US" sz="1300" dirty="0"/>
          </a:p>
        </p:txBody>
      </p:sp>
      <p:sp>
        <p:nvSpPr>
          <p:cNvPr id="14" name="Shape 12"/>
          <p:cNvSpPr/>
          <p:nvPr/>
        </p:nvSpPr>
        <p:spPr>
          <a:xfrm>
            <a:off x="4495800" y="3750945"/>
            <a:ext cx="6883400" cy="0"/>
          </a:xfrm>
          <a:prstGeom prst="line">
            <a:avLst/>
          </a:prstGeom>
          <a:noFill/>
          <a:ln w="6350">
            <a:solidFill>
              <a:srgbClr val="D9DCD6"/>
            </a:solidFill>
            <a:prstDash val="solid"/>
          </a:ln>
        </p:spPr>
      </p:sp>
      <p:sp>
        <p:nvSpPr>
          <p:cNvPr id="15" name="Text 13"/>
          <p:cNvSpPr/>
          <p:nvPr/>
        </p:nvSpPr>
        <p:spPr>
          <a:xfrm>
            <a:off x="4495800" y="343662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03</a:t>
            </a:r>
            <a:endParaRPr lang="en-US" sz="1400" dirty="0"/>
          </a:p>
        </p:txBody>
      </p:sp>
      <p:sp>
        <p:nvSpPr>
          <p:cNvPr id="16" name="Text 14"/>
          <p:cNvSpPr/>
          <p:nvPr/>
        </p:nvSpPr>
        <p:spPr>
          <a:xfrm>
            <a:off x="5003800" y="3456941"/>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Assess.</a:t>
            </a:r>
            <a:r>
              <a:rPr lang="en-US" sz="1300" dirty="0">
                <a:solidFill>
                  <a:srgbClr val="3E4A5C"/>
                </a:solidFill>
                <a:latin typeface="IBM Plex Sans" pitchFamily="34" charset="0"/>
                <a:ea typeface="IBM Plex Sans" pitchFamily="34" charset="-122"/>
                <a:cs typeface="IBM Plex Sans" pitchFamily="34" charset="-120"/>
              </a:rPr>
              <a:t> Crown-jewel attack paths first; every test evidence-backed and run once</a:t>
            </a:r>
            <a:endParaRPr lang="en-US" sz="1300" dirty="0"/>
          </a:p>
        </p:txBody>
      </p:sp>
      <p:sp>
        <p:nvSpPr>
          <p:cNvPr id="17" name="Shape 15"/>
          <p:cNvSpPr/>
          <p:nvPr/>
        </p:nvSpPr>
        <p:spPr>
          <a:xfrm>
            <a:off x="4495800" y="4274186"/>
            <a:ext cx="6883400" cy="0"/>
          </a:xfrm>
          <a:prstGeom prst="line">
            <a:avLst/>
          </a:prstGeom>
          <a:noFill/>
          <a:ln w="6350">
            <a:solidFill>
              <a:srgbClr val="D9DCD6"/>
            </a:solidFill>
            <a:prstDash val="solid"/>
          </a:ln>
        </p:spPr>
      </p:sp>
      <p:sp>
        <p:nvSpPr>
          <p:cNvPr id="18" name="Text 16"/>
          <p:cNvSpPr/>
          <p:nvPr/>
        </p:nvSpPr>
        <p:spPr>
          <a:xfrm>
            <a:off x="4495800" y="3959861"/>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04</a:t>
            </a:r>
            <a:endParaRPr lang="en-US" sz="1400" dirty="0"/>
          </a:p>
        </p:txBody>
      </p:sp>
      <p:sp>
        <p:nvSpPr>
          <p:cNvPr id="19" name="Text 17"/>
          <p:cNvSpPr/>
          <p:nvPr/>
        </p:nvSpPr>
        <p:spPr>
          <a:xfrm>
            <a:off x="5003800" y="3980180"/>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Validate.</a:t>
            </a:r>
            <a:r>
              <a:rPr lang="en-US" sz="1300" dirty="0">
                <a:solidFill>
                  <a:srgbClr val="3E4A5C"/>
                </a:solidFill>
                <a:latin typeface="IBM Plex Sans" pitchFamily="34" charset="0"/>
                <a:ea typeface="IBM Plex Sans" pitchFamily="34" charset="-122"/>
                <a:cs typeface="IBM Plex Sans" pitchFamily="34" charset="-120"/>
              </a:rPr>
              <a:t> Rated by attack-path proximity; fact-checked with system owners</a:t>
            </a:r>
            <a:endParaRPr lang="en-US" sz="1300" dirty="0"/>
          </a:p>
        </p:txBody>
      </p:sp>
      <p:sp>
        <p:nvSpPr>
          <p:cNvPr id="20" name="Shape 18"/>
          <p:cNvSpPr/>
          <p:nvPr/>
        </p:nvSpPr>
        <p:spPr>
          <a:xfrm>
            <a:off x="4495800" y="4797425"/>
            <a:ext cx="6883400" cy="0"/>
          </a:xfrm>
          <a:prstGeom prst="line">
            <a:avLst/>
          </a:prstGeom>
          <a:noFill/>
          <a:ln w="6350">
            <a:solidFill>
              <a:srgbClr val="D9DCD6"/>
            </a:solidFill>
            <a:prstDash val="solid"/>
          </a:ln>
        </p:spPr>
      </p:sp>
      <p:sp>
        <p:nvSpPr>
          <p:cNvPr id="21" name="Text 19"/>
          <p:cNvSpPr/>
          <p:nvPr/>
        </p:nvSpPr>
        <p:spPr>
          <a:xfrm>
            <a:off x="4495800" y="448310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05</a:t>
            </a:r>
            <a:endParaRPr lang="en-US" sz="1400" dirty="0"/>
          </a:p>
        </p:txBody>
      </p:sp>
      <p:sp>
        <p:nvSpPr>
          <p:cNvPr id="22" name="Text 20"/>
          <p:cNvSpPr/>
          <p:nvPr/>
        </p:nvSpPr>
        <p:spPr>
          <a:xfrm>
            <a:off x="5003800" y="4503420"/>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Recommend.</a:t>
            </a:r>
            <a:r>
              <a:rPr lang="en-US" sz="1300" dirty="0">
                <a:solidFill>
                  <a:srgbClr val="3E4A5C"/>
                </a:solidFill>
                <a:latin typeface="IBM Plex Sans" pitchFamily="34" charset="0"/>
                <a:ea typeface="IBM Plex Sans" pitchFamily="34" charset="-122"/>
                <a:cs typeface="IBM Plex Sans" pitchFamily="34" charset="-120"/>
              </a:rPr>
              <a:t> Testable baselines with owner, effort, priority and a verification test</a:t>
            </a:r>
            <a:endParaRPr lang="en-US" sz="1300" dirty="0"/>
          </a:p>
        </p:txBody>
      </p:sp>
      <p:sp>
        <p:nvSpPr>
          <p:cNvPr id="23" name="Shape 21"/>
          <p:cNvSpPr/>
          <p:nvPr/>
        </p:nvSpPr>
        <p:spPr>
          <a:xfrm>
            <a:off x="4495800" y="5320666"/>
            <a:ext cx="6883400" cy="0"/>
          </a:xfrm>
          <a:prstGeom prst="line">
            <a:avLst/>
          </a:prstGeom>
          <a:noFill/>
          <a:ln w="6350">
            <a:solidFill>
              <a:srgbClr val="D9DCD6"/>
            </a:solidFill>
            <a:prstDash val="solid"/>
          </a:ln>
        </p:spPr>
      </p:sp>
      <p:sp>
        <p:nvSpPr>
          <p:cNvPr id="24" name="Text 22"/>
          <p:cNvSpPr/>
          <p:nvPr/>
        </p:nvSpPr>
        <p:spPr>
          <a:xfrm>
            <a:off x="4495800" y="5006341"/>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06</a:t>
            </a:r>
            <a:endParaRPr lang="en-US" sz="1400" dirty="0"/>
          </a:p>
        </p:txBody>
      </p:sp>
      <p:sp>
        <p:nvSpPr>
          <p:cNvPr id="25" name="Text 23"/>
          <p:cNvSpPr/>
          <p:nvPr/>
        </p:nvSpPr>
        <p:spPr>
          <a:xfrm>
            <a:off x="5003800" y="5026661"/>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Sequence.</a:t>
            </a:r>
            <a:r>
              <a:rPr lang="en-US" sz="1300" dirty="0">
                <a:solidFill>
                  <a:srgbClr val="3E4A5C"/>
                </a:solidFill>
                <a:latin typeface="IBM Plex Sans" pitchFamily="34" charset="0"/>
                <a:ea typeface="IBM Plex Sans" pitchFamily="34" charset="-122"/>
                <a:cs typeface="IBM Plex Sans" pitchFamily="34" charset="-120"/>
              </a:rPr>
              <a:t> Now / Next / Later roadmap and the remediation governance that follows</a:t>
            </a:r>
            <a:endParaRPr lang="en-US" sz="1300" dirty="0"/>
          </a:p>
        </p:txBody>
      </p:sp>
      <p:sp>
        <p:nvSpPr>
          <p:cNvPr id="26" name="Text 24"/>
          <p:cNvSpPr/>
          <p:nvPr/>
        </p:nvSpPr>
        <p:spPr>
          <a:xfrm>
            <a:off x="4495800" y="552958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07</a:t>
            </a:r>
            <a:endParaRPr lang="en-US" sz="1400" dirty="0"/>
          </a:p>
        </p:txBody>
      </p:sp>
      <p:sp>
        <p:nvSpPr>
          <p:cNvPr id="27" name="Text 25"/>
          <p:cNvSpPr/>
          <p:nvPr/>
        </p:nvSpPr>
        <p:spPr>
          <a:xfrm>
            <a:off x="5003800" y="5549900"/>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Hand over.</a:t>
            </a:r>
            <a:r>
              <a:rPr lang="en-US" sz="1300" dirty="0">
                <a:solidFill>
                  <a:srgbClr val="3E4A5C"/>
                </a:solidFill>
                <a:latin typeface="IBM Plex Sans" pitchFamily="34" charset="0"/>
                <a:ea typeface="IBM Plex Sans" pitchFamily="34" charset="-122"/>
                <a:cs typeface="IBM Plex Sans" pitchFamily="34" charset="-120"/>
              </a:rPr>
              <a:t> A unified findings and control register, owned by GRC</a:t>
            </a:r>
            <a:endParaRPr lang="en-US" sz="1300" dirty="0"/>
          </a:p>
        </p:txBody>
      </p:sp>
      <p:sp>
        <p:nvSpPr>
          <p:cNvPr id="28" name="Text 26"/>
          <p:cNvSpPr/>
          <p:nvPr/>
        </p:nvSpPr>
        <p:spPr>
          <a:xfrm>
            <a:off x="812800" y="6217920"/>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9" name="Text 27"/>
          <p:cNvSpPr/>
          <p:nvPr/>
        </p:nvSpPr>
        <p:spPr>
          <a:xfrm>
            <a:off x="11236960" y="6217920"/>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03 · SCOPE</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Scope covers every AWS account, both identity planes and every on-chain application</a:t>
            </a:r>
            <a:endParaRPr lang="en-US" sz="2600" dirty="0"/>
          </a:p>
        </p:txBody>
      </p:sp>
      <p:sp>
        <p:nvSpPr>
          <p:cNvPr id="4" name="Shape 2"/>
          <p:cNvSpPr/>
          <p:nvPr/>
        </p:nvSpPr>
        <p:spPr>
          <a:xfrm>
            <a:off x="815975" y="1991995"/>
            <a:ext cx="2520950" cy="2752090"/>
          </a:xfrm>
          <a:prstGeom prst="rect">
            <a:avLst/>
          </a:prstGeom>
          <a:solidFill>
            <a:srgbClr val="FDFDFB"/>
          </a:solidFill>
          <a:ln w="6350">
            <a:solidFill>
              <a:srgbClr val="D9DCD6"/>
            </a:solidFill>
            <a:prstDash val="solid"/>
          </a:ln>
        </p:spPr>
      </p:sp>
      <p:sp>
        <p:nvSpPr>
          <p:cNvPr id="5" name="Text 3"/>
          <p:cNvSpPr/>
          <p:nvPr/>
        </p:nvSpPr>
        <p:spPr>
          <a:xfrm>
            <a:off x="982980" y="2133600"/>
            <a:ext cx="2252548" cy="232648"/>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4213D"/>
                </a:solidFill>
                <a:latin typeface="IBM Plex Sans" pitchFamily="34" charset="0"/>
                <a:ea typeface="IBM Plex Sans" pitchFamily="34" charset="-122"/>
                <a:cs typeface="IBM Plex Sans" pitchFamily="34" charset="-120"/>
              </a:rPr>
              <a:t>Cloud and platform</a:t>
            </a:r>
            <a:endParaRPr lang="en-US" sz="1396" dirty="0"/>
          </a:p>
        </p:txBody>
      </p:sp>
      <p:sp>
        <p:nvSpPr>
          <p:cNvPr id="6" name="Text 4"/>
          <p:cNvSpPr/>
          <p:nvPr/>
        </p:nvSpPr>
        <p:spPr>
          <a:xfrm>
            <a:off x="1081957" y="2404348"/>
            <a:ext cx="2145951" cy="2223532"/>
          </a:xfrm>
          <a:prstGeom prst="rect">
            <a:avLst/>
          </a:prstGeom>
          <a:noFill/>
          <a:ln/>
        </p:spPr>
        <p:txBody>
          <a:bodyPr wrap="square" lIns="0" tIns="0" rIns="0" bIns="0" rtlCol="0" anchor="t">
            <a:normAutofit/>
          </a:bodyPr>
          <a:lstStyle/>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Organizations, Control Tower</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EC2 on Amazon Linux 2023, EKS, ECR</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VPC, TGW, Firewall, WAF</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S3, EBS, EFS, Aurora, OpenSearch</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KMS, Secrets Manager, Backup</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CloudTrail, GuardDuty, Splunk</a:t>
            </a:r>
            <a:endParaRPr lang="en-US" sz="1177" dirty="0"/>
          </a:p>
        </p:txBody>
      </p:sp>
      <p:sp>
        <p:nvSpPr>
          <p:cNvPr id="7" name="Shape 5"/>
          <p:cNvSpPr/>
          <p:nvPr/>
        </p:nvSpPr>
        <p:spPr>
          <a:xfrm>
            <a:off x="3495675" y="1991995"/>
            <a:ext cx="2520950" cy="2752090"/>
          </a:xfrm>
          <a:prstGeom prst="rect">
            <a:avLst/>
          </a:prstGeom>
          <a:solidFill>
            <a:srgbClr val="FDFDFB"/>
          </a:solidFill>
          <a:ln w="6350">
            <a:solidFill>
              <a:srgbClr val="D9DCD6"/>
            </a:solidFill>
            <a:prstDash val="solid"/>
          </a:ln>
        </p:spPr>
      </p:sp>
      <p:sp>
        <p:nvSpPr>
          <p:cNvPr id="8" name="Text 6"/>
          <p:cNvSpPr/>
          <p:nvPr/>
        </p:nvSpPr>
        <p:spPr>
          <a:xfrm>
            <a:off x="3662680" y="2133600"/>
            <a:ext cx="22525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Identity</a:t>
            </a:r>
            <a:endParaRPr lang="en-US" sz="1400" dirty="0"/>
          </a:p>
        </p:txBody>
      </p:sp>
      <p:sp>
        <p:nvSpPr>
          <p:cNvPr id="9" name="Text 7"/>
          <p:cNvSpPr/>
          <p:nvPr/>
        </p:nvSpPr>
        <p:spPr>
          <a:xfrm>
            <a:off x="3761486" y="2410461"/>
            <a:ext cx="2146122"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Entra ID (workforce)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Azure AD B2C (customers)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IAM Identity Center and IAM</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Workload identity: IRSA, Pod Identity, CI OIDC</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Privileged engineer workstations</a:t>
            </a:r>
            <a:endParaRPr lang="en-US" sz="1200" dirty="0"/>
          </a:p>
        </p:txBody>
      </p:sp>
      <p:sp>
        <p:nvSpPr>
          <p:cNvPr id="10" name="Shape 8"/>
          <p:cNvSpPr/>
          <p:nvPr/>
        </p:nvSpPr>
        <p:spPr>
          <a:xfrm>
            <a:off x="6175375" y="1991995"/>
            <a:ext cx="2520950" cy="2752090"/>
          </a:xfrm>
          <a:prstGeom prst="rect">
            <a:avLst/>
          </a:prstGeom>
          <a:solidFill>
            <a:srgbClr val="FDFDFB"/>
          </a:solidFill>
          <a:ln w="6350">
            <a:solidFill>
              <a:srgbClr val="D9DCD6"/>
            </a:solidFill>
            <a:prstDash val="solid"/>
          </a:ln>
        </p:spPr>
      </p:sp>
      <p:sp>
        <p:nvSpPr>
          <p:cNvPr id="11" name="Text 9"/>
          <p:cNvSpPr/>
          <p:nvPr/>
        </p:nvSpPr>
        <p:spPr>
          <a:xfrm>
            <a:off x="6342380" y="2133600"/>
            <a:ext cx="22525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Apps and DevSecOps</a:t>
            </a:r>
            <a:endParaRPr lang="en-US" sz="1400" dirty="0"/>
          </a:p>
        </p:txBody>
      </p:sp>
      <p:sp>
        <p:nvSpPr>
          <p:cNvPr id="12" name="Text 10"/>
          <p:cNvSpPr/>
          <p:nvPr/>
        </p:nvSpPr>
        <p:spPr>
          <a:xfrm>
            <a:off x="6441186" y="2410461"/>
            <a:ext cx="2146122"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1 web apps and APIs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B2C login-to-withdrawal path</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CI/CD, IaC and deploy paths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dApp front end, DNS and registrar</a:t>
            </a:r>
            <a:endParaRPr lang="en-US" sz="1200" dirty="0"/>
          </a:p>
        </p:txBody>
      </p:sp>
      <p:sp>
        <p:nvSpPr>
          <p:cNvPr id="13" name="Shape 11"/>
          <p:cNvSpPr/>
          <p:nvPr/>
        </p:nvSpPr>
        <p:spPr>
          <a:xfrm>
            <a:off x="8855075" y="1991995"/>
            <a:ext cx="2520950" cy="2752090"/>
          </a:xfrm>
          <a:prstGeom prst="rect">
            <a:avLst/>
          </a:prstGeom>
          <a:solidFill>
            <a:srgbClr val="FDFDFB"/>
          </a:solidFill>
          <a:ln w="6350">
            <a:solidFill>
              <a:srgbClr val="D9DCD6"/>
            </a:solidFill>
            <a:prstDash val="solid"/>
          </a:ln>
        </p:spPr>
      </p:sp>
      <p:sp>
        <p:nvSpPr>
          <p:cNvPr id="14" name="Text 12"/>
          <p:cNvSpPr/>
          <p:nvPr/>
        </p:nvSpPr>
        <p:spPr>
          <a:xfrm>
            <a:off x="9022080" y="2133600"/>
            <a:ext cx="22525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Blockchain</a:t>
            </a:r>
            <a:endParaRPr lang="en-US" sz="1400" dirty="0"/>
          </a:p>
        </p:txBody>
      </p:sp>
      <p:sp>
        <p:nvSpPr>
          <p:cNvPr id="15" name="Text 13"/>
          <p:cNvSpPr/>
          <p:nvPr/>
        </p:nvSpPr>
        <p:spPr>
          <a:xfrm>
            <a:off x="9120886" y="2410461"/>
            <a:ext cx="2146122"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Solidity on Ethereum and Base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Solana programs (Rust)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Daml on Canton Network</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Vault signing, multisigs, signer devices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Alchemy and Blockdaemon nodes, oracles</a:t>
            </a:r>
            <a:endParaRPr lang="en-US" sz="1200" dirty="0"/>
          </a:p>
        </p:txBody>
      </p:sp>
      <p:sp>
        <p:nvSpPr>
          <p:cNvPr id="16" name="Shape 14"/>
          <p:cNvSpPr/>
          <p:nvPr/>
        </p:nvSpPr>
        <p:spPr>
          <a:xfrm>
            <a:off x="812800" y="4925061"/>
            <a:ext cx="5207000" cy="916940"/>
          </a:xfrm>
          <a:prstGeom prst="rect">
            <a:avLst/>
          </a:prstGeom>
          <a:solidFill>
            <a:srgbClr val="E6F2F0"/>
          </a:solidFill>
          <a:ln/>
        </p:spPr>
      </p:sp>
      <p:sp>
        <p:nvSpPr>
          <p:cNvPr id="17" name="Text 15"/>
          <p:cNvSpPr/>
          <p:nvPr/>
        </p:nvSpPr>
        <p:spPr>
          <a:xfrm>
            <a:off x="10033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Third parties in scope</a:t>
            </a:r>
            <a:endParaRPr lang="en-US" sz="1200" dirty="0"/>
          </a:p>
        </p:txBody>
      </p:sp>
      <p:sp>
        <p:nvSpPr>
          <p:cNvPr id="18" name="Text 16"/>
          <p:cNvSpPr/>
          <p:nvPr/>
        </p:nvSpPr>
        <p:spPr>
          <a:xfrm>
            <a:off x="1003300" y="5303520"/>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BM Plex Sans" pitchFamily="34" charset="0"/>
                <a:ea typeface="IBM Plex Sans" pitchFamily="34" charset="-122"/>
                <a:cs typeface="IBM Plex Sans" pitchFamily="34" charset="-120"/>
              </a:rPr>
              <a:t>AWS, Microsoft, Alchemy, Blockdaemon, CrowdStrike, Splunk, HashiCorp, the CI/CD platform, oracle and bridge providers</a:t>
            </a:r>
            <a:endParaRPr lang="en-US" sz="1200" dirty="0"/>
          </a:p>
        </p:txBody>
      </p:sp>
      <p:sp>
        <p:nvSpPr>
          <p:cNvPr id="19" name="Shape 17"/>
          <p:cNvSpPr/>
          <p:nvPr/>
        </p:nvSpPr>
        <p:spPr>
          <a:xfrm>
            <a:off x="6172200" y="4925061"/>
            <a:ext cx="5207000" cy="916940"/>
          </a:xfrm>
          <a:prstGeom prst="rect">
            <a:avLst/>
          </a:prstGeom>
          <a:solidFill>
            <a:srgbClr val="ECEDEA"/>
          </a:solidFill>
          <a:ln/>
        </p:spPr>
      </p:sp>
      <p:sp>
        <p:nvSpPr>
          <p:cNvPr id="20" name="Text 18"/>
          <p:cNvSpPr/>
          <p:nvPr/>
        </p:nvSpPr>
        <p:spPr>
          <a:xfrm>
            <a:off x="63627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Out of scope</a:t>
            </a:r>
            <a:endParaRPr lang="en-US" sz="1200" dirty="0"/>
          </a:p>
        </p:txBody>
      </p:sp>
      <p:sp>
        <p:nvSpPr>
          <p:cNvPr id="21" name="Text 19"/>
          <p:cNvSpPr/>
          <p:nvPr/>
        </p:nvSpPr>
        <p:spPr>
          <a:xfrm>
            <a:off x="6362700" y="5303520"/>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Implementing fixes, other end-user devices, unrelated SaaS, physical security, chains we don’t deploy to</a:t>
            </a:r>
            <a:endParaRPr lang="en-US" sz="1200" dirty="0"/>
          </a:p>
        </p:txBody>
      </p:sp>
      <p:sp>
        <p:nvSpPr>
          <p:cNvPr id="22" name="Text 20"/>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3" name="Text 21"/>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04 · WORKSTREAMS AND PROGRAM STRUCTURE</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Five workstreams: WS1 sets one method and stitches every finding into one roadmap</a:t>
            </a:r>
            <a:endParaRPr lang="en-US" sz="2600" dirty="0"/>
          </a:p>
        </p:txBody>
      </p:sp>
      <p:sp>
        <p:nvSpPr>
          <p:cNvPr id="4" name="Shape 2"/>
          <p:cNvSpPr/>
          <p:nvPr/>
        </p:nvSpPr>
        <p:spPr>
          <a:xfrm>
            <a:off x="812800" y="1988821"/>
            <a:ext cx="10566400" cy="818356"/>
          </a:xfrm>
          <a:prstGeom prst="rect">
            <a:avLst/>
          </a:prstGeom>
          <a:solidFill>
            <a:srgbClr val="1F7A6E"/>
          </a:solidFill>
          <a:ln/>
        </p:spPr>
      </p:sp>
      <p:sp>
        <p:nvSpPr>
          <p:cNvPr id="5" name="Text 3"/>
          <p:cNvSpPr/>
          <p:nvPr/>
        </p:nvSpPr>
        <p:spPr>
          <a:xfrm>
            <a:off x="1041400" y="2131299"/>
            <a:ext cx="274701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8F7F3"/>
                </a:solidFill>
                <a:latin typeface="IBM Plex Sans" pitchFamily="34" charset="0"/>
                <a:ea typeface="IBM Plex Sans" pitchFamily="34" charset="-122"/>
                <a:cs typeface="IBM Plex Sans" pitchFamily="34" charset="-120"/>
              </a:rPr>
              <a:t>WS1 · Governance, scope and architecture</a:t>
            </a:r>
            <a:endParaRPr lang="en-US" sz="1500" dirty="0"/>
          </a:p>
        </p:txBody>
      </p:sp>
      <p:sp>
        <p:nvSpPr>
          <p:cNvPr id="6" name="Text 4"/>
          <p:cNvSpPr/>
          <p:nvPr/>
        </p:nvSpPr>
        <p:spPr>
          <a:xfrm>
            <a:off x="3962400" y="2184639"/>
            <a:ext cx="740384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Governance and gates · crown jewels and attack scenarios · architecture · standards crosswalk · rating model · IR and resilience</a:t>
            </a:r>
            <a:endParaRPr lang="en-US" sz="1200" dirty="0"/>
          </a:p>
        </p:txBody>
      </p:sp>
      <p:sp>
        <p:nvSpPr>
          <p:cNvPr id="7" name="Shape 5"/>
          <p:cNvSpPr/>
          <p:nvPr/>
        </p:nvSpPr>
        <p:spPr>
          <a:xfrm>
            <a:off x="815975" y="2886552"/>
            <a:ext cx="2549525" cy="1375331"/>
          </a:xfrm>
          <a:prstGeom prst="rect">
            <a:avLst/>
          </a:prstGeom>
          <a:solidFill>
            <a:srgbClr val="FDFDFB"/>
          </a:solidFill>
          <a:ln w="6350">
            <a:solidFill>
              <a:srgbClr val="D9DCD6"/>
            </a:solidFill>
            <a:prstDash val="solid"/>
          </a:ln>
        </p:spPr>
      </p:sp>
      <p:sp>
        <p:nvSpPr>
          <p:cNvPr id="8" name="Text 6"/>
          <p:cNvSpPr/>
          <p:nvPr/>
        </p:nvSpPr>
        <p:spPr>
          <a:xfrm>
            <a:off x="982980"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WS2</a:t>
            </a:r>
            <a:endParaRPr lang="en-US" sz="1159" dirty="0"/>
          </a:p>
        </p:txBody>
      </p:sp>
      <p:sp>
        <p:nvSpPr>
          <p:cNvPr id="9" name="Text 7"/>
          <p:cNvSpPr/>
          <p:nvPr/>
        </p:nvSpPr>
        <p:spPr>
          <a:xfrm>
            <a:off x="982980"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OS and containers</a:t>
            </a:r>
            <a:endParaRPr lang="en-US" sz="1352" dirty="0"/>
          </a:p>
        </p:txBody>
      </p:sp>
      <p:sp>
        <p:nvSpPr>
          <p:cNvPr id="10" name="Text 8"/>
          <p:cNvSpPr/>
          <p:nvPr/>
        </p:nvSpPr>
        <p:spPr>
          <a:xfrm>
            <a:off x="982980" y="3534649"/>
            <a:ext cx="2281980" cy="611029"/>
          </a:xfrm>
          <a:prstGeom prst="rect">
            <a:avLst/>
          </a:prstGeom>
          <a:noFill/>
          <a:ln/>
        </p:spPr>
        <p:txBody>
          <a:bodyPr wrap="square" lIns="0" tIns="0" rIns="0" bIns="0" rtlCol="0" anchor="t">
            <a:normAutofit/>
          </a:bodyPr>
          <a:lstStyle/>
          <a:p>
            <a:pPr algn="l" indent="0" marL="0">
              <a:lnSpc>
                <a:spcPts val="1539"/>
              </a:lnSpc>
              <a:buNone/>
            </a:pPr>
            <a:r>
              <a:rPr lang="en-US" sz="1140" dirty="0">
                <a:solidFill>
                  <a:srgbClr val="3E4A5C"/>
                </a:solidFill>
                <a:latin typeface="IBM Plex Sans" pitchFamily="34" charset="0"/>
                <a:ea typeface="IBM Plex Sans" pitchFamily="34" charset="-122"/>
                <a:cs typeface="IBM Plex Sans" pitchFamily="34" charset="-120"/>
              </a:rPr>
              <a:t>Amazon Linux 2023 fleet, EKS, images, Vault hosts, runtime detection</a:t>
            </a:r>
            <a:endParaRPr lang="en-US" sz="1140" dirty="0"/>
          </a:p>
        </p:txBody>
      </p:sp>
      <p:sp>
        <p:nvSpPr>
          <p:cNvPr id="11" name="Shape 9"/>
          <p:cNvSpPr/>
          <p:nvPr/>
        </p:nvSpPr>
        <p:spPr>
          <a:xfrm>
            <a:off x="3486150" y="2886552"/>
            <a:ext cx="2549525" cy="1375331"/>
          </a:xfrm>
          <a:prstGeom prst="rect">
            <a:avLst/>
          </a:prstGeom>
          <a:solidFill>
            <a:srgbClr val="FDFDFB"/>
          </a:solidFill>
          <a:ln w="6350">
            <a:solidFill>
              <a:srgbClr val="D9DCD6"/>
            </a:solidFill>
            <a:prstDash val="solid"/>
          </a:ln>
        </p:spPr>
      </p:sp>
      <p:sp>
        <p:nvSpPr>
          <p:cNvPr id="12" name="Text 10"/>
          <p:cNvSpPr/>
          <p:nvPr/>
        </p:nvSpPr>
        <p:spPr>
          <a:xfrm>
            <a:off x="3653155"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WS3</a:t>
            </a:r>
            <a:endParaRPr lang="en-US" sz="1159" dirty="0"/>
          </a:p>
        </p:txBody>
      </p:sp>
      <p:sp>
        <p:nvSpPr>
          <p:cNvPr id="13" name="Text 11"/>
          <p:cNvSpPr/>
          <p:nvPr/>
        </p:nvSpPr>
        <p:spPr>
          <a:xfrm>
            <a:off x="3653155"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Identity and access</a:t>
            </a:r>
            <a:endParaRPr lang="en-US" sz="1352" dirty="0"/>
          </a:p>
        </p:txBody>
      </p:sp>
      <p:sp>
        <p:nvSpPr>
          <p:cNvPr id="14" name="Text 12"/>
          <p:cNvSpPr/>
          <p:nvPr/>
        </p:nvSpPr>
        <p:spPr>
          <a:xfrm>
            <a:off x="3653155" y="3534649"/>
            <a:ext cx="2281980" cy="611029"/>
          </a:xfrm>
          <a:prstGeom prst="rect">
            <a:avLst/>
          </a:prstGeom>
          <a:noFill/>
          <a:ln/>
        </p:spPr>
        <p:txBody>
          <a:bodyPr wrap="square" lIns="0" tIns="0" rIns="0" bIns="0" rtlCol="0" anchor="t">
            <a:normAutofit/>
          </a:bodyPr>
          <a:lstStyle/>
          <a:p>
            <a:pPr algn="l" indent="0" marL="0">
              <a:lnSpc>
                <a:spcPts val="1569"/>
              </a:lnSpc>
              <a:buNone/>
            </a:pPr>
            <a:r>
              <a:rPr lang="en-US" sz="1163" dirty="0">
                <a:solidFill>
                  <a:srgbClr val="3E4A5C"/>
                </a:solidFill>
                <a:latin typeface="IBM Plex Sans" pitchFamily="34" charset="0"/>
                <a:ea typeface="IBM Plex Sans" pitchFamily="34" charset="-122"/>
                <a:cs typeface="IBM Plex Sans" pitchFamily="34" charset="-120"/>
              </a:rPr>
              <a:t>Entra ID, B2C, Identity Center, IAM, workload identity, telemetry</a:t>
            </a:r>
            <a:endParaRPr lang="en-US" sz="1163" dirty="0"/>
          </a:p>
        </p:txBody>
      </p:sp>
      <p:sp>
        <p:nvSpPr>
          <p:cNvPr id="15" name="Shape 13"/>
          <p:cNvSpPr/>
          <p:nvPr/>
        </p:nvSpPr>
        <p:spPr>
          <a:xfrm>
            <a:off x="6156325" y="2886552"/>
            <a:ext cx="2549525" cy="1375331"/>
          </a:xfrm>
          <a:prstGeom prst="rect">
            <a:avLst/>
          </a:prstGeom>
          <a:solidFill>
            <a:srgbClr val="FDFDFB"/>
          </a:solidFill>
          <a:ln w="6350">
            <a:solidFill>
              <a:srgbClr val="D9DCD6"/>
            </a:solidFill>
            <a:prstDash val="solid"/>
          </a:ln>
        </p:spPr>
      </p:sp>
      <p:sp>
        <p:nvSpPr>
          <p:cNvPr id="16" name="Text 14"/>
          <p:cNvSpPr/>
          <p:nvPr/>
        </p:nvSpPr>
        <p:spPr>
          <a:xfrm>
            <a:off x="6323330"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WS4</a:t>
            </a:r>
            <a:endParaRPr lang="en-US" sz="1159" dirty="0"/>
          </a:p>
        </p:txBody>
      </p:sp>
      <p:sp>
        <p:nvSpPr>
          <p:cNvPr id="17" name="Text 15"/>
          <p:cNvSpPr/>
          <p:nvPr/>
        </p:nvSpPr>
        <p:spPr>
          <a:xfrm>
            <a:off x="6323330"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Cloud, AppSec, SDLC</a:t>
            </a:r>
            <a:endParaRPr lang="en-US" sz="1352" dirty="0"/>
          </a:p>
        </p:txBody>
      </p:sp>
      <p:sp>
        <p:nvSpPr>
          <p:cNvPr id="18" name="Text 16"/>
          <p:cNvSpPr/>
          <p:nvPr/>
        </p:nvSpPr>
        <p:spPr>
          <a:xfrm>
            <a:off x="6323330" y="3534649"/>
            <a:ext cx="2281980" cy="611029"/>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3E4A5C"/>
                </a:solidFill>
                <a:latin typeface="IBM Plex Sans" pitchFamily="34" charset="0"/>
                <a:ea typeface="IBM Plex Sans" pitchFamily="34" charset="-122"/>
                <a:cs typeface="IBM Plex Sans" pitchFamily="34" charset="-120"/>
              </a:rPr>
              <a:t>Guardrails, network, data, logging and SIEM, apps, supply chain</a:t>
            </a:r>
            <a:endParaRPr lang="en-US" sz="1155" dirty="0"/>
          </a:p>
        </p:txBody>
      </p:sp>
      <p:sp>
        <p:nvSpPr>
          <p:cNvPr id="19" name="Shape 17"/>
          <p:cNvSpPr/>
          <p:nvPr/>
        </p:nvSpPr>
        <p:spPr>
          <a:xfrm>
            <a:off x="8826500" y="2886552"/>
            <a:ext cx="2549525" cy="1375331"/>
          </a:xfrm>
          <a:prstGeom prst="rect">
            <a:avLst/>
          </a:prstGeom>
          <a:solidFill>
            <a:srgbClr val="FDFDFB"/>
          </a:solidFill>
          <a:ln w="6350">
            <a:solidFill>
              <a:srgbClr val="D9DCD6"/>
            </a:solidFill>
            <a:prstDash val="solid"/>
          </a:ln>
        </p:spPr>
      </p:sp>
      <p:sp>
        <p:nvSpPr>
          <p:cNvPr id="20" name="Text 18"/>
          <p:cNvSpPr/>
          <p:nvPr/>
        </p:nvSpPr>
        <p:spPr>
          <a:xfrm>
            <a:off x="8993505"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WS5</a:t>
            </a:r>
            <a:endParaRPr lang="en-US" sz="1159" dirty="0"/>
          </a:p>
        </p:txBody>
      </p:sp>
      <p:sp>
        <p:nvSpPr>
          <p:cNvPr id="21" name="Text 19"/>
          <p:cNvSpPr/>
          <p:nvPr/>
        </p:nvSpPr>
        <p:spPr>
          <a:xfrm>
            <a:off x="8993505"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Blockchain</a:t>
            </a:r>
            <a:endParaRPr lang="en-US" sz="1352" dirty="0"/>
          </a:p>
        </p:txBody>
      </p:sp>
      <p:sp>
        <p:nvSpPr>
          <p:cNvPr id="22" name="Text 20"/>
          <p:cNvSpPr/>
          <p:nvPr/>
        </p:nvSpPr>
        <p:spPr>
          <a:xfrm>
            <a:off x="8993505" y="3534649"/>
            <a:ext cx="2281980" cy="611029"/>
          </a:xfrm>
          <a:prstGeom prst="rect">
            <a:avLst/>
          </a:prstGeom>
          <a:noFill/>
          <a:ln/>
        </p:spPr>
        <p:txBody>
          <a:bodyPr wrap="square" lIns="0" tIns="0" rIns="0" bIns="0" rtlCol="0" anchor="t">
            <a:normAutofit/>
          </a:bodyPr>
          <a:lstStyle/>
          <a:p>
            <a:pPr algn="l" indent="0" marL="0">
              <a:lnSpc>
                <a:spcPts val="1539"/>
              </a:lnSpc>
              <a:buNone/>
            </a:pPr>
            <a:r>
              <a:rPr lang="en-US" sz="1140" dirty="0">
                <a:solidFill>
                  <a:srgbClr val="3E4A5C"/>
                </a:solidFill>
                <a:latin typeface="IBM Plex Sans" pitchFamily="34" charset="0"/>
                <a:ea typeface="IBM Plex Sans" pitchFamily="34" charset="-122"/>
                <a:cs typeface="IBM Plex Sans" pitchFamily="34" charset="-120"/>
              </a:rPr>
              <a:t>Contracts, admin keys, signing, Vault custody, on-chain monitoring</a:t>
            </a:r>
            <a:endParaRPr lang="en-US" sz="1140" dirty="0"/>
          </a:p>
        </p:txBody>
      </p:sp>
      <p:sp>
        <p:nvSpPr>
          <p:cNvPr id="23" name="Text 21"/>
          <p:cNvSpPr/>
          <p:nvPr/>
        </p:nvSpPr>
        <p:spPr>
          <a:xfrm>
            <a:off x="812800" y="4341257"/>
            <a:ext cx="10883392" cy="223441"/>
          </a:xfrm>
          <a:prstGeom prst="rect">
            <a:avLst/>
          </a:prstGeom>
          <a:noFill/>
          <a:ln/>
        </p:spPr>
        <p:txBody>
          <a:bodyPr wrap="square" lIns="0" tIns="0" rIns="0" bIns="0" rtlCol="0" anchor="t">
            <a:normAutofit/>
          </a:bodyPr>
          <a:lstStyle/>
          <a:p>
            <a:pPr algn="l" indent="0" marL="0">
              <a:lnSpc>
                <a:spcPts val="1574"/>
              </a:lnSpc>
              <a:buNone/>
            </a:pPr>
            <a:r>
              <a:rPr lang="en-US" sz="1166" b="1" dirty="0">
                <a:solidFill>
                  <a:srgbClr val="1F7A6E"/>
                </a:solidFill>
                <a:latin typeface="IBM Plex Sans" pitchFamily="34" charset="0"/>
                <a:ea typeface="IBM Plex Sans" pitchFamily="34" charset="-122"/>
                <a:cs typeface="IBM Plex Sans" pitchFamily="34" charset="-120"/>
              </a:rPr>
              <a:t>Each layer workstream delivers an assessment report, a target baseline and recommendations in one format</a:t>
            </a:r>
            <a:endParaRPr lang="en-US" sz="1166" dirty="0"/>
          </a:p>
        </p:txBody>
      </p:sp>
      <p:sp>
        <p:nvSpPr>
          <p:cNvPr id="24" name="Shape 22"/>
          <p:cNvSpPr/>
          <p:nvPr/>
        </p:nvSpPr>
        <p:spPr>
          <a:xfrm>
            <a:off x="819150" y="4621848"/>
            <a:ext cx="5213350" cy="708660"/>
          </a:xfrm>
          <a:prstGeom prst="rect">
            <a:avLst/>
          </a:prstGeom>
          <a:solidFill>
            <a:srgbClr val="FDFDFB"/>
          </a:solidFill>
          <a:ln w="12700">
            <a:solidFill>
              <a:srgbClr val="14213D"/>
            </a:solidFill>
            <a:prstDash val="solid"/>
          </a:ln>
        </p:spPr>
      </p:sp>
      <p:sp>
        <p:nvSpPr>
          <p:cNvPr id="25" name="Text 23"/>
          <p:cNvSpPr/>
          <p:nvPr/>
        </p:nvSpPr>
        <p:spPr>
          <a:xfrm>
            <a:off x="1000760" y="4752659"/>
            <a:ext cx="4995634" cy="241776"/>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14213D"/>
                </a:solidFill>
                <a:latin typeface="IBM Plex Sans" pitchFamily="34" charset="0"/>
                <a:ea typeface="IBM Plex Sans" pitchFamily="34" charset="-122"/>
                <a:cs typeface="IBM Plex Sans" pitchFamily="34" charset="-120"/>
              </a:rPr>
              <a:t>Unified findings and control register</a:t>
            </a:r>
            <a:endParaRPr lang="en-US" sz="1231" dirty="0"/>
          </a:p>
        </p:txBody>
      </p:sp>
      <p:sp>
        <p:nvSpPr>
          <p:cNvPr id="26" name="Text 24"/>
          <p:cNvSpPr/>
          <p:nvPr/>
        </p:nvSpPr>
        <p:spPr>
          <a:xfrm>
            <a:off x="1000760" y="5007133"/>
            <a:ext cx="4995634" cy="217964"/>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3E4A5C"/>
                </a:solidFill>
                <a:latin typeface="IBM Plex Sans" pitchFamily="34" charset="0"/>
                <a:ea typeface="IBM Plex Sans" pitchFamily="34" charset="-122"/>
                <a:cs typeface="IBM Plex Sans" pitchFamily="34" charset="-120"/>
              </a:rPr>
              <a:t>De-duplicated, root-caused, traced to every standard</a:t>
            </a:r>
            <a:endParaRPr lang="en-US" sz="1129" dirty="0"/>
          </a:p>
        </p:txBody>
      </p:sp>
      <p:sp>
        <p:nvSpPr>
          <p:cNvPr id="27" name="Shape 25"/>
          <p:cNvSpPr/>
          <p:nvPr/>
        </p:nvSpPr>
        <p:spPr>
          <a:xfrm>
            <a:off x="6159500" y="4621848"/>
            <a:ext cx="5213350" cy="708660"/>
          </a:xfrm>
          <a:prstGeom prst="rect">
            <a:avLst/>
          </a:prstGeom>
          <a:solidFill>
            <a:srgbClr val="FDFDFB"/>
          </a:solidFill>
          <a:ln w="12700">
            <a:solidFill>
              <a:srgbClr val="14213D"/>
            </a:solidFill>
            <a:prstDash val="solid"/>
          </a:ln>
        </p:spPr>
      </p:sp>
      <p:sp>
        <p:nvSpPr>
          <p:cNvPr id="28" name="Text 26"/>
          <p:cNvSpPr/>
          <p:nvPr/>
        </p:nvSpPr>
        <p:spPr>
          <a:xfrm>
            <a:off x="6341110" y="4752659"/>
            <a:ext cx="4995634" cy="241776"/>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14213D"/>
                </a:solidFill>
                <a:latin typeface="IBM Plex Sans" pitchFamily="34" charset="0"/>
                <a:ea typeface="IBM Plex Sans" pitchFamily="34" charset="-122"/>
                <a:cs typeface="IBM Plex Sans" pitchFamily="34" charset="-120"/>
              </a:rPr>
              <a:t>Recommendations and roadmap</a:t>
            </a:r>
            <a:endParaRPr lang="en-US" sz="1231" dirty="0"/>
          </a:p>
        </p:txBody>
      </p:sp>
      <p:sp>
        <p:nvSpPr>
          <p:cNvPr id="29" name="Text 27"/>
          <p:cNvSpPr/>
          <p:nvPr/>
        </p:nvSpPr>
        <p:spPr>
          <a:xfrm>
            <a:off x="6341110" y="5007133"/>
            <a:ext cx="4995634" cy="217964"/>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3E4A5C"/>
                </a:solidFill>
                <a:latin typeface="IBM Plex Sans" pitchFamily="34" charset="0"/>
                <a:ea typeface="IBM Plex Sans" pitchFamily="34" charset="-122"/>
                <a:cs typeface="IBM Plex Sans" pitchFamily="34" charset="-120"/>
              </a:rPr>
              <a:t>Target baselines; Now / Next / Later with owners and effort</a:t>
            </a:r>
            <a:endParaRPr lang="en-US" sz="1129" dirty="0"/>
          </a:p>
        </p:txBody>
      </p:sp>
      <p:sp>
        <p:nvSpPr>
          <p:cNvPr id="30" name="Text 28"/>
          <p:cNvSpPr/>
          <p:nvPr/>
        </p:nvSpPr>
        <p:spPr>
          <a:xfrm>
            <a:off x="819150" y="5419409"/>
            <a:ext cx="10553700" cy="416243"/>
          </a:xfrm>
          <a:prstGeom prst="rect">
            <a:avLst/>
          </a:prstGeom>
          <a:noFill/>
          <a:ln w="12700">
            <a:solidFill>
              <a:srgbClr val="8A93A3"/>
            </a:solidFill>
            <a:prstDash val="dash"/>
          </a:ln>
        </p:spPr>
        <p:txBody>
          <a:bodyPr wrap="square" lIns="181610" tIns="88741" rIns="181610" bIns="88741" rtlCol="0" anchor="ctr">
            <a:normAutofit/>
          </a:bodyPr>
          <a:lstStyle/>
          <a:p>
            <a:pPr algn="l"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Outside the program:</a:t>
            </a:r>
            <a:r>
              <a:rPr lang="en-US" sz="1200" dirty="0">
                <a:solidFill>
                  <a:srgbClr val="3E4A5C"/>
                </a:solidFill>
                <a:latin typeface="IBM Plex Sans" pitchFamily="34" charset="0"/>
                <a:ea typeface="IBM Plex Sans" pitchFamily="34" charset="-122"/>
                <a:cs typeface="IBM Plex Sans" pitchFamily="34" charset="-120"/>
              </a:rPr>
              <a:t> owning teams implement; a CISO-chaired remediation forum tracks progress after handover</a:t>
            </a:r>
            <a:endParaRPr lang="en-US" sz="1200" dirty="0"/>
          </a:p>
        </p:txBody>
      </p:sp>
      <p:sp>
        <p:nvSpPr>
          <p:cNvPr id="31" name="Text 29"/>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2" name="Text 30"/>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1 OF 5 · GOVERNANCE, SCOPE AND ARCHITECTURE</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WS1 gives the program one method, one crosswalk and one roadmap, starting from the crown jewels</a:t>
            </a:r>
            <a:endParaRPr lang="en-US" sz="2600" dirty="0"/>
          </a:p>
        </p:txBody>
      </p:sp>
      <p:sp>
        <p:nvSpPr>
          <p:cNvPr id="4" name="Shape 2"/>
          <p:cNvSpPr/>
          <p:nvPr/>
        </p:nvSpPr>
        <p:spPr>
          <a:xfrm>
            <a:off x="815975" y="1991996"/>
            <a:ext cx="3414157" cy="275209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FOCUS AREAS</a:t>
            </a:r>
            <a:endParaRPr lang="en-US" sz="1200" dirty="0"/>
          </a:p>
        </p:txBody>
      </p:sp>
      <p:sp>
        <p:nvSpPr>
          <p:cNvPr id="6" name="Text 4"/>
          <p:cNvSpPr/>
          <p:nvPr/>
        </p:nvSpPr>
        <p:spPr>
          <a:xfrm>
            <a:off x="1119886" y="2473961"/>
            <a:ext cx="2987639"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Governance, steering, gate criteria</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Reconciled inventory and crown jewels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6–8 cross-layer attack scenarios, validated end to end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Architecture: current state (week 2), target state (week 14)</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IR and resilience: IR plan, DORA and NYDFS reporting, BCP/DR</a:t>
            </a:r>
            <a:endParaRPr lang="en-US" sz="1200" dirty="0"/>
          </a:p>
        </p:txBody>
      </p:sp>
      <p:sp>
        <p:nvSpPr>
          <p:cNvPr id="7" name="Shape 5"/>
          <p:cNvSpPr/>
          <p:nvPr/>
        </p:nvSpPr>
        <p:spPr>
          <a:xfrm>
            <a:off x="4388882" y="1991996"/>
            <a:ext cx="3414236" cy="275209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METHOD IT SETS</a:t>
            </a:r>
            <a:endParaRPr lang="en-US" sz="1200" dirty="0"/>
          </a:p>
        </p:txBody>
      </p:sp>
      <p:sp>
        <p:nvSpPr>
          <p:cNvPr id="9" name="Text 7"/>
          <p:cNvSpPr/>
          <p:nvPr/>
        </p:nvSpPr>
        <p:spPr>
          <a:xfrm>
            <a:off x="4692793" y="2473961"/>
            <a:ext cx="2987721"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Rating: attack-path proximity × impact; value at risk for chain findings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Sampling: Tier 1 at 100%; Tiers 2–3 tools 100% plus a 25% sample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direct NIST IR 8477 links, published maps first, second review</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Crown jewel = attacker’s target; Tier 1 = assessed first (crown jewels and assets ≤ 2 steps away)</a:t>
            </a:r>
            <a:endParaRPr lang="en-US" sz="1200" dirty="0"/>
          </a:p>
        </p:txBody>
      </p:sp>
      <p:sp>
        <p:nvSpPr>
          <p:cNvPr id="10" name="Shape 8"/>
          <p:cNvSpPr/>
          <p:nvPr/>
        </p:nvSpPr>
        <p:spPr>
          <a:xfrm>
            <a:off x="7961868" y="1991996"/>
            <a:ext cx="3414157" cy="275209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1"/>
            <a:ext cx="2987639"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v1, v2, v3 and the cross-check report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Unified findings and control register, handed to GRC</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Now / Next / Later remediation roadmap</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Executive report and handover pack</a:t>
            </a:r>
            <a:endParaRPr lang="en-US" sz="1200" dirty="0"/>
          </a:p>
        </p:txBody>
      </p:sp>
      <p:sp>
        <p:nvSpPr>
          <p:cNvPr id="13" name="Shape 11"/>
          <p:cNvSpPr/>
          <p:nvPr/>
        </p:nvSpPr>
        <p:spPr>
          <a:xfrm>
            <a:off x="812800" y="4925061"/>
            <a:ext cx="5207000" cy="916940"/>
          </a:xfrm>
          <a:prstGeom prst="rect">
            <a:avLst/>
          </a:prstGeom>
          <a:solidFill>
            <a:srgbClr val="E6F2F0"/>
          </a:solidFill>
          <a:ln/>
        </p:spPr>
      </p:sp>
      <p:sp>
        <p:nvSpPr>
          <p:cNvPr id="14" name="Text 12"/>
          <p:cNvSpPr/>
          <p:nvPr/>
        </p:nvSpPr>
        <p:spPr>
          <a:xfrm>
            <a:off x="10033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Team</a:t>
            </a:r>
            <a:endParaRPr lang="en-US" sz="1200" dirty="0"/>
          </a:p>
        </p:txBody>
      </p:sp>
      <p:sp>
        <p:nvSpPr>
          <p:cNvPr id="15" name="Text 13"/>
          <p:cNvSpPr/>
          <p:nvPr/>
        </p:nvSpPr>
        <p:spPr>
          <a:xfrm>
            <a:off x="1003300" y="5303521"/>
            <a:ext cx="49707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BM Plex Sans" pitchFamily="34" charset="0"/>
                <a:ea typeface="IBM Plex Sans" pitchFamily="34" charset="-122"/>
                <a:cs typeface="IBM Plex Sans" pitchFamily="34" charset="-120"/>
              </a:rPr>
              <a:t>Program manager, lead architect, GRC lead and crosswalk analyst</a:t>
            </a:r>
            <a:endParaRPr lang="en-US" sz="1200" dirty="0"/>
          </a:p>
        </p:txBody>
      </p:sp>
      <p:sp>
        <p:nvSpPr>
          <p:cNvPr id="16" name="Shape 14"/>
          <p:cNvSpPr/>
          <p:nvPr/>
        </p:nvSpPr>
        <p:spPr>
          <a:xfrm>
            <a:off x="6172200" y="4925061"/>
            <a:ext cx="5207000" cy="916940"/>
          </a:xfrm>
          <a:prstGeom prst="rect">
            <a:avLst/>
          </a:prstGeom>
          <a:solidFill>
            <a:srgbClr val="ECEDEA"/>
          </a:solidFill>
          <a:ln/>
        </p:spPr>
      </p:sp>
      <p:sp>
        <p:nvSpPr>
          <p:cNvPr id="17" name="Text 15"/>
          <p:cNvSpPr/>
          <p:nvPr/>
        </p:nvSpPr>
        <p:spPr>
          <a:xfrm>
            <a:off x="63627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CSF 2.0 hub · 800-53 · ISO 27001 · SOC 2 · CIS · BSSC · PCI · DORA, MiCA, NYDFS</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2 OF 5 · OS AND CONTAINERS</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WS2 hardens the Amazon Linux 2023 fleet and EKS, and closes the pod runtime-coverage gap</a:t>
            </a:r>
            <a:endParaRPr lang="en-US" sz="2600" dirty="0"/>
          </a:p>
        </p:txBody>
      </p:sp>
      <p:sp>
        <p:nvSpPr>
          <p:cNvPr id="4" name="Shape 2"/>
          <p:cNvSpPr/>
          <p:nvPr/>
        </p:nvSpPr>
        <p:spPr>
          <a:xfrm>
            <a:off x="815975" y="1991996"/>
            <a:ext cx="3414157" cy="275209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1"/>
            <a:ext cx="2987639"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Amazon Linux 2023 AMIs and fleet against CIS (Inspector)</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EKS against CIS EKS: RBAC, Pod Security, network policy</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ECR images, containers on EC2, Vault hosts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CrowdStrike, GuardDuty Runtime and EKS audit logs into Splunk</a:t>
            </a:r>
            <a:endParaRPr lang="en-US" sz="1200" dirty="0"/>
          </a:p>
        </p:txBody>
      </p:sp>
      <p:sp>
        <p:nvSpPr>
          <p:cNvPr id="7" name="Shape 5"/>
          <p:cNvSpPr/>
          <p:nvPr/>
        </p:nvSpPr>
        <p:spPr>
          <a:xfrm>
            <a:off x="4388882" y="1991996"/>
            <a:ext cx="3414236" cy="275209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1"/>
            <a:ext cx="2987721"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Golden AMI to CIS Level 1; Level 2 for signer and internet-facing hosts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IMDSv2 everywhere; SSM-only access; 14-day critical patching</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EKS: private endpoint, Pod Identity, customer-managed KMS key</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Pod Security restricted; signed images enforced at admission</a:t>
            </a:r>
            <a:endParaRPr lang="en-US" sz="1200" dirty="0"/>
          </a:p>
        </p:txBody>
      </p:sp>
      <p:sp>
        <p:nvSpPr>
          <p:cNvPr id="10" name="Shape 8"/>
          <p:cNvSpPr/>
          <p:nvPr/>
        </p:nvSpPr>
        <p:spPr>
          <a:xfrm>
            <a:off x="7961868" y="1991996"/>
            <a:ext cx="3414157" cy="275209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1"/>
            <a:ext cx="2987639"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OS and container assessment report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Amazon Linux 2023 and EKS hardening baselines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Image Builder and policy-as-code specifications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Container-escape playbook inputs</a:t>
            </a:r>
            <a:endParaRPr lang="en-US" sz="1200" dirty="0"/>
          </a:p>
        </p:txBody>
      </p:sp>
      <p:sp>
        <p:nvSpPr>
          <p:cNvPr id="13" name="Shape 11"/>
          <p:cNvSpPr/>
          <p:nvPr/>
        </p:nvSpPr>
        <p:spPr>
          <a:xfrm>
            <a:off x="812800" y="4925061"/>
            <a:ext cx="5207000" cy="916940"/>
          </a:xfrm>
          <a:prstGeom prst="rect">
            <a:avLst/>
          </a:prstGeom>
          <a:solidFill>
            <a:srgbClr val="E6F2F0"/>
          </a:solidFill>
          <a:ln/>
        </p:spPr>
      </p:sp>
      <p:sp>
        <p:nvSpPr>
          <p:cNvPr id="14" name="Text 12"/>
          <p:cNvSpPr/>
          <p:nvPr/>
        </p:nvSpPr>
        <p:spPr>
          <a:xfrm>
            <a:off x="10033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signing keys, Vault root and unseal material.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signer and Vault hosts; clusters running signing or withdrawal services</a:t>
            </a:r>
            <a:endParaRPr lang="en-US" sz="1200" dirty="0"/>
          </a:p>
        </p:txBody>
      </p:sp>
      <p:sp>
        <p:nvSpPr>
          <p:cNvPr id="16" name="Shape 14"/>
          <p:cNvSpPr/>
          <p:nvPr/>
        </p:nvSpPr>
        <p:spPr>
          <a:xfrm>
            <a:off x="6172200" y="4925061"/>
            <a:ext cx="5207000" cy="916940"/>
          </a:xfrm>
          <a:prstGeom prst="rect">
            <a:avLst/>
          </a:prstGeom>
          <a:solidFill>
            <a:srgbClr val="ECEDEA"/>
          </a:solidFill>
          <a:ln/>
        </p:spPr>
      </p:sp>
      <p:sp>
        <p:nvSpPr>
          <p:cNvPr id="17" name="Text 15"/>
          <p:cNvSpPr/>
          <p:nvPr/>
        </p:nvSpPr>
        <p:spPr>
          <a:xfrm>
            <a:off x="63627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CIS Amazon Linux 2023 · CIS EKS · CSF 2.0 PR.PS · 800-53 CM, SI · BSSC NOS</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3 OF 5 · IDENTITY AND ACCESS</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WS3 closes the paths from a phished identity to production, keys and customer funds</a:t>
            </a:r>
            <a:endParaRPr lang="en-US" sz="2600" dirty="0"/>
          </a:p>
        </p:txBody>
      </p:sp>
      <p:sp>
        <p:nvSpPr>
          <p:cNvPr id="4" name="Shape 2"/>
          <p:cNvSpPr/>
          <p:nvPr/>
        </p:nvSpPr>
        <p:spPr>
          <a:xfrm>
            <a:off x="815975" y="1991996"/>
            <a:ext cx="3414157" cy="254635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1"/>
            <a:ext cx="2987639"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Entra ID: Conditional Access, MFA strength, PIM, break-glass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Identity Center federation, permission sets, IAM users and keys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Workload identity: IRSA, Pod Identity, CI credentials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B2C: policies, token lifetimes, MFA, abuse protection</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Sign-in and audit telemetry in Splunk</a:t>
            </a:r>
            <a:endParaRPr lang="en-US" sz="1200" dirty="0"/>
          </a:p>
        </p:txBody>
      </p:sp>
      <p:sp>
        <p:nvSpPr>
          <p:cNvPr id="7" name="Shape 5"/>
          <p:cNvSpPr/>
          <p:nvPr/>
        </p:nvSpPr>
        <p:spPr>
          <a:xfrm>
            <a:off x="4388882" y="1991996"/>
            <a:ext cx="3414236" cy="254635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1"/>
            <a:ext cx="2987721"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Phishing-resistant MFA and PIM for every privileged role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Just-in-time AWS elevation; zero IAM users or static keys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OIDC for CI; quarterly access reviews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B2C hardening and an Entra External ID migration plan</a:t>
            </a:r>
            <a:endParaRPr lang="en-US" sz="1200" dirty="0"/>
          </a:p>
        </p:txBody>
      </p:sp>
      <p:sp>
        <p:nvSpPr>
          <p:cNvPr id="10" name="Shape 8"/>
          <p:cNvSpPr/>
          <p:nvPr/>
        </p:nvSpPr>
        <p:spPr>
          <a:xfrm>
            <a:off x="7961868" y="1991996"/>
            <a:ext cx="3414157" cy="254635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1"/>
            <a:ext cx="2987639" cy="8483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Identity assessment report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Privileged-access map</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Target identity baseline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Credential-compromise playbook inputs</a:t>
            </a:r>
            <a:endParaRPr lang="en-US" sz="1200" dirty="0"/>
          </a:p>
        </p:txBody>
      </p:sp>
      <p:sp>
        <p:nvSpPr>
          <p:cNvPr id="13" name="Shape 11"/>
          <p:cNvSpPr/>
          <p:nvPr/>
        </p:nvSpPr>
        <p:spPr>
          <a:xfrm>
            <a:off x="812800" y="4719321"/>
            <a:ext cx="5207000" cy="1122680"/>
          </a:xfrm>
          <a:prstGeom prst="rect">
            <a:avLst/>
          </a:prstGeom>
          <a:solidFill>
            <a:srgbClr val="E6F2F0"/>
          </a:solidFill>
          <a:ln/>
        </p:spPr>
      </p:sp>
      <p:sp>
        <p:nvSpPr>
          <p:cNvPr id="14" name="Text 12"/>
          <p:cNvSpPr/>
          <p:nvPr/>
        </p:nvSpPr>
        <p:spPr>
          <a:xfrm>
            <a:off x="10033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097779"/>
            <a:ext cx="4970780" cy="64262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Entra Global Admin and the Identity Center trust; B2C login-to-withdrawal.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identities and roles two steps or fewer away</a:t>
            </a:r>
            <a:endParaRPr lang="en-US" sz="1200" dirty="0"/>
          </a:p>
        </p:txBody>
      </p:sp>
      <p:sp>
        <p:nvSpPr>
          <p:cNvPr id="16" name="Shape 14"/>
          <p:cNvSpPr/>
          <p:nvPr/>
        </p:nvSpPr>
        <p:spPr>
          <a:xfrm>
            <a:off x="6172200" y="4719321"/>
            <a:ext cx="5207000" cy="1122680"/>
          </a:xfrm>
          <a:prstGeom prst="rect">
            <a:avLst/>
          </a:prstGeom>
          <a:solidFill>
            <a:srgbClr val="ECEDEA"/>
          </a:solidFill>
          <a:ln/>
        </p:spPr>
      </p:sp>
      <p:sp>
        <p:nvSpPr>
          <p:cNvPr id="17" name="Text 15"/>
          <p:cNvSpPr/>
          <p:nvPr/>
        </p:nvSpPr>
        <p:spPr>
          <a:xfrm>
            <a:off x="63627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097779"/>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CSF 2.0 PR.AA · 800-53 AC, IA · ISO 27001 A.5.15–A.5.18, A.8.5 · BSSC GSP</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4 OF 5 · CLOUD, DATA, LOGGING, APPSEC AND SDLC</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WS4 covers the broadest surface in two tracks, and proves our detections actually fire</a:t>
            </a:r>
            <a:endParaRPr lang="en-US" sz="2600" dirty="0"/>
          </a:p>
        </p:txBody>
      </p:sp>
      <p:sp>
        <p:nvSpPr>
          <p:cNvPr id="4" name="Shape 2"/>
          <p:cNvSpPr/>
          <p:nvPr/>
        </p:nvSpPr>
        <p:spPr>
          <a:xfrm>
            <a:off x="815975" y="1991996"/>
            <a:ext cx="3414157" cy="275209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4"/>
            <a:ext cx="2987639" cy="20828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b="1" dirty="0">
                <a:solidFill>
                  <a:srgbClr val="3E4A5C"/>
                </a:solidFill>
                <a:latin typeface="IBM Plex Sans" pitchFamily="34" charset="0"/>
                <a:ea typeface="IBM Plex Sans" pitchFamily="34" charset="-122"/>
                <a:cs typeface="IBM Plex Sans" pitchFamily="34" charset="-120"/>
              </a:rPr>
              <a:t>Platform track, weeks 3–7:</a:t>
            </a:r>
            <a:r>
              <a:rPr lang="en-US" sz="1200" dirty="0">
                <a:solidFill>
                  <a:srgbClr val="3E4A5C"/>
                </a:solidFill>
                <a:latin typeface="IBM Plex Sans" pitchFamily="34" charset="0"/>
                <a:ea typeface="IBM Plex Sans" pitchFamily="34" charset="-122"/>
                <a:cs typeface="IBM Plex Sans" pitchFamily="34" charset="-120"/>
              </a:rPr>
              <a:t> org guardrails, Security Hub CSPM, network and egress, data encryption, backup restore test</a:t>
            </a:r>
            <a:endParaRPr lang="en-US" sz="1200" dirty="0"/>
          </a:p>
          <a:p>
            <a:pPr algn="l" marL="155194" indent="-155194">
              <a:lnSpc>
                <a:spcPts val="1620"/>
              </a:lnSpc>
              <a:buSzPct val="100000"/>
              <a:buChar char="•"/>
            </a:pPr>
            <a:r>
              <a:rPr lang="en-US" sz="1200" b="1" dirty="0">
                <a:solidFill>
                  <a:srgbClr val="3E4A5C"/>
                </a:solidFill>
                <a:latin typeface="IBM Plex Sans" pitchFamily="34" charset="0"/>
                <a:ea typeface="IBM Plex Sans" pitchFamily="34" charset="-122"/>
                <a:cs typeface="IBM Plex Sans" pitchFamily="34" charset="-120"/>
              </a:rPr>
              <a:t>Logging:</a:t>
            </a:r>
            <a:r>
              <a:rPr lang="en-US" sz="1200" dirty="0">
                <a:solidFill>
                  <a:srgbClr val="3E4A5C"/>
                </a:solidFill>
                <a:latin typeface="IBM Plex Sans" pitchFamily="34" charset="0"/>
                <a:ea typeface="IBM Plex Sans" pitchFamily="34" charset="-122"/>
                <a:cs typeface="IBM Plex Sans" pitchFamily="34" charset="-120"/>
              </a:rPr>
              <a:t> CloudTrail and GuardDuty into Splunk; ATT&amp;CK coverage; detection tests</a:t>
            </a:r>
            <a:endParaRPr lang="en-US" sz="1200" dirty="0"/>
          </a:p>
          <a:p>
            <a:pPr algn="l" marL="155194" indent="-155194">
              <a:lnSpc>
                <a:spcPts val="1620"/>
              </a:lnSpc>
              <a:buSzPct val="100000"/>
              <a:buChar char="•"/>
            </a:pPr>
            <a:r>
              <a:rPr lang="en-US" sz="1200" b="1" dirty="0">
                <a:solidFill>
                  <a:srgbClr val="3E4A5C"/>
                </a:solidFill>
                <a:latin typeface="IBM Plex Sans" pitchFamily="34" charset="0"/>
                <a:ea typeface="IBM Plex Sans" pitchFamily="34" charset="-122"/>
                <a:cs typeface="IBM Plex Sans" pitchFamily="34" charset="-120"/>
              </a:rPr>
              <a:t>Application track, weeks 5–13:</a:t>
            </a:r>
            <a:r>
              <a:rPr lang="en-US" sz="1200" dirty="0">
                <a:solidFill>
                  <a:srgbClr val="3E4A5C"/>
                </a:solidFill>
                <a:latin typeface="IBM Plex Sans" pitchFamily="34" charset="0"/>
                <a:ea typeface="IBM Plex Sans" pitchFamily="34" charset="-122"/>
                <a:cs typeface="IBM Plex Sans" pitchFamily="34" charset="-120"/>
              </a:rPr>
              <a:t> ASVS 5.0 on Tier 1 apps, DAST, CI/CD, SBOM, SLSA</a:t>
            </a:r>
            <a:endParaRPr lang="en-US" sz="1200" dirty="0"/>
          </a:p>
        </p:txBody>
      </p:sp>
      <p:sp>
        <p:nvSpPr>
          <p:cNvPr id="7" name="Shape 5"/>
          <p:cNvSpPr/>
          <p:nvPr/>
        </p:nvSpPr>
        <p:spPr>
          <a:xfrm>
            <a:off x="4388882" y="1991996"/>
            <a:ext cx="3414236" cy="275209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4"/>
            <a:ext cx="2987721"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Landing-zone guardrail set (SCPs, RCPs)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Segmentation and egress pattern</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Data-protection and backup standard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Logging standard and priority detections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Secure SDLC gates; SLSA Build Level 2, then 3</a:t>
            </a:r>
            <a:endParaRPr lang="en-US" sz="1200" dirty="0"/>
          </a:p>
        </p:txBody>
      </p:sp>
      <p:sp>
        <p:nvSpPr>
          <p:cNvPr id="10" name="Shape 8"/>
          <p:cNvSpPr/>
          <p:nvPr/>
        </p:nvSpPr>
        <p:spPr>
          <a:xfrm>
            <a:off x="7961868" y="1991996"/>
            <a:ext cx="3414157" cy="275209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4"/>
            <a:ext cx="2987639" cy="10541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Cloud, network and data assessment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Validated detection coverage map</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AppSec findings and SDLC maturity score (SAMM)</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Guardrails-as-code specification</a:t>
            </a:r>
            <a:endParaRPr lang="en-US" sz="1200" dirty="0"/>
          </a:p>
        </p:txBody>
      </p:sp>
      <p:sp>
        <p:nvSpPr>
          <p:cNvPr id="13" name="Shape 11"/>
          <p:cNvSpPr/>
          <p:nvPr/>
        </p:nvSpPr>
        <p:spPr>
          <a:xfrm>
            <a:off x="812800" y="4925064"/>
            <a:ext cx="5207000" cy="916940"/>
          </a:xfrm>
          <a:prstGeom prst="rect">
            <a:avLst/>
          </a:prstGeom>
          <a:solidFill>
            <a:srgbClr val="E6F2F0"/>
          </a:solidFill>
          <a:ln/>
        </p:spPr>
      </p:sp>
      <p:sp>
        <p:nvSpPr>
          <p:cNvPr id="14" name="Text 12"/>
          <p:cNvSpPr/>
          <p:nvPr/>
        </p:nvSpPr>
        <p:spPr>
          <a:xfrm>
            <a:off x="1003300" y="5052064"/>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management account, deploy paths, PII stores, dApp front end.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assets ≤ 2 steps away</a:t>
            </a:r>
            <a:endParaRPr lang="en-US" sz="1200" dirty="0"/>
          </a:p>
        </p:txBody>
      </p:sp>
      <p:sp>
        <p:nvSpPr>
          <p:cNvPr id="16" name="Shape 14"/>
          <p:cNvSpPr/>
          <p:nvPr/>
        </p:nvSpPr>
        <p:spPr>
          <a:xfrm>
            <a:off x="6172200" y="4925064"/>
            <a:ext cx="5207000" cy="916940"/>
          </a:xfrm>
          <a:prstGeom prst="rect">
            <a:avLst/>
          </a:prstGeom>
          <a:solidFill>
            <a:srgbClr val="ECEDEA"/>
          </a:solidFill>
          <a:ln/>
        </p:spPr>
      </p:sp>
      <p:sp>
        <p:nvSpPr>
          <p:cNvPr id="17" name="Text 15"/>
          <p:cNvSpPr/>
          <p:nvPr/>
        </p:nvSpPr>
        <p:spPr>
          <a:xfrm>
            <a:off x="6362700" y="5052064"/>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CIS AWS benchmarks · FSBP · ASVS 5.0 · SLSA · 800-53 AC, SC, AU, SA · PCI DSS</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5 OF 5 · BLOCKCHAIN AND SMART CONTRACTS</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WS5 protects the signing keys, the admin paths and the code that moves value</a:t>
            </a:r>
            <a:endParaRPr lang="en-US" sz="2600" dirty="0"/>
          </a:p>
        </p:txBody>
      </p:sp>
      <p:sp>
        <p:nvSpPr>
          <p:cNvPr id="4" name="Shape 2"/>
          <p:cNvSpPr/>
          <p:nvPr/>
        </p:nvSpPr>
        <p:spPr>
          <a:xfrm>
            <a:off x="815975" y="1991996"/>
            <a:ext cx="3414157" cy="254635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4"/>
            <a:ext cx="2987639"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Solidity, Solana and Daml code: static analysis, fork fuzzing, Anchor checks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Upgrade and admin keys: multisig thresholds, timelocks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Signing procedures and signer devices; no blind signing</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Vault custody; Alchemy and Blockdaemon nodes; oracles, bridges, monitoring</a:t>
            </a:r>
            <a:endParaRPr lang="en-US" sz="1200" dirty="0"/>
          </a:p>
        </p:txBody>
      </p:sp>
      <p:sp>
        <p:nvSpPr>
          <p:cNvPr id="7" name="Shape 5"/>
          <p:cNvSpPr/>
          <p:nvPr/>
        </p:nvSpPr>
        <p:spPr>
          <a:xfrm>
            <a:off x="4388882" y="1991996"/>
            <a:ext cx="3414236" cy="254635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4"/>
            <a:ext cx="2987721"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Contract SDLC gates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Multisig plus timelock admin model</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Signing-architecture decision: HSM, AWS KMS (secp256k1) or MPC</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Exploit and key-compromise playbooks with SEAL 911</a:t>
            </a:r>
            <a:endParaRPr lang="en-US" sz="1200" dirty="0"/>
          </a:p>
        </p:txBody>
      </p:sp>
      <p:sp>
        <p:nvSpPr>
          <p:cNvPr id="10" name="Shape 8"/>
          <p:cNvSpPr/>
          <p:nvPr/>
        </p:nvSpPr>
        <p:spPr>
          <a:xfrm>
            <a:off x="7961868" y="1991996"/>
            <a:ext cx="3414157" cy="254635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4"/>
            <a:ext cx="2987639"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Assessment against the 386-control register</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Contract findings and protocol threat models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Key-custody design recommendation</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List of contracts needing an external audit</a:t>
            </a:r>
            <a:endParaRPr lang="en-US" sz="1200" dirty="0"/>
          </a:p>
        </p:txBody>
      </p:sp>
      <p:sp>
        <p:nvSpPr>
          <p:cNvPr id="13" name="Shape 11"/>
          <p:cNvSpPr/>
          <p:nvPr/>
        </p:nvSpPr>
        <p:spPr>
          <a:xfrm>
            <a:off x="812800" y="4719321"/>
            <a:ext cx="5207000" cy="1122680"/>
          </a:xfrm>
          <a:prstGeom prst="rect">
            <a:avLst/>
          </a:prstGeom>
          <a:solidFill>
            <a:srgbClr val="E6F2F0"/>
          </a:solidFill>
          <a:ln/>
        </p:spPr>
      </p:sp>
      <p:sp>
        <p:nvSpPr>
          <p:cNvPr id="14" name="Text 12"/>
          <p:cNvSpPr/>
          <p:nvPr/>
        </p:nvSpPr>
        <p:spPr>
          <a:xfrm>
            <a:off x="10033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097779"/>
            <a:ext cx="4970780" cy="64262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signing keys, Canton party keys, admin and upgrade multisigs, treasury contracts.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contracts, signers and pipelines that can reach them</a:t>
            </a:r>
            <a:endParaRPr lang="en-US" sz="1200" dirty="0"/>
          </a:p>
        </p:txBody>
      </p:sp>
      <p:sp>
        <p:nvSpPr>
          <p:cNvPr id="16" name="Shape 14"/>
          <p:cNvSpPr/>
          <p:nvPr/>
        </p:nvSpPr>
        <p:spPr>
          <a:xfrm>
            <a:off x="6172200" y="4719321"/>
            <a:ext cx="5207000" cy="1122680"/>
          </a:xfrm>
          <a:prstGeom prst="rect">
            <a:avLst/>
          </a:prstGeom>
          <a:solidFill>
            <a:srgbClr val="ECEDEA"/>
          </a:solidFill>
          <a:ln/>
        </p:spPr>
      </p:sp>
      <p:sp>
        <p:nvSpPr>
          <p:cNvPr id="17" name="Text 15"/>
          <p:cNvSpPr/>
          <p:nvPr/>
        </p:nvSpPr>
        <p:spPr>
          <a:xfrm>
            <a:off x="63627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097779"/>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BSSC NOS, TIS, KMS, SCS, GSP · OWASP SCSVS, SC Top 10 · SEAL · CCSS v9.0</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06 · ROADMAP</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Tier 1 is assessed first, and four gates take the program to sign-off in week 16</a:t>
            </a:r>
            <a:endParaRPr lang="en-US" sz="2600" dirty="0"/>
          </a:p>
        </p:txBody>
      </p:sp>
      <p:sp>
        <p:nvSpPr>
          <p:cNvPr id="4" name="Text 2"/>
          <p:cNvSpPr/>
          <p:nvPr/>
        </p:nvSpPr>
        <p:spPr>
          <a:xfrm>
            <a:off x="812800" y="198882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Week</a:t>
            </a:r>
            <a:endParaRPr lang="en-US" sz="1200" dirty="0"/>
          </a:p>
        </p:txBody>
      </p:sp>
      <p:sp>
        <p:nvSpPr>
          <p:cNvPr id="5" name="Text 3"/>
          <p:cNvSpPr/>
          <p:nvPr/>
        </p:nvSpPr>
        <p:spPr>
          <a:xfrm>
            <a:off x="2717800"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3259138"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
        <p:nvSpPr>
          <p:cNvPr id="7" name="Text 5"/>
          <p:cNvSpPr/>
          <p:nvPr/>
        </p:nvSpPr>
        <p:spPr>
          <a:xfrm>
            <a:off x="3800475"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
        <p:nvSpPr>
          <p:cNvPr id="8" name="Text 6"/>
          <p:cNvSpPr/>
          <p:nvPr/>
        </p:nvSpPr>
        <p:spPr>
          <a:xfrm>
            <a:off x="4341813"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
        <p:nvSpPr>
          <p:cNvPr id="9" name="Text 7"/>
          <p:cNvSpPr/>
          <p:nvPr/>
        </p:nvSpPr>
        <p:spPr>
          <a:xfrm>
            <a:off x="4883150"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
        <p:nvSpPr>
          <p:cNvPr id="10" name="Text 8"/>
          <p:cNvSpPr/>
          <p:nvPr/>
        </p:nvSpPr>
        <p:spPr>
          <a:xfrm>
            <a:off x="5424488"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
        <p:nvSpPr>
          <p:cNvPr id="11" name="Text 9"/>
          <p:cNvSpPr/>
          <p:nvPr/>
        </p:nvSpPr>
        <p:spPr>
          <a:xfrm>
            <a:off x="5965825"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
        <p:nvSpPr>
          <p:cNvPr id="12" name="Text 10"/>
          <p:cNvSpPr/>
          <p:nvPr/>
        </p:nvSpPr>
        <p:spPr>
          <a:xfrm>
            <a:off x="6507163"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
        <p:nvSpPr>
          <p:cNvPr id="13" name="Text 11"/>
          <p:cNvSpPr/>
          <p:nvPr/>
        </p:nvSpPr>
        <p:spPr>
          <a:xfrm>
            <a:off x="7048500"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
        <p:nvSpPr>
          <p:cNvPr id="14" name="Text 12"/>
          <p:cNvSpPr/>
          <p:nvPr/>
        </p:nvSpPr>
        <p:spPr>
          <a:xfrm>
            <a:off x="7589837"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
        <p:nvSpPr>
          <p:cNvPr id="15" name="Text 13"/>
          <p:cNvSpPr/>
          <p:nvPr/>
        </p:nvSpPr>
        <p:spPr>
          <a:xfrm>
            <a:off x="8131175"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
        <p:nvSpPr>
          <p:cNvPr id="16" name="Text 14"/>
          <p:cNvSpPr/>
          <p:nvPr/>
        </p:nvSpPr>
        <p:spPr>
          <a:xfrm>
            <a:off x="8672513"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
        <p:nvSpPr>
          <p:cNvPr id="17" name="Text 15"/>
          <p:cNvSpPr/>
          <p:nvPr/>
        </p:nvSpPr>
        <p:spPr>
          <a:xfrm>
            <a:off x="9213850"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
        <p:nvSpPr>
          <p:cNvPr id="18" name="Text 16"/>
          <p:cNvSpPr/>
          <p:nvPr/>
        </p:nvSpPr>
        <p:spPr>
          <a:xfrm>
            <a:off x="9755188"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
        <p:nvSpPr>
          <p:cNvPr id="19" name="Text 17"/>
          <p:cNvSpPr/>
          <p:nvPr/>
        </p:nvSpPr>
        <p:spPr>
          <a:xfrm>
            <a:off x="10296525"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
        <p:nvSpPr>
          <p:cNvPr id="20" name="Text 18"/>
          <p:cNvSpPr/>
          <p:nvPr/>
        </p:nvSpPr>
        <p:spPr>
          <a:xfrm>
            <a:off x="10837863" y="1988821"/>
            <a:ext cx="5667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
        <p:nvSpPr>
          <p:cNvPr id="21" name="Text 19"/>
          <p:cNvSpPr/>
          <p:nvPr/>
        </p:nvSpPr>
        <p:spPr>
          <a:xfrm>
            <a:off x="812800" y="2291079"/>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Mobilize and scope</a:t>
            </a:r>
            <a:endParaRPr lang="en-US" sz="1200" dirty="0"/>
          </a:p>
        </p:txBody>
      </p:sp>
      <p:sp>
        <p:nvSpPr>
          <p:cNvPr id="22" name="Text 20"/>
          <p:cNvSpPr/>
          <p:nvPr/>
        </p:nvSpPr>
        <p:spPr>
          <a:xfrm>
            <a:off x="2743200" y="2240279"/>
            <a:ext cx="1057275" cy="314960"/>
          </a:xfrm>
          <a:prstGeom prst="rect">
            <a:avLst/>
          </a:prstGeom>
          <a:solidFill>
            <a:srgbClr val="14213D"/>
          </a:solidFill>
          <a:ln/>
        </p:spPr>
        <p:txBody>
          <a:bodyPr wrap="none" lIns="76200" tIns="50800" rIns="25400"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1–2</a:t>
            </a:r>
            <a:endParaRPr lang="en-US" sz="1200" dirty="0"/>
          </a:p>
        </p:txBody>
      </p:sp>
      <p:sp>
        <p:nvSpPr>
          <p:cNvPr id="23" name="Text 21"/>
          <p:cNvSpPr/>
          <p:nvPr/>
        </p:nvSpPr>
        <p:spPr>
          <a:xfrm>
            <a:off x="812800" y="2644142"/>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Assess Tier 1</a:t>
            </a:r>
            <a:endParaRPr lang="en-US" sz="1200" dirty="0"/>
          </a:p>
        </p:txBody>
      </p:sp>
      <p:sp>
        <p:nvSpPr>
          <p:cNvPr id="24" name="Text 22"/>
          <p:cNvSpPr/>
          <p:nvPr/>
        </p:nvSpPr>
        <p:spPr>
          <a:xfrm>
            <a:off x="3825875" y="2593342"/>
            <a:ext cx="2681288" cy="314960"/>
          </a:xfrm>
          <a:prstGeom prst="rect">
            <a:avLst/>
          </a:prstGeom>
          <a:solidFill>
            <a:srgbClr val="1F7A6E"/>
          </a:solidFill>
          <a:ln/>
        </p:spPr>
        <p:txBody>
          <a:bodyPr wrap="square" lIns="76200" tIns="50800" rIns="333"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3–7</a:t>
            </a:r>
            <a:endParaRPr lang="en-US" sz="1200" dirty="0"/>
          </a:p>
        </p:txBody>
      </p:sp>
      <p:sp>
        <p:nvSpPr>
          <p:cNvPr id="25" name="Text 23"/>
          <p:cNvSpPr/>
          <p:nvPr/>
        </p:nvSpPr>
        <p:spPr>
          <a:xfrm>
            <a:off x="812800" y="2997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Buffer</a:t>
            </a:r>
            <a:endParaRPr lang="en-US" sz="1200" dirty="0"/>
          </a:p>
        </p:txBody>
      </p:sp>
      <p:sp>
        <p:nvSpPr>
          <p:cNvPr id="26" name="Text 24"/>
          <p:cNvSpPr/>
          <p:nvPr/>
        </p:nvSpPr>
        <p:spPr>
          <a:xfrm>
            <a:off x="6532563" y="2946400"/>
            <a:ext cx="1057275" cy="314960"/>
          </a:xfrm>
          <a:prstGeom prst="rect">
            <a:avLst/>
          </a:prstGeom>
          <a:solidFill>
            <a:srgbClr val="D9DCD6"/>
          </a:solidFill>
          <a:ln/>
        </p:spPr>
        <p:txBody>
          <a:bodyPr wrap="square" lIns="76200" tIns="50800" rIns="25400" bIns="2540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Buffer</a:t>
            </a:r>
            <a:endParaRPr lang="en-US" sz="1200" dirty="0"/>
          </a:p>
        </p:txBody>
      </p:sp>
      <p:sp>
        <p:nvSpPr>
          <p:cNvPr id="27" name="Text 25"/>
          <p:cNvSpPr/>
          <p:nvPr/>
        </p:nvSpPr>
        <p:spPr>
          <a:xfrm>
            <a:off x="812800" y="3350264"/>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Assess Tiers 2–3</a:t>
            </a:r>
            <a:endParaRPr lang="en-US" sz="1200" dirty="0"/>
          </a:p>
        </p:txBody>
      </p:sp>
      <p:sp>
        <p:nvSpPr>
          <p:cNvPr id="28" name="Text 26"/>
          <p:cNvSpPr/>
          <p:nvPr/>
        </p:nvSpPr>
        <p:spPr>
          <a:xfrm>
            <a:off x="7615238" y="3299464"/>
            <a:ext cx="2139950" cy="314960"/>
          </a:xfrm>
          <a:prstGeom prst="rect">
            <a:avLst/>
          </a:prstGeom>
          <a:solidFill>
            <a:srgbClr val="1F7A6E"/>
          </a:solidFill>
          <a:ln/>
        </p:spPr>
        <p:txBody>
          <a:bodyPr wrap="square" lIns="76200" tIns="50800" rIns="16574"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10–13</a:t>
            </a:r>
            <a:endParaRPr lang="en-US" sz="1200" dirty="0"/>
          </a:p>
        </p:txBody>
      </p:sp>
      <p:sp>
        <p:nvSpPr>
          <p:cNvPr id="29" name="Text 27"/>
          <p:cNvSpPr/>
          <p:nvPr/>
        </p:nvSpPr>
        <p:spPr>
          <a:xfrm>
            <a:off x="812800" y="370332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Recommend, handover</a:t>
            </a:r>
            <a:endParaRPr lang="en-US" sz="1200" dirty="0"/>
          </a:p>
        </p:txBody>
      </p:sp>
      <p:sp>
        <p:nvSpPr>
          <p:cNvPr id="30" name="Text 28"/>
          <p:cNvSpPr/>
          <p:nvPr/>
        </p:nvSpPr>
        <p:spPr>
          <a:xfrm>
            <a:off x="9780588" y="3652521"/>
            <a:ext cx="1598613" cy="314960"/>
          </a:xfrm>
          <a:prstGeom prst="rect">
            <a:avLst/>
          </a:prstGeom>
          <a:solidFill>
            <a:srgbClr val="14213D"/>
          </a:solidFill>
          <a:ln/>
        </p:spPr>
        <p:txBody>
          <a:bodyPr wrap="square" lIns="76200" tIns="50800" rIns="25400"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14–16</a:t>
            </a:r>
            <a:endParaRPr lang="en-US" sz="1200" dirty="0"/>
          </a:p>
        </p:txBody>
      </p:sp>
      <p:sp>
        <p:nvSpPr>
          <p:cNvPr id="31" name="Text 29"/>
          <p:cNvSpPr/>
          <p:nvPr/>
        </p:nvSpPr>
        <p:spPr>
          <a:xfrm>
            <a:off x="812800" y="4043679"/>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Gates, milestones</a:t>
            </a:r>
            <a:endParaRPr lang="en-US" sz="1200" dirty="0"/>
          </a:p>
        </p:txBody>
      </p:sp>
      <p:sp>
        <p:nvSpPr>
          <p:cNvPr id="32" name="Text 30"/>
          <p:cNvSpPr/>
          <p:nvPr/>
        </p:nvSpPr>
        <p:spPr>
          <a:xfrm>
            <a:off x="3284538" y="4005579"/>
            <a:ext cx="515938"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G1</a:t>
            </a:r>
            <a:endParaRPr lang="en-US" sz="1200" dirty="0"/>
          </a:p>
        </p:txBody>
      </p:sp>
      <p:sp>
        <p:nvSpPr>
          <p:cNvPr id="33" name="Text 31"/>
          <p:cNvSpPr/>
          <p:nvPr/>
        </p:nvSpPr>
        <p:spPr>
          <a:xfrm>
            <a:off x="4373563" y="4014471"/>
            <a:ext cx="503238" cy="271780"/>
          </a:xfrm>
          <a:prstGeom prst="rect">
            <a:avLst/>
          </a:prstGeom>
          <a:noFill/>
          <a:ln w="12700">
            <a:solidFill>
              <a:srgbClr val="E8B04B"/>
            </a:solidFill>
            <a:prstDash val="solid"/>
          </a:ln>
        </p:spPr>
        <p:txBody>
          <a:bodyPr wrap="square" lIns="0" tIns="29210" rIns="0" bIns="381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Flash</a:t>
            </a:r>
            <a:endParaRPr lang="en-US" sz="1200" dirty="0"/>
          </a:p>
        </p:txBody>
      </p:sp>
      <p:sp>
        <p:nvSpPr>
          <p:cNvPr id="34" name="Text 32"/>
          <p:cNvSpPr/>
          <p:nvPr/>
        </p:nvSpPr>
        <p:spPr>
          <a:xfrm>
            <a:off x="5991225" y="4005579"/>
            <a:ext cx="515938"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G2</a:t>
            </a:r>
            <a:endParaRPr lang="en-US" sz="1200" dirty="0"/>
          </a:p>
        </p:txBody>
      </p:sp>
      <p:sp>
        <p:nvSpPr>
          <p:cNvPr id="35" name="Text 33"/>
          <p:cNvSpPr/>
          <p:nvPr/>
        </p:nvSpPr>
        <p:spPr>
          <a:xfrm>
            <a:off x="9239250" y="4005579"/>
            <a:ext cx="515938"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G3</a:t>
            </a:r>
            <a:endParaRPr lang="en-US" sz="1200" dirty="0"/>
          </a:p>
        </p:txBody>
      </p:sp>
      <p:sp>
        <p:nvSpPr>
          <p:cNvPr id="36" name="Text 34"/>
          <p:cNvSpPr/>
          <p:nvPr/>
        </p:nvSpPr>
        <p:spPr>
          <a:xfrm>
            <a:off x="10863263" y="4005579"/>
            <a:ext cx="515938"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G4</a:t>
            </a:r>
            <a:endParaRPr lang="en-US" sz="1200" dirty="0"/>
          </a:p>
        </p:txBody>
      </p:sp>
      <p:sp>
        <p:nvSpPr>
          <p:cNvPr id="37" name="Shape 35"/>
          <p:cNvSpPr/>
          <p:nvPr/>
        </p:nvSpPr>
        <p:spPr>
          <a:xfrm>
            <a:off x="815975" y="4476117"/>
            <a:ext cx="2540000" cy="1362710"/>
          </a:xfrm>
          <a:prstGeom prst="rect">
            <a:avLst/>
          </a:prstGeom>
          <a:solidFill>
            <a:srgbClr val="FDFDFB"/>
          </a:solidFill>
          <a:ln w="6350">
            <a:solidFill>
              <a:srgbClr val="D9DCD6"/>
            </a:solidFill>
            <a:prstDash val="solid"/>
          </a:ln>
        </p:spPr>
      </p:sp>
      <p:sp>
        <p:nvSpPr>
          <p:cNvPr id="38" name="Text 36"/>
          <p:cNvSpPr/>
          <p:nvPr/>
        </p:nvSpPr>
        <p:spPr>
          <a:xfrm>
            <a:off x="97028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G1 · Week 2</a:t>
            </a:r>
            <a:endParaRPr lang="en-US" sz="1200" dirty="0"/>
          </a:p>
        </p:txBody>
      </p:sp>
      <p:sp>
        <p:nvSpPr>
          <p:cNvPr id="39" name="Text 37"/>
          <p:cNvSpPr/>
          <p:nvPr/>
        </p:nvSpPr>
        <p:spPr>
          <a:xfrm>
            <a:off x="970280" y="4856479"/>
            <a:ext cx="2298332"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Tier 1 access ≥ 90%, inventory reconciled, scenarios approved, RoE signed</a:t>
            </a:r>
            <a:endParaRPr lang="en-US" sz="1200" dirty="0"/>
          </a:p>
        </p:txBody>
      </p:sp>
      <p:sp>
        <p:nvSpPr>
          <p:cNvPr id="40" name="Shape 38"/>
          <p:cNvSpPr/>
          <p:nvPr/>
        </p:nvSpPr>
        <p:spPr>
          <a:xfrm>
            <a:off x="3489325" y="4476117"/>
            <a:ext cx="2540000" cy="1362710"/>
          </a:xfrm>
          <a:prstGeom prst="rect">
            <a:avLst/>
          </a:prstGeom>
          <a:solidFill>
            <a:srgbClr val="FDFDFB"/>
          </a:solidFill>
          <a:ln w="6350">
            <a:solidFill>
              <a:srgbClr val="D9DCD6"/>
            </a:solidFill>
            <a:prstDash val="solid"/>
          </a:ln>
        </p:spPr>
      </p:sp>
      <p:sp>
        <p:nvSpPr>
          <p:cNvPr id="41" name="Text 39"/>
          <p:cNvSpPr/>
          <p:nvPr/>
        </p:nvSpPr>
        <p:spPr>
          <a:xfrm>
            <a:off x="364363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G2 · Week 7</a:t>
            </a:r>
            <a:endParaRPr lang="en-US" sz="1200" dirty="0"/>
          </a:p>
        </p:txBody>
      </p:sp>
      <p:sp>
        <p:nvSpPr>
          <p:cNvPr id="42" name="Text 40"/>
          <p:cNvSpPr/>
          <p:nvPr/>
        </p:nvSpPr>
        <p:spPr>
          <a:xfrm>
            <a:off x="3643630" y="4856479"/>
            <a:ext cx="2298332"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Tier 1 fully assessed; criticals escalated, containment status known</a:t>
            </a:r>
            <a:endParaRPr lang="en-US" sz="1200" dirty="0"/>
          </a:p>
        </p:txBody>
      </p:sp>
      <p:sp>
        <p:nvSpPr>
          <p:cNvPr id="43" name="Shape 41"/>
          <p:cNvSpPr/>
          <p:nvPr/>
        </p:nvSpPr>
        <p:spPr>
          <a:xfrm>
            <a:off x="6162675" y="4476117"/>
            <a:ext cx="2540000" cy="1362710"/>
          </a:xfrm>
          <a:prstGeom prst="rect">
            <a:avLst/>
          </a:prstGeom>
          <a:solidFill>
            <a:srgbClr val="FDFDFB"/>
          </a:solidFill>
          <a:ln w="6350">
            <a:solidFill>
              <a:srgbClr val="D9DCD6"/>
            </a:solidFill>
            <a:prstDash val="solid"/>
          </a:ln>
        </p:spPr>
      </p:sp>
      <p:sp>
        <p:nvSpPr>
          <p:cNvPr id="44" name="Text 42"/>
          <p:cNvSpPr/>
          <p:nvPr/>
        </p:nvSpPr>
        <p:spPr>
          <a:xfrm>
            <a:off x="631698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G3 · Week 13</a:t>
            </a:r>
            <a:endParaRPr lang="en-US" sz="1200" dirty="0"/>
          </a:p>
        </p:txBody>
      </p:sp>
      <p:sp>
        <p:nvSpPr>
          <p:cNvPr id="45" name="Text 43"/>
          <p:cNvSpPr/>
          <p:nvPr/>
        </p:nvSpPr>
        <p:spPr>
          <a:xfrm>
            <a:off x="6316980" y="4856479"/>
            <a:ext cx="229833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All tiers assessed; detections validated; crosswalk complete</a:t>
            </a:r>
            <a:endParaRPr lang="en-US" sz="1200" dirty="0"/>
          </a:p>
        </p:txBody>
      </p:sp>
      <p:sp>
        <p:nvSpPr>
          <p:cNvPr id="46" name="Shape 44"/>
          <p:cNvSpPr/>
          <p:nvPr/>
        </p:nvSpPr>
        <p:spPr>
          <a:xfrm>
            <a:off x="8836025" y="4476117"/>
            <a:ext cx="2540000" cy="1362710"/>
          </a:xfrm>
          <a:prstGeom prst="rect">
            <a:avLst/>
          </a:prstGeom>
          <a:solidFill>
            <a:srgbClr val="FDFDFB"/>
          </a:solidFill>
          <a:ln w="6350">
            <a:solidFill>
              <a:srgbClr val="D9DCD6"/>
            </a:solidFill>
            <a:prstDash val="solid"/>
          </a:ln>
        </p:spPr>
      </p:sp>
      <p:sp>
        <p:nvSpPr>
          <p:cNvPr id="47" name="Text 45"/>
          <p:cNvSpPr/>
          <p:nvPr/>
        </p:nvSpPr>
        <p:spPr>
          <a:xfrm>
            <a:off x="899033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G4 · Week 16</a:t>
            </a:r>
            <a:endParaRPr lang="en-US" sz="1200" dirty="0"/>
          </a:p>
        </p:txBody>
      </p:sp>
      <p:sp>
        <p:nvSpPr>
          <p:cNvPr id="48" name="Text 46"/>
          <p:cNvSpPr/>
          <p:nvPr/>
        </p:nvSpPr>
        <p:spPr>
          <a:xfrm>
            <a:off x="8990330" y="4856479"/>
            <a:ext cx="229833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Report signed; owner decisions recorded; access removed</a:t>
            </a:r>
            <a:endParaRPr lang="en-US" sz="1200" dirty="0"/>
          </a:p>
        </p:txBody>
      </p:sp>
      <p:sp>
        <p:nvSpPr>
          <p:cNvPr id="49" name="Text 4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50" name="Text 48"/>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07 · DELIVERABLES</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Deliverables land at every gate, so steering sees value from week 2, not only at the end</a:t>
            </a:r>
            <a:endParaRPr lang="en-US" sz="2600" dirty="0"/>
          </a:p>
        </p:txBody>
      </p:sp>
      <p:sp>
        <p:nvSpPr>
          <p:cNvPr id="4" name="Shape 2"/>
          <p:cNvSpPr/>
          <p:nvPr/>
        </p:nvSpPr>
        <p:spPr>
          <a:xfrm>
            <a:off x="815975" y="1991996"/>
            <a:ext cx="2540000" cy="3846830"/>
          </a:xfrm>
          <a:prstGeom prst="rect">
            <a:avLst/>
          </a:prstGeom>
          <a:solidFill>
            <a:srgbClr val="FDFDFB"/>
          </a:solidFill>
          <a:ln w="6350">
            <a:solidFill>
              <a:srgbClr val="D9DCD6"/>
            </a:solidFill>
            <a:prstDash val="solid"/>
          </a:ln>
        </p:spPr>
      </p:sp>
      <p:sp>
        <p:nvSpPr>
          <p:cNvPr id="5" name="Text 3"/>
          <p:cNvSpPr/>
          <p:nvPr/>
        </p:nvSpPr>
        <p:spPr>
          <a:xfrm>
            <a:off x="99568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1 · WEEK 2</a:t>
            </a:r>
            <a:endParaRPr lang="en-US" sz="1200" dirty="0"/>
          </a:p>
        </p:txBody>
      </p:sp>
      <p:sp>
        <p:nvSpPr>
          <p:cNvPr id="6" name="Text 4"/>
          <p:cNvSpPr/>
          <p:nvPr/>
        </p:nvSpPr>
        <p:spPr>
          <a:xfrm>
            <a:off x="1094486" y="2448564"/>
            <a:ext cx="2139582"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Charter, gate criteria, RACI</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Inventory, crown jewels, current-state architecture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6–8 attack scenarios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Rules of engagement, evidence standard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v1, method and workbooks</a:t>
            </a:r>
            <a:endParaRPr lang="en-US" sz="1200" dirty="0"/>
          </a:p>
        </p:txBody>
      </p:sp>
      <p:sp>
        <p:nvSpPr>
          <p:cNvPr id="7" name="Shape 5"/>
          <p:cNvSpPr/>
          <p:nvPr/>
        </p:nvSpPr>
        <p:spPr>
          <a:xfrm>
            <a:off x="3489325" y="1991996"/>
            <a:ext cx="2540000" cy="3846830"/>
          </a:xfrm>
          <a:prstGeom prst="rect">
            <a:avLst/>
          </a:prstGeom>
          <a:solidFill>
            <a:srgbClr val="FDFDFB"/>
          </a:solidFill>
          <a:ln w="6350">
            <a:solidFill>
              <a:srgbClr val="D9DCD6"/>
            </a:solidFill>
            <a:prstDash val="solid"/>
          </a:ln>
        </p:spPr>
      </p:sp>
      <p:sp>
        <p:nvSpPr>
          <p:cNvPr id="8" name="Text 6"/>
          <p:cNvSpPr/>
          <p:nvPr/>
        </p:nvSpPr>
        <p:spPr>
          <a:xfrm>
            <a:off x="366903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2 · WEEKS 4–7</a:t>
            </a:r>
            <a:endParaRPr lang="en-US" sz="1200" dirty="0"/>
          </a:p>
        </p:txBody>
      </p:sp>
      <p:sp>
        <p:nvSpPr>
          <p:cNvPr id="9" name="Text 7"/>
          <p:cNvSpPr/>
          <p:nvPr/>
        </p:nvSpPr>
        <p:spPr>
          <a:xfrm>
            <a:off x="3767836" y="2448564"/>
            <a:ext cx="2139582"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Crown-jewel flash readout (week 4)</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1 results and critical findings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1 owner reviews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v2</a:t>
            </a:r>
            <a:endParaRPr lang="en-US" sz="1200" dirty="0"/>
          </a:p>
        </p:txBody>
      </p:sp>
      <p:sp>
        <p:nvSpPr>
          <p:cNvPr id="10" name="Shape 8"/>
          <p:cNvSpPr/>
          <p:nvPr/>
        </p:nvSpPr>
        <p:spPr>
          <a:xfrm>
            <a:off x="6162675" y="1991996"/>
            <a:ext cx="2540000" cy="3846830"/>
          </a:xfrm>
          <a:prstGeom prst="rect">
            <a:avLst/>
          </a:prstGeom>
          <a:solidFill>
            <a:srgbClr val="FDFDFB"/>
          </a:solidFill>
          <a:ln w="6350">
            <a:solidFill>
              <a:srgbClr val="D9DCD6"/>
            </a:solidFill>
            <a:prstDash val="solid"/>
          </a:ln>
        </p:spPr>
      </p:sp>
      <p:sp>
        <p:nvSpPr>
          <p:cNvPr id="11" name="Text 9"/>
          <p:cNvSpPr/>
          <p:nvPr/>
        </p:nvSpPr>
        <p:spPr>
          <a:xfrm>
            <a:off x="634238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3 · WEEK 13</a:t>
            </a:r>
            <a:endParaRPr lang="en-US" sz="1200" dirty="0"/>
          </a:p>
        </p:txBody>
      </p:sp>
      <p:sp>
        <p:nvSpPr>
          <p:cNvPr id="12" name="Text 10"/>
          <p:cNvSpPr/>
          <p:nvPr/>
        </p:nvSpPr>
        <p:spPr>
          <a:xfrm>
            <a:off x="6441186" y="2448564"/>
            <a:ext cx="2139582" cy="8483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2–3 results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Detection validation results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All findings fact-checked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v3, full catalogue</a:t>
            </a:r>
            <a:endParaRPr lang="en-US" sz="1200" dirty="0"/>
          </a:p>
        </p:txBody>
      </p:sp>
      <p:sp>
        <p:nvSpPr>
          <p:cNvPr id="13" name="Shape 11"/>
          <p:cNvSpPr/>
          <p:nvPr/>
        </p:nvSpPr>
        <p:spPr>
          <a:xfrm>
            <a:off x="8836025" y="1991996"/>
            <a:ext cx="2540000" cy="3846830"/>
          </a:xfrm>
          <a:prstGeom prst="rect">
            <a:avLst/>
          </a:prstGeom>
          <a:solidFill>
            <a:srgbClr val="E6F2F0"/>
          </a:solidFill>
          <a:ln w="6350">
            <a:solidFill>
              <a:srgbClr val="B9DAD5"/>
            </a:solidFill>
            <a:prstDash val="solid"/>
          </a:ln>
        </p:spPr>
      </p:sp>
      <p:sp>
        <p:nvSpPr>
          <p:cNvPr id="14" name="Text 12"/>
          <p:cNvSpPr/>
          <p:nvPr/>
        </p:nvSpPr>
        <p:spPr>
          <a:xfrm>
            <a:off x="901573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4 · WEEKS 14–16</a:t>
            </a:r>
            <a:endParaRPr lang="en-US" sz="1200" dirty="0"/>
          </a:p>
        </p:txBody>
      </p:sp>
      <p:sp>
        <p:nvSpPr>
          <p:cNvPr id="15" name="Text 13"/>
          <p:cNvSpPr/>
          <p:nvPr/>
        </p:nvSpPr>
        <p:spPr>
          <a:xfrm>
            <a:off x="9114536" y="2448564"/>
            <a:ext cx="2139582"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Standards cross-check report</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Target baselines and target-state architecture</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Findings register and remediation roadmap</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Executive report, readiness per standard</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Handover pack to GRC</a:t>
            </a:r>
            <a:endParaRPr lang="en-US" sz="1200" dirty="0"/>
          </a:p>
        </p:txBody>
      </p:sp>
      <p:sp>
        <p:nvSpPr>
          <p:cNvPr id="16" name="Text 14"/>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17" name="Text 15"/>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C7"/>
                </a:solidFill>
                <a:latin typeface="IBM Plex Sans" pitchFamily="34" charset="0"/>
                <a:ea typeface="IBM Plex Sans" pitchFamily="34" charset="-122"/>
                <a:cs typeface="IBM Plex Sans" pitchFamily="34" charset="-120"/>
              </a:rPr>
              <a:t>08 · DECISIONS REQUESTED</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8F7F3"/>
                </a:solidFill>
                <a:latin typeface="IBM Plex Sans" pitchFamily="34" charset="0"/>
                <a:ea typeface="IBM Plex Sans" pitchFamily="34" charset="-122"/>
                <a:cs typeface="IBM Plex Sans" pitchFamily="34" charset="-120"/>
              </a:rPr>
              <a:t>Six decisions let the program start</a:t>
            </a:r>
            <a:endParaRPr lang="en-US" sz="2600" dirty="0"/>
          </a:p>
        </p:txBody>
      </p:sp>
      <p:sp>
        <p:nvSpPr>
          <p:cNvPr id="4" name="Shape 2"/>
          <p:cNvSpPr/>
          <p:nvPr/>
        </p:nvSpPr>
        <p:spPr>
          <a:xfrm>
            <a:off x="812800" y="1609092"/>
            <a:ext cx="5219700" cy="1326277"/>
          </a:xfrm>
          <a:prstGeom prst="rect">
            <a:avLst/>
          </a:prstGeom>
          <a:solidFill>
            <a:srgbClr val="1E2E4F"/>
          </a:solidFill>
          <a:ln/>
        </p:spPr>
      </p:sp>
      <p:sp>
        <p:nvSpPr>
          <p:cNvPr id="5" name="Text 3"/>
          <p:cNvSpPr/>
          <p:nvPr/>
        </p:nvSpPr>
        <p:spPr>
          <a:xfrm>
            <a:off x="1016000" y="1774192"/>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1</a:t>
            </a:r>
            <a:endParaRPr lang="en-US" sz="1800" dirty="0"/>
          </a:p>
        </p:txBody>
      </p:sp>
      <p:sp>
        <p:nvSpPr>
          <p:cNvPr id="6" name="Text 4"/>
          <p:cNvSpPr/>
          <p:nvPr/>
        </p:nvSpPr>
        <p:spPr>
          <a:xfrm>
            <a:off x="1305560" y="1774192"/>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Approve the charter, the 16-week plan, the gate criteria and a start date</a:t>
            </a:r>
            <a:endParaRPr lang="en-US" sz="1500" dirty="0"/>
          </a:p>
        </p:txBody>
      </p:sp>
      <p:sp>
        <p:nvSpPr>
          <p:cNvPr id="7" name="Shape 5"/>
          <p:cNvSpPr/>
          <p:nvPr/>
        </p:nvSpPr>
        <p:spPr>
          <a:xfrm>
            <a:off x="6159500" y="1609092"/>
            <a:ext cx="5219700" cy="1326277"/>
          </a:xfrm>
          <a:prstGeom prst="rect">
            <a:avLst/>
          </a:prstGeom>
          <a:solidFill>
            <a:srgbClr val="1E2E4F"/>
          </a:solidFill>
          <a:ln/>
        </p:spPr>
      </p:sp>
      <p:sp>
        <p:nvSpPr>
          <p:cNvPr id="8" name="Text 6"/>
          <p:cNvSpPr/>
          <p:nvPr/>
        </p:nvSpPr>
        <p:spPr>
          <a:xfrm>
            <a:off x="6362700" y="1774192"/>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2</a:t>
            </a:r>
            <a:endParaRPr lang="en-US" sz="1800" dirty="0"/>
          </a:p>
        </p:txBody>
      </p:sp>
      <p:sp>
        <p:nvSpPr>
          <p:cNvPr id="9" name="Text 7"/>
          <p:cNvSpPr/>
          <p:nvPr/>
        </p:nvSpPr>
        <p:spPr>
          <a:xfrm>
            <a:off x="6652260" y="1774192"/>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Name five workstream leads; confirm WS5 skills in Solidity, Solana and Daml</a:t>
            </a:r>
            <a:endParaRPr lang="en-US" sz="1500" dirty="0"/>
          </a:p>
        </p:txBody>
      </p:sp>
      <p:sp>
        <p:nvSpPr>
          <p:cNvPr id="10" name="Shape 8"/>
          <p:cNvSpPr/>
          <p:nvPr/>
        </p:nvSpPr>
        <p:spPr>
          <a:xfrm>
            <a:off x="812800" y="3062368"/>
            <a:ext cx="5219700" cy="1326277"/>
          </a:xfrm>
          <a:prstGeom prst="rect">
            <a:avLst/>
          </a:prstGeom>
          <a:solidFill>
            <a:srgbClr val="1E2E4F"/>
          </a:solidFill>
          <a:ln/>
        </p:spPr>
      </p:sp>
      <p:sp>
        <p:nvSpPr>
          <p:cNvPr id="11" name="Text 9"/>
          <p:cNvSpPr/>
          <p:nvPr/>
        </p:nvSpPr>
        <p:spPr>
          <a:xfrm>
            <a:off x="1016000" y="3227468"/>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3</a:t>
            </a:r>
            <a:endParaRPr lang="en-US" sz="1800" dirty="0"/>
          </a:p>
        </p:txBody>
      </p:sp>
      <p:sp>
        <p:nvSpPr>
          <p:cNvPr id="12" name="Text 10"/>
          <p:cNvSpPr/>
          <p:nvPr/>
        </p:nvSpPr>
        <p:spPr>
          <a:xfrm>
            <a:off x="1305560" y="3227468"/>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Grant read-only access in week 0: audit role, Splunk, Entra, Vault, repositories</a:t>
            </a:r>
            <a:endParaRPr lang="en-US" sz="1500" dirty="0"/>
          </a:p>
        </p:txBody>
      </p:sp>
      <p:sp>
        <p:nvSpPr>
          <p:cNvPr id="13" name="Shape 11"/>
          <p:cNvSpPr/>
          <p:nvPr/>
        </p:nvSpPr>
        <p:spPr>
          <a:xfrm>
            <a:off x="6159500" y="3062368"/>
            <a:ext cx="5219700" cy="1326277"/>
          </a:xfrm>
          <a:prstGeom prst="rect">
            <a:avLst/>
          </a:prstGeom>
          <a:solidFill>
            <a:srgbClr val="1E2E4F"/>
          </a:solidFill>
          <a:ln/>
        </p:spPr>
      </p:sp>
      <p:sp>
        <p:nvSpPr>
          <p:cNvPr id="14" name="Text 12"/>
          <p:cNvSpPr/>
          <p:nvPr/>
        </p:nvSpPr>
        <p:spPr>
          <a:xfrm>
            <a:off x="6362700" y="3227468"/>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4</a:t>
            </a:r>
            <a:endParaRPr lang="en-US" sz="1800" dirty="0"/>
          </a:p>
        </p:txBody>
      </p:sp>
      <p:sp>
        <p:nvSpPr>
          <p:cNvPr id="15" name="Text 13"/>
          <p:cNvSpPr/>
          <p:nvPr/>
        </p:nvSpPr>
        <p:spPr>
          <a:xfrm>
            <a:off x="6652260" y="3227468"/>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Confirm sizing: AWS accounts, EKS clusters and contract codebases</a:t>
            </a:r>
            <a:endParaRPr lang="en-US" sz="1500" dirty="0"/>
          </a:p>
        </p:txBody>
      </p:sp>
      <p:sp>
        <p:nvSpPr>
          <p:cNvPr id="16" name="Shape 14"/>
          <p:cNvSpPr/>
          <p:nvPr/>
        </p:nvSpPr>
        <p:spPr>
          <a:xfrm>
            <a:off x="812800" y="4515644"/>
            <a:ext cx="5219700" cy="1326356"/>
          </a:xfrm>
          <a:prstGeom prst="rect">
            <a:avLst/>
          </a:prstGeom>
          <a:solidFill>
            <a:srgbClr val="1E2E4F"/>
          </a:solidFill>
          <a:ln/>
        </p:spPr>
      </p:sp>
      <p:sp>
        <p:nvSpPr>
          <p:cNvPr id="17" name="Text 15"/>
          <p:cNvSpPr/>
          <p:nvPr/>
        </p:nvSpPr>
        <p:spPr>
          <a:xfrm>
            <a:off x="1016000" y="4680744"/>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5</a:t>
            </a:r>
            <a:endParaRPr lang="en-US" sz="1800" dirty="0"/>
          </a:p>
        </p:txBody>
      </p:sp>
      <p:sp>
        <p:nvSpPr>
          <p:cNvPr id="18" name="Text 16"/>
          <p:cNvSpPr/>
          <p:nvPr/>
        </p:nvSpPr>
        <p:spPr>
          <a:xfrm>
            <a:off x="1305560" y="4680744"/>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Confirm targets: PCI scope, MiCA and NYDFS licenses, ISO or SOC 2 goal</a:t>
            </a:r>
            <a:endParaRPr lang="en-US" sz="1500" dirty="0"/>
          </a:p>
        </p:txBody>
      </p:sp>
      <p:sp>
        <p:nvSpPr>
          <p:cNvPr id="19" name="Shape 17"/>
          <p:cNvSpPr/>
          <p:nvPr/>
        </p:nvSpPr>
        <p:spPr>
          <a:xfrm>
            <a:off x="6159500" y="4515644"/>
            <a:ext cx="5219700" cy="1326356"/>
          </a:xfrm>
          <a:prstGeom prst="rect">
            <a:avLst/>
          </a:prstGeom>
          <a:solidFill>
            <a:srgbClr val="1E2E4F"/>
          </a:solidFill>
          <a:ln/>
        </p:spPr>
      </p:sp>
      <p:sp>
        <p:nvSpPr>
          <p:cNvPr id="20" name="Text 18"/>
          <p:cNvSpPr/>
          <p:nvPr/>
        </p:nvSpPr>
        <p:spPr>
          <a:xfrm>
            <a:off x="6362700" y="4680744"/>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6</a:t>
            </a:r>
            <a:endParaRPr lang="en-US" sz="1800" dirty="0"/>
          </a:p>
        </p:txBody>
      </p:sp>
      <p:sp>
        <p:nvSpPr>
          <p:cNvPr id="21" name="Text 19"/>
          <p:cNvSpPr/>
          <p:nvPr/>
        </p:nvSpPr>
        <p:spPr>
          <a:xfrm>
            <a:off x="6652260" y="4680744"/>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Confirm the CI/CD platform and any cross-chain bridges</a:t>
            </a:r>
            <a:endParaRPr lang="en-US" sz="1500" dirty="0"/>
          </a:p>
        </p:txBody>
      </p:sp>
      <p:sp>
        <p:nvSpPr>
          <p:cNvPr id="22" name="Text 20"/>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3" name="Text 21"/>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REFERENCES 1 OF 3</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Frameworks, standards and regulations</a:t>
            </a:r>
            <a:endParaRPr lang="en-US" sz="2600" dirty="0"/>
          </a:p>
        </p:txBody>
      </p:sp>
      <p:sp>
        <p:nvSpPr>
          <p:cNvPr id="4" name="Text 2"/>
          <p:cNvSpPr/>
          <p:nvPr/>
        </p:nvSpPr>
        <p:spPr>
          <a:xfrm>
            <a:off x="812800" y="16090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CSF 2.0</a:t>
            </a:r>
            <a:r>
              <a:rPr lang="en-US" sz="1200" dirty="0">
                <a:solidFill>
                  <a:srgbClr val="3E4A5C"/>
                </a:solidFill>
                <a:latin typeface="IBM Plex Sans" pitchFamily="34" charset="0"/>
                <a:ea typeface="IBM Plex Sans" pitchFamily="34" charset="-122"/>
                <a:cs typeface="IBM Plex Sans" pitchFamily="34" charset="-120"/>
              </a:rPr>
              <a:t> · The NIST Cybersecurity Framework (CSF) 2.0, NIST CSWP 29 (2024)</a:t>
            </a:r>
            <a:endParaRPr lang="en-US" sz="1200" dirty="0"/>
          </a:p>
        </p:txBody>
      </p:sp>
      <p:sp>
        <p:nvSpPr>
          <p:cNvPr id="5" name="Shape 3"/>
          <p:cNvSpPr/>
          <p:nvPr/>
        </p:nvSpPr>
        <p:spPr>
          <a:xfrm>
            <a:off x="831850" y="1609092"/>
            <a:ext cx="0" cy="472440"/>
          </a:xfrm>
          <a:prstGeom prst="line">
            <a:avLst/>
          </a:prstGeom>
          <a:noFill/>
          <a:ln w="38100">
            <a:solidFill>
              <a:srgbClr val="1F7A6E"/>
            </a:solidFill>
            <a:prstDash val="solid"/>
          </a:ln>
        </p:spPr>
      </p:sp>
      <p:sp>
        <p:nvSpPr>
          <p:cNvPr id="6" name="Text 4"/>
          <p:cNvSpPr/>
          <p:nvPr/>
        </p:nvSpPr>
        <p:spPr>
          <a:xfrm>
            <a:off x="812800" y="2132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SP 800-53 Rev. 5</a:t>
            </a:r>
            <a:r>
              <a:rPr lang="en-US" sz="1200" dirty="0">
                <a:solidFill>
                  <a:srgbClr val="3E4A5C"/>
                </a:solidFill>
                <a:latin typeface="IBM Plex Sans" pitchFamily="34" charset="0"/>
                <a:ea typeface="IBM Plex Sans" pitchFamily="34" charset="-122"/>
                <a:cs typeface="IBM Plex Sans" pitchFamily="34" charset="-120"/>
              </a:rPr>
              <a:t> · Security and Privacy Controls for Information Systems and Organizations</a:t>
            </a:r>
            <a:endParaRPr lang="en-US" sz="1200" dirty="0"/>
          </a:p>
        </p:txBody>
      </p:sp>
      <p:sp>
        <p:nvSpPr>
          <p:cNvPr id="7" name="Shape 5"/>
          <p:cNvSpPr/>
          <p:nvPr/>
        </p:nvSpPr>
        <p:spPr>
          <a:xfrm>
            <a:off x="831850" y="2132329"/>
            <a:ext cx="0" cy="472440"/>
          </a:xfrm>
          <a:prstGeom prst="line">
            <a:avLst/>
          </a:prstGeom>
          <a:noFill/>
          <a:ln w="38100">
            <a:solidFill>
              <a:srgbClr val="1F7A6E"/>
            </a:solidFill>
            <a:prstDash val="solid"/>
          </a:ln>
        </p:spPr>
      </p:sp>
      <p:sp>
        <p:nvSpPr>
          <p:cNvPr id="8" name="Text 6"/>
          <p:cNvSpPr/>
          <p:nvPr/>
        </p:nvSpPr>
        <p:spPr>
          <a:xfrm>
            <a:off x="812800" y="2655571"/>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SP 800-61 Rev. 3</a:t>
            </a:r>
            <a:r>
              <a:rPr lang="en-US" sz="1200" dirty="0">
                <a:solidFill>
                  <a:srgbClr val="3E4A5C"/>
                </a:solidFill>
                <a:latin typeface="IBM Plex Sans" pitchFamily="34" charset="0"/>
                <a:ea typeface="IBM Plex Sans" pitchFamily="34" charset="-122"/>
                <a:cs typeface="IBM Plex Sans" pitchFamily="34" charset="-120"/>
              </a:rPr>
              <a:t> · Incident Response Recommendations and Considerations for Cybersecurity Risk Management (2025)</a:t>
            </a:r>
            <a:endParaRPr lang="en-US" sz="1200" dirty="0"/>
          </a:p>
        </p:txBody>
      </p:sp>
      <p:sp>
        <p:nvSpPr>
          <p:cNvPr id="9" name="Shape 7"/>
          <p:cNvSpPr/>
          <p:nvPr/>
        </p:nvSpPr>
        <p:spPr>
          <a:xfrm>
            <a:off x="831850" y="2655571"/>
            <a:ext cx="0" cy="472440"/>
          </a:xfrm>
          <a:prstGeom prst="line">
            <a:avLst/>
          </a:prstGeom>
          <a:noFill/>
          <a:ln w="38100">
            <a:solidFill>
              <a:srgbClr val="1F7A6E"/>
            </a:solidFill>
            <a:prstDash val="solid"/>
          </a:ln>
        </p:spPr>
      </p:sp>
      <p:sp>
        <p:nvSpPr>
          <p:cNvPr id="10" name="Text 8"/>
          <p:cNvSpPr/>
          <p:nvPr/>
        </p:nvSpPr>
        <p:spPr>
          <a:xfrm>
            <a:off x="812800" y="3178814"/>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IR 8477</a:t>
            </a:r>
            <a:r>
              <a:rPr lang="en-US" sz="1200" dirty="0">
                <a:solidFill>
                  <a:srgbClr val="3E4A5C"/>
                </a:solidFill>
                <a:latin typeface="IBM Plex Sans" pitchFamily="34" charset="0"/>
                <a:ea typeface="IBM Plex Sans" pitchFamily="34" charset="-122"/>
                <a:cs typeface="IBM Plex Sans" pitchFamily="34" charset="-120"/>
              </a:rPr>
              <a:t> · Mapping Relationships Between Documentary Standards, Regulations, Frameworks, and Guidelines</a:t>
            </a:r>
            <a:endParaRPr lang="en-US" sz="1200" dirty="0"/>
          </a:p>
        </p:txBody>
      </p:sp>
      <p:sp>
        <p:nvSpPr>
          <p:cNvPr id="11" name="Shape 9"/>
          <p:cNvSpPr/>
          <p:nvPr/>
        </p:nvSpPr>
        <p:spPr>
          <a:xfrm>
            <a:off x="831850" y="3178814"/>
            <a:ext cx="0" cy="472440"/>
          </a:xfrm>
          <a:prstGeom prst="line">
            <a:avLst/>
          </a:prstGeom>
          <a:noFill/>
          <a:ln w="38100">
            <a:solidFill>
              <a:srgbClr val="1F7A6E"/>
            </a:solidFill>
            <a:prstDash val="solid"/>
          </a:ln>
        </p:spPr>
      </p:sp>
      <p:sp>
        <p:nvSpPr>
          <p:cNvPr id="12" name="Text 10"/>
          <p:cNvSpPr/>
          <p:nvPr/>
        </p:nvSpPr>
        <p:spPr>
          <a:xfrm>
            <a:off x="812800" y="3702050"/>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ISO/IEC 27001:2022</a:t>
            </a:r>
            <a:r>
              <a:rPr lang="en-US" sz="1200" dirty="0">
                <a:solidFill>
                  <a:srgbClr val="3E4A5C"/>
                </a:solidFill>
                <a:latin typeface="IBM Plex Sans" pitchFamily="34" charset="0"/>
                <a:ea typeface="IBM Plex Sans" pitchFamily="34" charset="-122"/>
                <a:cs typeface="IBM Plex Sans" pitchFamily="34" charset="-120"/>
              </a:rPr>
              <a:t> · Information security management systems — Requirements</a:t>
            </a:r>
            <a:endParaRPr lang="en-US" sz="1200" dirty="0"/>
          </a:p>
        </p:txBody>
      </p:sp>
      <p:sp>
        <p:nvSpPr>
          <p:cNvPr id="13" name="Shape 11"/>
          <p:cNvSpPr/>
          <p:nvPr/>
        </p:nvSpPr>
        <p:spPr>
          <a:xfrm>
            <a:off x="831850" y="3702050"/>
            <a:ext cx="0" cy="472440"/>
          </a:xfrm>
          <a:prstGeom prst="line">
            <a:avLst/>
          </a:prstGeom>
          <a:noFill/>
          <a:ln w="38100">
            <a:solidFill>
              <a:srgbClr val="1F7A6E"/>
            </a:solidFill>
            <a:prstDash val="solid"/>
          </a:ln>
        </p:spPr>
      </p:sp>
      <p:sp>
        <p:nvSpPr>
          <p:cNvPr id="14" name="Text 12"/>
          <p:cNvSpPr/>
          <p:nvPr/>
        </p:nvSpPr>
        <p:spPr>
          <a:xfrm>
            <a:off x="812800" y="42252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AICPA SOC 2</a:t>
            </a:r>
            <a:r>
              <a:rPr lang="en-US" sz="1200" dirty="0">
                <a:solidFill>
                  <a:srgbClr val="3E4A5C"/>
                </a:solidFill>
                <a:latin typeface="IBM Plex Sans" pitchFamily="34" charset="0"/>
                <a:ea typeface="IBM Plex Sans" pitchFamily="34" charset="-122"/>
                <a:cs typeface="IBM Plex Sans" pitchFamily="34" charset="-120"/>
              </a:rPr>
              <a:t> · 2017 Trust Services Criteria, with revised points of focus (2022)</a:t>
            </a:r>
            <a:endParaRPr lang="en-US" sz="1200" dirty="0"/>
          </a:p>
        </p:txBody>
      </p:sp>
      <p:sp>
        <p:nvSpPr>
          <p:cNvPr id="15" name="Shape 13"/>
          <p:cNvSpPr/>
          <p:nvPr/>
        </p:nvSpPr>
        <p:spPr>
          <a:xfrm>
            <a:off x="831850" y="4225292"/>
            <a:ext cx="0" cy="472440"/>
          </a:xfrm>
          <a:prstGeom prst="line">
            <a:avLst/>
          </a:prstGeom>
          <a:noFill/>
          <a:ln w="38100">
            <a:solidFill>
              <a:srgbClr val="1F7A6E"/>
            </a:solidFill>
            <a:prstDash val="solid"/>
          </a:ln>
        </p:spPr>
      </p:sp>
      <p:sp>
        <p:nvSpPr>
          <p:cNvPr id="16" name="Text 14"/>
          <p:cNvSpPr/>
          <p:nvPr/>
        </p:nvSpPr>
        <p:spPr>
          <a:xfrm>
            <a:off x="812800" y="4748529"/>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PCI DSS v4.0.1</a:t>
            </a:r>
            <a:r>
              <a:rPr lang="en-US" sz="1200" dirty="0">
                <a:solidFill>
                  <a:srgbClr val="3E4A5C"/>
                </a:solidFill>
                <a:latin typeface="IBM Plex Sans" pitchFamily="34" charset="0"/>
                <a:ea typeface="IBM Plex Sans" pitchFamily="34" charset="-122"/>
                <a:cs typeface="IBM Plex Sans" pitchFamily="34" charset="-120"/>
              </a:rPr>
              <a:t> · Payment Card Industry Data Security Standard</a:t>
            </a:r>
            <a:endParaRPr lang="en-US" sz="1200" dirty="0"/>
          </a:p>
        </p:txBody>
      </p:sp>
      <p:sp>
        <p:nvSpPr>
          <p:cNvPr id="17" name="Shape 15"/>
          <p:cNvSpPr/>
          <p:nvPr/>
        </p:nvSpPr>
        <p:spPr>
          <a:xfrm>
            <a:off x="831850" y="4748529"/>
            <a:ext cx="0" cy="274320"/>
          </a:xfrm>
          <a:prstGeom prst="line">
            <a:avLst/>
          </a:prstGeom>
          <a:noFill/>
          <a:ln w="38100">
            <a:solidFill>
              <a:srgbClr val="1F7A6E"/>
            </a:solidFill>
            <a:prstDash val="solid"/>
          </a:ln>
        </p:spPr>
      </p:sp>
      <p:sp>
        <p:nvSpPr>
          <p:cNvPr id="18" name="Text 16"/>
          <p:cNvSpPr/>
          <p:nvPr/>
        </p:nvSpPr>
        <p:spPr>
          <a:xfrm>
            <a:off x="812800" y="5073650"/>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Controls v8.1</a:t>
            </a:r>
            <a:r>
              <a:rPr lang="en-US" sz="1200" dirty="0">
                <a:solidFill>
                  <a:srgbClr val="3E4A5C"/>
                </a:solidFill>
                <a:latin typeface="IBM Plex Sans" pitchFamily="34" charset="0"/>
                <a:ea typeface="IBM Plex Sans" pitchFamily="34" charset="-122"/>
                <a:cs typeface="IBM Plex Sans" pitchFamily="34" charset="-120"/>
              </a:rPr>
              <a:t> · CIS Critical Security Controls, version 8.1</a:t>
            </a:r>
            <a:endParaRPr lang="en-US" sz="1200" dirty="0"/>
          </a:p>
        </p:txBody>
      </p:sp>
      <p:sp>
        <p:nvSpPr>
          <p:cNvPr id="19" name="Shape 17"/>
          <p:cNvSpPr/>
          <p:nvPr/>
        </p:nvSpPr>
        <p:spPr>
          <a:xfrm>
            <a:off x="831850" y="5073650"/>
            <a:ext cx="0" cy="274320"/>
          </a:xfrm>
          <a:prstGeom prst="line">
            <a:avLst/>
          </a:prstGeom>
          <a:noFill/>
          <a:ln w="38100">
            <a:solidFill>
              <a:srgbClr val="1F7A6E"/>
            </a:solidFill>
            <a:prstDash val="solid"/>
          </a:ln>
        </p:spPr>
      </p:sp>
      <p:sp>
        <p:nvSpPr>
          <p:cNvPr id="20" name="Text 18"/>
          <p:cNvSpPr/>
          <p:nvPr/>
        </p:nvSpPr>
        <p:spPr>
          <a:xfrm>
            <a:off x="6223000" y="16090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DORA</a:t>
            </a:r>
            <a:r>
              <a:rPr lang="en-US" sz="1200" dirty="0">
                <a:solidFill>
                  <a:srgbClr val="3E4A5C"/>
                </a:solidFill>
                <a:latin typeface="IBM Plex Sans" pitchFamily="34" charset="0"/>
                <a:ea typeface="IBM Plex Sans" pitchFamily="34" charset="-122"/>
                <a:cs typeface="IBM Plex Sans" pitchFamily="34" charset="-120"/>
              </a:rPr>
              <a:t> · Regulation (EU) 2022/2554, Digital Operational Resilience Act</a:t>
            </a:r>
            <a:endParaRPr lang="en-US" sz="1200" dirty="0"/>
          </a:p>
        </p:txBody>
      </p:sp>
      <p:sp>
        <p:nvSpPr>
          <p:cNvPr id="21" name="Shape 19"/>
          <p:cNvSpPr/>
          <p:nvPr/>
        </p:nvSpPr>
        <p:spPr>
          <a:xfrm>
            <a:off x="6242050" y="1609092"/>
            <a:ext cx="0" cy="274320"/>
          </a:xfrm>
          <a:prstGeom prst="line">
            <a:avLst/>
          </a:prstGeom>
          <a:noFill/>
          <a:ln w="38100">
            <a:solidFill>
              <a:srgbClr val="1F7A6E"/>
            </a:solidFill>
            <a:prstDash val="solid"/>
          </a:ln>
        </p:spPr>
      </p:sp>
      <p:sp>
        <p:nvSpPr>
          <p:cNvPr id="22" name="Text 20"/>
          <p:cNvSpPr/>
          <p:nvPr/>
        </p:nvSpPr>
        <p:spPr>
          <a:xfrm>
            <a:off x="6223000" y="1934214"/>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MiCA</a:t>
            </a:r>
            <a:r>
              <a:rPr lang="en-US" sz="1200" dirty="0">
                <a:solidFill>
                  <a:srgbClr val="3E4A5C"/>
                </a:solidFill>
                <a:latin typeface="IBM Plex Sans" pitchFamily="34" charset="0"/>
                <a:ea typeface="IBM Plex Sans" pitchFamily="34" charset="-122"/>
                <a:cs typeface="IBM Plex Sans" pitchFamily="34" charset="-120"/>
              </a:rPr>
              <a:t> · Regulation (EU) 2023/1114, Markets in Crypto-Assets</a:t>
            </a:r>
            <a:endParaRPr lang="en-US" sz="1200" dirty="0"/>
          </a:p>
        </p:txBody>
      </p:sp>
      <p:sp>
        <p:nvSpPr>
          <p:cNvPr id="23" name="Shape 21"/>
          <p:cNvSpPr/>
          <p:nvPr/>
        </p:nvSpPr>
        <p:spPr>
          <a:xfrm>
            <a:off x="6242050" y="1934214"/>
            <a:ext cx="0" cy="274320"/>
          </a:xfrm>
          <a:prstGeom prst="line">
            <a:avLst/>
          </a:prstGeom>
          <a:noFill/>
          <a:ln w="38100">
            <a:solidFill>
              <a:srgbClr val="1F7A6E"/>
            </a:solidFill>
            <a:prstDash val="solid"/>
          </a:ln>
        </p:spPr>
      </p:sp>
      <p:sp>
        <p:nvSpPr>
          <p:cNvPr id="24" name="Text 22"/>
          <p:cNvSpPr/>
          <p:nvPr/>
        </p:nvSpPr>
        <p:spPr>
          <a:xfrm>
            <a:off x="6223000" y="2259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NYDFS Part 500</a:t>
            </a:r>
            <a:r>
              <a:rPr lang="en-US" sz="1200" dirty="0">
                <a:solidFill>
                  <a:srgbClr val="3E4A5C"/>
                </a:solidFill>
                <a:latin typeface="IBM Plex Sans" pitchFamily="34" charset="0"/>
                <a:ea typeface="IBM Plex Sans" pitchFamily="34" charset="-122"/>
                <a:cs typeface="IBM Plex Sans" pitchFamily="34" charset="-120"/>
              </a:rPr>
              <a:t> · 23 NYCRR 500, Cybersecurity Requirements for Financial Services Companies (amended 2023)</a:t>
            </a:r>
            <a:endParaRPr lang="en-US" sz="1200" dirty="0"/>
          </a:p>
        </p:txBody>
      </p:sp>
      <p:sp>
        <p:nvSpPr>
          <p:cNvPr id="25" name="Shape 23"/>
          <p:cNvSpPr/>
          <p:nvPr/>
        </p:nvSpPr>
        <p:spPr>
          <a:xfrm>
            <a:off x="6242050" y="2259329"/>
            <a:ext cx="0" cy="472440"/>
          </a:xfrm>
          <a:prstGeom prst="line">
            <a:avLst/>
          </a:prstGeom>
          <a:noFill/>
          <a:ln w="38100">
            <a:solidFill>
              <a:srgbClr val="1F7A6E"/>
            </a:solidFill>
            <a:prstDash val="solid"/>
          </a:ln>
        </p:spPr>
      </p:sp>
      <p:sp>
        <p:nvSpPr>
          <p:cNvPr id="26" name="Text 24"/>
          <p:cNvSpPr/>
          <p:nvPr/>
        </p:nvSpPr>
        <p:spPr>
          <a:xfrm>
            <a:off x="6223000" y="2782571"/>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FATF Recommendations</a:t>
            </a:r>
            <a:r>
              <a:rPr lang="en-US" sz="1200" dirty="0">
                <a:solidFill>
                  <a:srgbClr val="3E4A5C"/>
                </a:solidFill>
                <a:latin typeface="IBM Plex Sans" pitchFamily="34" charset="0"/>
                <a:ea typeface="IBM Plex Sans" pitchFamily="34" charset="-122"/>
                <a:cs typeface="IBM Plex Sans" pitchFamily="34" charset="-120"/>
              </a:rPr>
              <a:t> · R.15 (new technologies) and R.16 (wire transfers, “travel rule”)</a:t>
            </a:r>
            <a:endParaRPr lang="en-US" sz="1200" dirty="0"/>
          </a:p>
        </p:txBody>
      </p:sp>
      <p:sp>
        <p:nvSpPr>
          <p:cNvPr id="27" name="Shape 25"/>
          <p:cNvSpPr/>
          <p:nvPr/>
        </p:nvSpPr>
        <p:spPr>
          <a:xfrm>
            <a:off x="6242050" y="2782571"/>
            <a:ext cx="0" cy="472440"/>
          </a:xfrm>
          <a:prstGeom prst="line">
            <a:avLst/>
          </a:prstGeom>
          <a:noFill/>
          <a:ln w="38100">
            <a:solidFill>
              <a:srgbClr val="1F7A6E"/>
            </a:solidFill>
            <a:prstDash val="solid"/>
          </a:ln>
        </p:spPr>
      </p:sp>
      <p:sp>
        <p:nvSpPr>
          <p:cNvPr id="28" name="Text 26"/>
          <p:cNvSpPr/>
          <p:nvPr/>
        </p:nvSpPr>
        <p:spPr>
          <a:xfrm>
            <a:off x="6223000" y="3305814"/>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EU TFR</a:t>
            </a:r>
            <a:r>
              <a:rPr lang="en-US" sz="1200" dirty="0">
                <a:solidFill>
                  <a:srgbClr val="3E4A5C"/>
                </a:solidFill>
                <a:latin typeface="IBM Plex Sans" pitchFamily="34" charset="0"/>
                <a:ea typeface="IBM Plex Sans" pitchFamily="34" charset="-122"/>
                <a:cs typeface="IBM Plex Sans" pitchFamily="34" charset="-120"/>
              </a:rPr>
              <a:t> · Regulation (EU) 2023/1113, information accompanying transfers of funds and crypto-assets</a:t>
            </a:r>
            <a:endParaRPr lang="en-US" sz="1200" dirty="0"/>
          </a:p>
        </p:txBody>
      </p:sp>
      <p:sp>
        <p:nvSpPr>
          <p:cNvPr id="29" name="Shape 27"/>
          <p:cNvSpPr/>
          <p:nvPr/>
        </p:nvSpPr>
        <p:spPr>
          <a:xfrm>
            <a:off x="6242050" y="3305814"/>
            <a:ext cx="0" cy="472440"/>
          </a:xfrm>
          <a:prstGeom prst="line">
            <a:avLst/>
          </a:prstGeom>
          <a:noFill/>
          <a:ln w="38100">
            <a:solidFill>
              <a:srgbClr val="1F7A6E"/>
            </a:solidFill>
            <a:prstDash val="solid"/>
          </a:ln>
        </p:spPr>
      </p:sp>
      <p:sp>
        <p:nvSpPr>
          <p:cNvPr id="30" name="Text 28"/>
          <p:cNvSpPr/>
          <p:nvPr/>
        </p:nvSpPr>
        <p:spPr>
          <a:xfrm>
            <a:off x="6223000" y="3829050"/>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EU AMLR</a:t>
            </a:r>
            <a:r>
              <a:rPr lang="en-US" sz="1200" dirty="0">
                <a:solidFill>
                  <a:srgbClr val="3E4A5C"/>
                </a:solidFill>
                <a:latin typeface="IBM Plex Sans" pitchFamily="34" charset="0"/>
                <a:ea typeface="IBM Plex Sans" pitchFamily="34" charset="-122"/>
                <a:cs typeface="IBM Plex Sans" pitchFamily="34" charset="-120"/>
              </a:rPr>
              <a:t> · Regulation (EU) 2024/1624, anti-money laundering and countering the financing of terrorism</a:t>
            </a:r>
            <a:endParaRPr lang="en-US" sz="1200" dirty="0"/>
          </a:p>
        </p:txBody>
      </p:sp>
      <p:sp>
        <p:nvSpPr>
          <p:cNvPr id="31" name="Shape 29"/>
          <p:cNvSpPr/>
          <p:nvPr/>
        </p:nvSpPr>
        <p:spPr>
          <a:xfrm>
            <a:off x="6242050" y="3829050"/>
            <a:ext cx="0" cy="472440"/>
          </a:xfrm>
          <a:prstGeom prst="line">
            <a:avLst/>
          </a:prstGeom>
          <a:noFill/>
          <a:ln w="38100">
            <a:solidFill>
              <a:srgbClr val="1F7A6E"/>
            </a:solidFill>
            <a:prstDash val="solid"/>
          </a:ln>
        </p:spPr>
      </p:sp>
      <p:sp>
        <p:nvSpPr>
          <p:cNvPr id="32" name="Text 30"/>
          <p:cNvSpPr/>
          <p:nvPr/>
        </p:nvSpPr>
        <p:spPr>
          <a:xfrm>
            <a:off x="6223000" y="43522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GDPR</a:t>
            </a:r>
            <a:r>
              <a:rPr lang="en-US" sz="1200" dirty="0">
                <a:solidFill>
                  <a:srgbClr val="3E4A5C"/>
                </a:solidFill>
                <a:latin typeface="IBM Plex Sans" pitchFamily="34" charset="0"/>
                <a:ea typeface="IBM Plex Sans" pitchFamily="34" charset="-122"/>
                <a:cs typeface="IBM Plex Sans" pitchFamily="34" charset="-120"/>
              </a:rPr>
              <a:t> · Regulation (EU) 2016/679, General Data Protection Regulation</a:t>
            </a:r>
            <a:endParaRPr lang="en-US" sz="1200" dirty="0"/>
          </a:p>
        </p:txBody>
      </p:sp>
      <p:sp>
        <p:nvSpPr>
          <p:cNvPr id="33" name="Shape 31"/>
          <p:cNvSpPr/>
          <p:nvPr/>
        </p:nvSpPr>
        <p:spPr>
          <a:xfrm>
            <a:off x="6242050" y="4352292"/>
            <a:ext cx="0" cy="274320"/>
          </a:xfrm>
          <a:prstGeom prst="line">
            <a:avLst/>
          </a:prstGeom>
          <a:noFill/>
          <a:ln w="38100">
            <a:solidFill>
              <a:srgbClr val="1F7A6E"/>
            </a:solidFill>
            <a:prstDash val="solid"/>
          </a:ln>
        </p:spPr>
      </p:sp>
      <p:sp>
        <p:nvSpPr>
          <p:cNvPr id="34" name="Text 32"/>
          <p:cNvSpPr/>
          <p:nvPr/>
        </p:nvSpPr>
        <p:spPr>
          <a:xfrm>
            <a:off x="812800" y="5643879"/>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280"/>
                </a:solidFill>
                <a:latin typeface="IBM Plex Sans" pitchFamily="34" charset="0"/>
                <a:ea typeface="IBM Plex Sans" pitchFamily="34" charset="-122"/>
                <a:cs typeface="IBM Plex Sans" pitchFamily="34" charset="-120"/>
              </a:rPr>
              <a:t>PCI DSS and the regulations apply only where Legal confirms applicability. Mappings reuse the project’s Unified Blockchain Control Register.</a:t>
            </a:r>
            <a:endParaRPr lang="en-US" sz="1200" dirty="0"/>
          </a:p>
        </p:txBody>
      </p:sp>
      <p:sp>
        <p:nvSpPr>
          <p:cNvPr id="35" name="Text 33"/>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6" name="Text 34"/>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REFERENCES 2 OF 3</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Cloud, operating system and application benchmarks</a:t>
            </a:r>
            <a:endParaRPr lang="en-US" sz="2600" dirty="0"/>
          </a:p>
        </p:txBody>
      </p:sp>
      <p:sp>
        <p:nvSpPr>
          <p:cNvPr id="4" name="Text 2"/>
          <p:cNvSpPr/>
          <p:nvPr/>
        </p:nvSpPr>
        <p:spPr>
          <a:xfrm>
            <a:off x="812800" y="16090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AWS Foundations</a:t>
            </a:r>
            <a:r>
              <a:rPr lang="en-US" sz="1200" dirty="0">
                <a:solidFill>
                  <a:srgbClr val="3E4A5C"/>
                </a:solidFill>
                <a:latin typeface="IBM Plex Sans" pitchFamily="34" charset="0"/>
                <a:ea typeface="IBM Plex Sans" pitchFamily="34" charset="-122"/>
                <a:cs typeface="IBM Plex Sans" pitchFamily="34" charset="-120"/>
              </a:rPr>
              <a:t> · CIS Amazon Web Services Foundations Benchmark</a:t>
            </a:r>
            <a:endParaRPr lang="en-US" sz="1200" dirty="0"/>
          </a:p>
        </p:txBody>
      </p:sp>
      <p:sp>
        <p:nvSpPr>
          <p:cNvPr id="5" name="Shape 3"/>
          <p:cNvSpPr/>
          <p:nvPr/>
        </p:nvSpPr>
        <p:spPr>
          <a:xfrm>
            <a:off x="831850" y="1609092"/>
            <a:ext cx="0" cy="472440"/>
          </a:xfrm>
          <a:prstGeom prst="line">
            <a:avLst/>
          </a:prstGeom>
          <a:noFill/>
          <a:ln w="38100">
            <a:solidFill>
              <a:srgbClr val="1F7A6E"/>
            </a:solidFill>
            <a:prstDash val="solid"/>
          </a:ln>
        </p:spPr>
      </p:sp>
      <p:sp>
        <p:nvSpPr>
          <p:cNvPr id="6" name="Text 4"/>
          <p:cNvSpPr/>
          <p:nvPr/>
        </p:nvSpPr>
        <p:spPr>
          <a:xfrm>
            <a:off x="812800" y="2132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AWS Services</a:t>
            </a:r>
            <a:r>
              <a:rPr lang="en-US" sz="1200" dirty="0">
                <a:solidFill>
                  <a:srgbClr val="3E4A5C"/>
                </a:solidFill>
                <a:latin typeface="IBM Plex Sans" pitchFamily="34" charset="0"/>
                <a:ea typeface="IBM Plex Sans" pitchFamily="34" charset="-122"/>
                <a:cs typeface="IBM Plex Sans" pitchFamily="34" charset="-120"/>
              </a:rPr>
              <a:t> · CIS AWS Compute, Database and Storage Services Benchmarks</a:t>
            </a:r>
            <a:endParaRPr lang="en-US" sz="1200" dirty="0"/>
          </a:p>
        </p:txBody>
      </p:sp>
      <p:sp>
        <p:nvSpPr>
          <p:cNvPr id="7" name="Shape 5"/>
          <p:cNvSpPr/>
          <p:nvPr/>
        </p:nvSpPr>
        <p:spPr>
          <a:xfrm>
            <a:off x="831850" y="2132329"/>
            <a:ext cx="0" cy="472440"/>
          </a:xfrm>
          <a:prstGeom prst="line">
            <a:avLst/>
          </a:prstGeom>
          <a:noFill/>
          <a:ln w="38100">
            <a:solidFill>
              <a:srgbClr val="1F7A6E"/>
            </a:solidFill>
            <a:prstDash val="solid"/>
          </a:ln>
        </p:spPr>
      </p:sp>
      <p:sp>
        <p:nvSpPr>
          <p:cNvPr id="8" name="Text 6"/>
          <p:cNvSpPr/>
          <p:nvPr/>
        </p:nvSpPr>
        <p:spPr>
          <a:xfrm>
            <a:off x="812800" y="2655571"/>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Amazon Linux 2023</a:t>
            </a:r>
            <a:r>
              <a:rPr lang="en-US" sz="1200" dirty="0">
                <a:solidFill>
                  <a:srgbClr val="3E4A5C"/>
                </a:solidFill>
                <a:latin typeface="IBM Plex Sans" pitchFamily="34" charset="0"/>
                <a:ea typeface="IBM Plex Sans" pitchFamily="34" charset="-122"/>
                <a:cs typeface="IBM Plex Sans" pitchFamily="34" charset="-120"/>
              </a:rPr>
              <a:t> · CIS Amazon Linux 2023 Benchmark</a:t>
            </a:r>
            <a:endParaRPr lang="en-US" sz="1200" dirty="0"/>
          </a:p>
        </p:txBody>
      </p:sp>
      <p:sp>
        <p:nvSpPr>
          <p:cNvPr id="9" name="Shape 7"/>
          <p:cNvSpPr/>
          <p:nvPr/>
        </p:nvSpPr>
        <p:spPr>
          <a:xfrm>
            <a:off x="831850" y="2655571"/>
            <a:ext cx="0" cy="274320"/>
          </a:xfrm>
          <a:prstGeom prst="line">
            <a:avLst/>
          </a:prstGeom>
          <a:noFill/>
          <a:ln w="38100">
            <a:solidFill>
              <a:srgbClr val="1F7A6E"/>
            </a:solidFill>
            <a:prstDash val="solid"/>
          </a:ln>
        </p:spPr>
      </p:sp>
      <p:sp>
        <p:nvSpPr>
          <p:cNvPr id="10" name="Text 8"/>
          <p:cNvSpPr/>
          <p:nvPr/>
        </p:nvSpPr>
        <p:spPr>
          <a:xfrm>
            <a:off x="812800" y="29806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Amazon EKS</a:t>
            </a:r>
            <a:r>
              <a:rPr lang="en-US" sz="1200" dirty="0">
                <a:solidFill>
                  <a:srgbClr val="3E4A5C"/>
                </a:solidFill>
                <a:latin typeface="IBM Plex Sans" pitchFamily="34" charset="0"/>
                <a:ea typeface="IBM Plex Sans" pitchFamily="34" charset="-122"/>
                <a:cs typeface="IBM Plex Sans" pitchFamily="34" charset="-120"/>
              </a:rPr>
              <a:t> · CIS Amazon Elastic Kubernetes Service (EKS) Benchmark</a:t>
            </a:r>
            <a:endParaRPr lang="en-US" sz="1200" dirty="0"/>
          </a:p>
        </p:txBody>
      </p:sp>
      <p:sp>
        <p:nvSpPr>
          <p:cNvPr id="11" name="Shape 9"/>
          <p:cNvSpPr/>
          <p:nvPr/>
        </p:nvSpPr>
        <p:spPr>
          <a:xfrm>
            <a:off x="831850" y="2980692"/>
            <a:ext cx="0" cy="472440"/>
          </a:xfrm>
          <a:prstGeom prst="line">
            <a:avLst/>
          </a:prstGeom>
          <a:noFill/>
          <a:ln w="38100">
            <a:solidFill>
              <a:srgbClr val="1F7A6E"/>
            </a:solidFill>
            <a:prstDash val="solid"/>
          </a:ln>
        </p:spPr>
      </p:sp>
      <p:sp>
        <p:nvSpPr>
          <p:cNvPr id="12" name="Text 10"/>
          <p:cNvSpPr/>
          <p:nvPr/>
        </p:nvSpPr>
        <p:spPr>
          <a:xfrm>
            <a:off x="812800" y="3503929"/>
            <a:ext cx="5156200" cy="67056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Azure Foundations v6.0.0</a:t>
            </a:r>
            <a:r>
              <a:rPr lang="en-US" sz="1200" dirty="0">
                <a:solidFill>
                  <a:srgbClr val="3E4A5C"/>
                </a:solidFill>
                <a:latin typeface="IBM Plex Sans" pitchFamily="34" charset="0"/>
                <a:ea typeface="IBM Plex Sans" pitchFamily="34" charset="-122"/>
                <a:cs typeface="IBM Plex Sans" pitchFamily="34" charset="-120"/>
              </a:rPr>
              <a:t> · CIS Microsoft Azure Foundations Benchmark; Entra ID identity and logging sections only, from the project’s Azure CIS register</a:t>
            </a:r>
            <a:endParaRPr lang="en-US" sz="1200" dirty="0"/>
          </a:p>
        </p:txBody>
      </p:sp>
      <p:sp>
        <p:nvSpPr>
          <p:cNvPr id="13" name="Shape 11"/>
          <p:cNvSpPr/>
          <p:nvPr/>
        </p:nvSpPr>
        <p:spPr>
          <a:xfrm>
            <a:off x="831850" y="3503929"/>
            <a:ext cx="0" cy="670560"/>
          </a:xfrm>
          <a:prstGeom prst="line">
            <a:avLst/>
          </a:prstGeom>
          <a:noFill/>
          <a:ln w="38100">
            <a:solidFill>
              <a:srgbClr val="1F7A6E"/>
            </a:solidFill>
            <a:prstDash val="solid"/>
          </a:ln>
        </p:spPr>
      </p:sp>
      <p:sp>
        <p:nvSpPr>
          <p:cNvPr id="14" name="Text 12"/>
          <p:cNvSpPr/>
          <p:nvPr/>
        </p:nvSpPr>
        <p:spPr>
          <a:xfrm>
            <a:off x="812800" y="4225292"/>
            <a:ext cx="5156200" cy="67056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Azure Services v2.0.0</a:t>
            </a:r>
            <a:r>
              <a:rPr lang="en-US" sz="1200" dirty="0">
                <a:solidFill>
                  <a:srgbClr val="3E4A5C"/>
                </a:solidFill>
                <a:latin typeface="IBM Plex Sans" pitchFamily="34" charset="0"/>
                <a:ea typeface="IBM Plex Sans" pitchFamily="34" charset="-122"/>
                <a:cs typeface="IBM Plex Sans" pitchFamily="34" charset="-120"/>
              </a:rPr>
              <a:t> · CIS Microsoft Azure Compute, Database and Storage Services Benchmarks; in the Azure CIS register, not applicable to this AWS estate</a:t>
            </a:r>
            <a:endParaRPr lang="en-US" sz="1200" dirty="0"/>
          </a:p>
        </p:txBody>
      </p:sp>
      <p:sp>
        <p:nvSpPr>
          <p:cNvPr id="15" name="Shape 13"/>
          <p:cNvSpPr/>
          <p:nvPr/>
        </p:nvSpPr>
        <p:spPr>
          <a:xfrm>
            <a:off x="831850" y="4225292"/>
            <a:ext cx="0" cy="670560"/>
          </a:xfrm>
          <a:prstGeom prst="line">
            <a:avLst/>
          </a:prstGeom>
          <a:noFill/>
          <a:ln w="38100">
            <a:solidFill>
              <a:srgbClr val="1F7A6E"/>
            </a:solidFill>
            <a:prstDash val="solid"/>
          </a:ln>
        </p:spPr>
      </p:sp>
      <p:sp>
        <p:nvSpPr>
          <p:cNvPr id="16" name="Text 14"/>
          <p:cNvSpPr/>
          <p:nvPr/>
        </p:nvSpPr>
        <p:spPr>
          <a:xfrm>
            <a:off x="6223000" y="16090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AWS FSBP</a:t>
            </a:r>
            <a:r>
              <a:rPr lang="en-US" sz="1200" dirty="0">
                <a:solidFill>
                  <a:srgbClr val="3E4A5C"/>
                </a:solidFill>
                <a:latin typeface="IBM Plex Sans" pitchFamily="34" charset="0"/>
                <a:ea typeface="IBM Plex Sans" pitchFamily="34" charset="-122"/>
                <a:cs typeface="IBM Plex Sans" pitchFamily="34" charset="-120"/>
              </a:rPr>
              <a:t> · AWS Foundational Security Best Practices standard (Security Hub CSPM)</a:t>
            </a:r>
            <a:endParaRPr lang="en-US" sz="1200" dirty="0"/>
          </a:p>
        </p:txBody>
      </p:sp>
      <p:sp>
        <p:nvSpPr>
          <p:cNvPr id="17" name="Shape 15"/>
          <p:cNvSpPr/>
          <p:nvPr/>
        </p:nvSpPr>
        <p:spPr>
          <a:xfrm>
            <a:off x="6242050" y="1609092"/>
            <a:ext cx="0" cy="472440"/>
          </a:xfrm>
          <a:prstGeom prst="line">
            <a:avLst/>
          </a:prstGeom>
          <a:noFill/>
          <a:ln w="38100">
            <a:solidFill>
              <a:srgbClr val="1F7A6E"/>
            </a:solidFill>
            <a:prstDash val="solid"/>
          </a:ln>
        </p:spPr>
      </p:sp>
      <p:sp>
        <p:nvSpPr>
          <p:cNvPr id="18" name="Text 16"/>
          <p:cNvSpPr/>
          <p:nvPr/>
        </p:nvSpPr>
        <p:spPr>
          <a:xfrm>
            <a:off x="6223000" y="2132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ASVS 5.0</a:t>
            </a:r>
            <a:r>
              <a:rPr lang="en-US" sz="1200" dirty="0">
                <a:solidFill>
                  <a:srgbClr val="3E4A5C"/>
                </a:solidFill>
                <a:latin typeface="IBM Plex Sans" pitchFamily="34" charset="0"/>
                <a:ea typeface="IBM Plex Sans" pitchFamily="34" charset="-122"/>
                <a:cs typeface="IBM Plex Sans" pitchFamily="34" charset="-120"/>
              </a:rPr>
              <a:t> · Application Security Verification Standard, version 5.0 (2025)</a:t>
            </a:r>
            <a:endParaRPr lang="en-US" sz="1200" dirty="0"/>
          </a:p>
        </p:txBody>
      </p:sp>
      <p:sp>
        <p:nvSpPr>
          <p:cNvPr id="19" name="Shape 17"/>
          <p:cNvSpPr/>
          <p:nvPr/>
        </p:nvSpPr>
        <p:spPr>
          <a:xfrm>
            <a:off x="6242050" y="2132329"/>
            <a:ext cx="0" cy="472440"/>
          </a:xfrm>
          <a:prstGeom prst="line">
            <a:avLst/>
          </a:prstGeom>
          <a:noFill/>
          <a:ln w="38100">
            <a:solidFill>
              <a:srgbClr val="1F7A6E"/>
            </a:solidFill>
            <a:prstDash val="solid"/>
          </a:ln>
        </p:spPr>
      </p:sp>
      <p:sp>
        <p:nvSpPr>
          <p:cNvPr id="20" name="Text 18"/>
          <p:cNvSpPr/>
          <p:nvPr/>
        </p:nvSpPr>
        <p:spPr>
          <a:xfrm>
            <a:off x="6223000" y="2655571"/>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SAMM v2</a:t>
            </a:r>
            <a:r>
              <a:rPr lang="en-US" sz="1200" dirty="0">
                <a:solidFill>
                  <a:srgbClr val="3E4A5C"/>
                </a:solidFill>
                <a:latin typeface="IBM Plex Sans" pitchFamily="34" charset="0"/>
                <a:ea typeface="IBM Plex Sans" pitchFamily="34" charset="-122"/>
                <a:cs typeface="IBM Plex Sans" pitchFamily="34" charset="-120"/>
              </a:rPr>
              <a:t> · Software Assurance Maturity Model, version 2</a:t>
            </a:r>
            <a:endParaRPr lang="en-US" sz="1200" dirty="0"/>
          </a:p>
        </p:txBody>
      </p:sp>
      <p:sp>
        <p:nvSpPr>
          <p:cNvPr id="21" name="Shape 19"/>
          <p:cNvSpPr/>
          <p:nvPr/>
        </p:nvSpPr>
        <p:spPr>
          <a:xfrm>
            <a:off x="6242050" y="2655571"/>
            <a:ext cx="0" cy="274320"/>
          </a:xfrm>
          <a:prstGeom prst="line">
            <a:avLst/>
          </a:prstGeom>
          <a:noFill/>
          <a:ln w="38100">
            <a:solidFill>
              <a:srgbClr val="1F7A6E"/>
            </a:solidFill>
            <a:prstDash val="solid"/>
          </a:ln>
        </p:spPr>
      </p:sp>
      <p:sp>
        <p:nvSpPr>
          <p:cNvPr id="22" name="Text 20"/>
          <p:cNvSpPr/>
          <p:nvPr/>
        </p:nvSpPr>
        <p:spPr>
          <a:xfrm>
            <a:off x="6223000" y="29806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SLSA v1.2</a:t>
            </a:r>
            <a:r>
              <a:rPr lang="en-US" sz="1200" dirty="0">
                <a:solidFill>
                  <a:srgbClr val="3E4A5C"/>
                </a:solidFill>
                <a:latin typeface="IBM Plex Sans" pitchFamily="34" charset="0"/>
                <a:ea typeface="IBM Plex Sans" pitchFamily="34" charset="-122"/>
                <a:cs typeface="IBM Plex Sans" pitchFamily="34" charset="-120"/>
              </a:rPr>
              <a:t> · Supply-chain Levels for Software Artifacts, Build track</a:t>
            </a:r>
            <a:endParaRPr lang="en-US" sz="1200" dirty="0"/>
          </a:p>
        </p:txBody>
      </p:sp>
      <p:sp>
        <p:nvSpPr>
          <p:cNvPr id="23" name="Shape 21"/>
          <p:cNvSpPr/>
          <p:nvPr/>
        </p:nvSpPr>
        <p:spPr>
          <a:xfrm>
            <a:off x="6242050" y="2980692"/>
            <a:ext cx="0" cy="274320"/>
          </a:xfrm>
          <a:prstGeom prst="line">
            <a:avLst/>
          </a:prstGeom>
          <a:noFill/>
          <a:ln w="38100">
            <a:solidFill>
              <a:srgbClr val="1F7A6E"/>
            </a:solidFill>
            <a:prstDash val="solid"/>
          </a:ln>
        </p:spPr>
      </p:sp>
      <p:sp>
        <p:nvSpPr>
          <p:cNvPr id="24" name="Text 22"/>
          <p:cNvSpPr/>
          <p:nvPr/>
        </p:nvSpPr>
        <p:spPr>
          <a:xfrm>
            <a:off x="6223000" y="3305814"/>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MITRE ATT&amp;CK</a:t>
            </a:r>
            <a:r>
              <a:rPr lang="en-US" sz="1200" dirty="0">
                <a:solidFill>
                  <a:srgbClr val="3E4A5C"/>
                </a:solidFill>
                <a:latin typeface="IBM Plex Sans" pitchFamily="34" charset="0"/>
                <a:ea typeface="IBM Plex Sans" pitchFamily="34" charset="-122"/>
                <a:cs typeface="IBM Plex Sans" pitchFamily="34" charset="-120"/>
              </a:rPr>
              <a:t> · Enterprise matrix, including the Cloud and Containers platforms</a:t>
            </a:r>
            <a:endParaRPr lang="en-US" sz="1200" dirty="0"/>
          </a:p>
        </p:txBody>
      </p:sp>
      <p:sp>
        <p:nvSpPr>
          <p:cNvPr id="25" name="Shape 23"/>
          <p:cNvSpPr/>
          <p:nvPr/>
        </p:nvSpPr>
        <p:spPr>
          <a:xfrm>
            <a:off x="6242050" y="3305814"/>
            <a:ext cx="0" cy="472440"/>
          </a:xfrm>
          <a:prstGeom prst="line">
            <a:avLst/>
          </a:prstGeom>
          <a:noFill/>
          <a:ln w="38100">
            <a:solidFill>
              <a:srgbClr val="1F7A6E"/>
            </a:solidFill>
            <a:prstDash val="solid"/>
          </a:ln>
        </p:spPr>
      </p:sp>
      <p:sp>
        <p:nvSpPr>
          <p:cNvPr id="26" name="Text 24"/>
          <p:cNvSpPr/>
          <p:nvPr/>
        </p:nvSpPr>
        <p:spPr>
          <a:xfrm>
            <a:off x="812800" y="5643879"/>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280"/>
                </a:solidFill>
                <a:latin typeface="IBM Plex Sans" pitchFamily="34" charset="0"/>
                <a:ea typeface="IBM Plex Sans" pitchFamily="34" charset="-122"/>
                <a:cs typeface="IBM Plex Sans" pitchFamily="34" charset="-120"/>
              </a:rPr>
              <a:t>CIS Benchmark versions are confirmed and pinned in the crosswalk register at gate 1.</a:t>
            </a:r>
            <a:endParaRPr lang="en-US" sz="1200" dirty="0"/>
          </a:p>
        </p:txBody>
      </p:sp>
      <p:sp>
        <p:nvSpPr>
          <p:cNvPr id="27" name="Text 25"/>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8" name="Text 26"/>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REFERENCES 3 OF 3</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Blockchain and smart-contract standards</a:t>
            </a:r>
            <a:endParaRPr lang="en-US" sz="2600" dirty="0"/>
          </a:p>
        </p:txBody>
      </p:sp>
      <p:sp>
        <p:nvSpPr>
          <p:cNvPr id="4" name="Text 2"/>
          <p:cNvSpPr/>
          <p:nvPr/>
        </p:nvSpPr>
        <p:spPr>
          <a:xfrm>
            <a:off x="812800" y="16090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NOS v2</a:t>
            </a:r>
            <a:r>
              <a:rPr lang="en-US" sz="1200" dirty="0">
                <a:solidFill>
                  <a:srgbClr val="3E4A5C"/>
                </a:solidFill>
                <a:latin typeface="IBM Plex Sans" pitchFamily="34" charset="0"/>
                <a:ea typeface="IBM Plex Sans" pitchFamily="34" charset="-122"/>
                <a:cs typeface="IBM Plex Sans" pitchFamily="34" charset="-120"/>
              </a:rPr>
              <a:t> · Node Operation Standard</a:t>
            </a:r>
            <a:endParaRPr lang="en-US" sz="1200" dirty="0"/>
          </a:p>
        </p:txBody>
      </p:sp>
      <p:sp>
        <p:nvSpPr>
          <p:cNvPr id="5" name="Shape 3"/>
          <p:cNvSpPr/>
          <p:nvPr/>
        </p:nvSpPr>
        <p:spPr>
          <a:xfrm>
            <a:off x="831850" y="1609092"/>
            <a:ext cx="0" cy="274320"/>
          </a:xfrm>
          <a:prstGeom prst="line">
            <a:avLst/>
          </a:prstGeom>
          <a:noFill/>
          <a:ln w="38100">
            <a:solidFill>
              <a:srgbClr val="1F7A6E"/>
            </a:solidFill>
            <a:prstDash val="solid"/>
          </a:ln>
        </p:spPr>
      </p:sp>
      <p:sp>
        <p:nvSpPr>
          <p:cNvPr id="6" name="Text 4"/>
          <p:cNvSpPr/>
          <p:nvPr/>
        </p:nvSpPr>
        <p:spPr>
          <a:xfrm>
            <a:off x="812800" y="1934208"/>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TIS v1</a:t>
            </a:r>
            <a:r>
              <a:rPr lang="en-US" sz="1200" dirty="0">
                <a:solidFill>
                  <a:srgbClr val="3E4A5C"/>
                </a:solidFill>
                <a:latin typeface="IBM Plex Sans" pitchFamily="34" charset="0"/>
                <a:ea typeface="IBM Plex Sans" pitchFamily="34" charset="-122"/>
                <a:cs typeface="IBM Plex Sans" pitchFamily="34" charset="-120"/>
              </a:rPr>
              <a:t> · Token Integration Standard</a:t>
            </a:r>
            <a:endParaRPr lang="en-US" sz="1200" dirty="0"/>
          </a:p>
        </p:txBody>
      </p:sp>
      <p:sp>
        <p:nvSpPr>
          <p:cNvPr id="7" name="Shape 5"/>
          <p:cNvSpPr/>
          <p:nvPr/>
        </p:nvSpPr>
        <p:spPr>
          <a:xfrm>
            <a:off x="831850" y="1934208"/>
            <a:ext cx="0" cy="274320"/>
          </a:xfrm>
          <a:prstGeom prst="line">
            <a:avLst/>
          </a:prstGeom>
          <a:noFill/>
          <a:ln w="38100">
            <a:solidFill>
              <a:srgbClr val="1F7A6E"/>
            </a:solidFill>
            <a:prstDash val="solid"/>
          </a:ln>
        </p:spPr>
      </p:sp>
      <p:sp>
        <p:nvSpPr>
          <p:cNvPr id="8" name="Text 6"/>
          <p:cNvSpPr/>
          <p:nvPr/>
        </p:nvSpPr>
        <p:spPr>
          <a:xfrm>
            <a:off x="812800" y="2259335"/>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KMS v1</a:t>
            </a:r>
            <a:r>
              <a:rPr lang="en-US" sz="1200" dirty="0">
                <a:solidFill>
                  <a:srgbClr val="3E4A5C"/>
                </a:solidFill>
                <a:latin typeface="IBM Plex Sans" pitchFamily="34" charset="0"/>
                <a:ea typeface="IBM Plex Sans" pitchFamily="34" charset="-122"/>
                <a:cs typeface="IBM Plex Sans" pitchFamily="34" charset="-120"/>
              </a:rPr>
              <a:t> · Key Management Standard</a:t>
            </a:r>
            <a:endParaRPr lang="en-US" sz="1200" dirty="0"/>
          </a:p>
        </p:txBody>
      </p:sp>
      <p:sp>
        <p:nvSpPr>
          <p:cNvPr id="9" name="Shape 7"/>
          <p:cNvSpPr/>
          <p:nvPr/>
        </p:nvSpPr>
        <p:spPr>
          <a:xfrm>
            <a:off x="831850" y="2259335"/>
            <a:ext cx="0" cy="274320"/>
          </a:xfrm>
          <a:prstGeom prst="line">
            <a:avLst/>
          </a:prstGeom>
          <a:noFill/>
          <a:ln w="38100">
            <a:solidFill>
              <a:srgbClr val="1F7A6E"/>
            </a:solidFill>
            <a:prstDash val="solid"/>
          </a:ln>
        </p:spPr>
      </p:sp>
      <p:sp>
        <p:nvSpPr>
          <p:cNvPr id="10" name="Text 8"/>
          <p:cNvSpPr/>
          <p:nvPr/>
        </p:nvSpPr>
        <p:spPr>
          <a:xfrm>
            <a:off x="812800" y="2584450"/>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SCS v1</a:t>
            </a:r>
            <a:r>
              <a:rPr lang="en-US" sz="1200" dirty="0">
                <a:solidFill>
                  <a:srgbClr val="3E4A5C"/>
                </a:solidFill>
                <a:latin typeface="IBM Plex Sans" pitchFamily="34" charset="0"/>
                <a:ea typeface="IBM Plex Sans" pitchFamily="34" charset="-122"/>
                <a:cs typeface="IBM Plex Sans" pitchFamily="34" charset="-120"/>
              </a:rPr>
              <a:t> · Smart Contract Security Standard</a:t>
            </a:r>
            <a:endParaRPr lang="en-US" sz="1200" dirty="0"/>
          </a:p>
        </p:txBody>
      </p:sp>
      <p:sp>
        <p:nvSpPr>
          <p:cNvPr id="11" name="Shape 9"/>
          <p:cNvSpPr/>
          <p:nvPr/>
        </p:nvSpPr>
        <p:spPr>
          <a:xfrm>
            <a:off x="831850" y="2584450"/>
            <a:ext cx="0" cy="274320"/>
          </a:xfrm>
          <a:prstGeom prst="line">
            <a:avLst/>
          </a:prstGeom>
          <a:noFill/>
          <a:ln w="38100">
            <a:solidFill>
              <a:srgbClr val="1F7A6E"/>
            </a:solidFill>
            <a:prstDash val="solid"/>
          </a:ln>
        </p:spPr>
      </p:sp>
      <p:sp>
        <p:nvSpPr>
          <p:cNvPr id="12" name="Text 10"/>
          <p:cNvSpPr/>
          <p:nvPr/>
        </p:nvSpPr>
        <p:spPr>
          <a:xfrm>
            <a:off x="812800" y="2909577"/>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GSP v2</a:t>
            </a:r>
            <a:r>
              <a:rPr lang="en-US" sz="1200" dirty="0">
                <a:solidFill>
                  <a:srgbClr val="3E4A5C"/>
                </a:solidFill>
                <a:latin typeface="IBM Plex Sans" pitchFamily="34" charset="0"/>
                <a:ea typeface="IBM Plex Sans" pitchFamily="34" charset="-122"/>
                <a:cs typeface="IBM Plex Sans" pitchFamily="34" charset="-120"/>
              </a:rPr>
              <a:t> · General Security and Privacy Guidelines</a:t>
            </a:r>
            <a:endParaRPr lang="en-US" sz="1200" dirty="0"/>
          </a:p>
        </p:txBody>
      </p:sp>
      <p:sp>
        <p:nvSpPr>
          <p:cNvPr id="13" name="Shape 11"/>
          <p:cNvSpPr/>
          <p:nvPr/>
        </p:nvSpPr>
        <p:spPr>
          <a:xfrm>
            <a:off x="831850" y="2909577"/>
            <a:ext cx="0" cy="274320"/>
          </a:xfrm>
          <a:prstGeom prst="line">
            <a:avLst/>
          </a:prstGeom>
          <a:noFill/>
          <a:ln w="38100">
            <a:solidFill>
              <a:srgbClr val="1F7A6E"/>
            </a:solidFill>
            <a:prstDash val="solid"/>
          </a:ln>
        </p:spPr>
      </p:sp>
      <p:sp>
        <p:nvSpPr>
          <p:cNvPr id="14" name="Text 12"/>
          <p:cNvSpPr/>
          <p:nvPr/>
        </p:nvSpPr>
        <p:spPr>
          <a:xfrm>
            <a:off x="812800" y="32346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SCSVS</a:t>
            </a:r>
            <a:r>
              <a:rPr lang="en-US" sz="1200" dirty="0">
                <a:solidFill>
                  <a:srgbClr val="3E4A5C"/>
                </a:solidFill>
                <a:latin typeface="IBM Plex Sans" pitchFamily="34" charset="0"/>
                <a:ea typeface="IBM Plex Sans" pitchFamily="34" charset="-122"/>
                <a:cs typeface="IBM Plex Sans" pitchFamily="34" charset="-120"/>
              </a:rPr>
              <a:t> · Smart Contract Security Verification Standard</a:t>
            </a:r>
            <a:endParaRPr lang="en-US" sz="1200" dirty="0"/>
          </a:p>
        </p:txBody>
      </p:sp>
      <p:sp>
        <p:nvSpPr>
          <p:cNvPr id="15" name="Shape 13"/>
          <p:cNvSpPr/>
          <p:nvPr/>
        </p:nvSpPr>
        <p:spPr>
          <a:xfrm>
            <a:off x="831850" y="3234692"/>
            <a:ext cx="0" cy="274320"/>
          </a:xfrm>
          <a:prstGeom prst="line">
            <a:avLst/>
          </a:prstGeom>
          <a:noFill/>
          <a:ln w="38100">
            <a:solidFill>
              <a:srgbClr val="1F7A6E"/>
            </a:solidFill>
            <a:prstDash val="solid"/>
          </a:ln>
        </p:spPr>
      </p:sp>
      <p:sp>
        <p:nvSpPr>
          <p:cNvPr id="16" name="Text 14"/>
          <p:cNvSpPr/>
          <p:nvPr/>
        </p:nvSpPr>
        <p:spPr>
          <a:xfrm>
            <a:off x="6223000" y="16090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SC Top 10 (2026)</a:t>
            </a:r>
            <a:r>
              <a:rPr lang="en-US" sz="1200" dirty="0">
                <a:solidFill>
                  <a:srgbClr val="3E4A5C"/>
                </a:solidFill>
                <a:latin typeface="IBM Plex Sans" pitchFamily="34" charset="0"/>
                <a:ea typeface="IBM Plex Sans" pitchFamily="34" charset="-122"/>
                <a:cs typeface="IBM Plex Sans" pitchFamily="34" charset="-120"/>
              </a:rPr>
              <a:t> · Smart Contract Top 10</a:t>
            </a:r>
            <a:endParaRPr lang="en-US" sz="1200" dirty="0"/>
          </a:p>
        </p:txBody>
      </p:sp>
      <p:sp>
        <p:nvSpPr>
          <p:cNvPr id="17" name="Shape 15"/>
          <p:cNvSpPr/>
          <p:nvPr/>
        </p:nvSpPr>
        <p:spPr>
          <a:xfrm>
            <a:off x="6242050" y="1609092"/>
            <a:ext cx="0" cy="274320"/>
          </a:xfrm>
          <a:prstGeom prst="line">
            <a:avLst/>
          </a:prstGeom>
          <a:noFill/>
          <a:ln w="38100">
            <a:solidFill>
              <a:srgbClr val="1F7A6E"/>
            </a:solidFill>
            <a:prstDash val="solid"/>
          </a:ln>
        </p:spPr>
      </p:sp>
      <p:sp>
        <p:nvSpPr>
          <p:cNvPr id="18" name="Text 16"/>
          <p:cNvSpPr/>
          <p:nvPr/>
        </p:nvSpPr>
        <p:spPr>
          <a:xfrm>
            <a:off x="6223000" y="1934208"/>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Web3 Top 15</a:t>
            </a:r>
            <a:r>
              <a:rPr lang="en-US" sz="1200" dirty="0">
                <a:solidFill>
                  <a:srgbClr val="3E4A5C"/>
                </a:solidFill>
                <a:latin typeface="IBM Plex Sans" pitchFamily="34" charset="0"/>
                <a:ea typeface="IBM Plex Sans" pitchFamily="34" charset="-122"/>
                <a:cs typeface="IBM Plex Sans" pitchFamily="34" charset="-120"/>
              </a:rPr>
              <a:t> · Web3 Attack Vectors Top 15 (WA01–WA15), published alongside the SC Top 10</a:t>
            </a:r>
            <a:endParaRPr lang="en-US" sz="1200" dirty="0"/>
          </a:p>
        </p:txBody>
      </p:sp>
      <p:sp>
        <p:nvSpPr>
          <p:cNvPr id="19" name="Shape 17"/>
          <p:cNvSpPr/>
          <p:nvPr/>
        </p:nvSpPr>
        <p:spPr>
          <a:xfrm>
            <a:off x="6242050" y="1934208"/>
            <a:ext cx="0" cy="472440"/>
          </a:xfrm>
          <a:prstGeom prst="line">
            <a:avLst/>
          </a:prstGeom>
          <a:noFill/>
          <a:ln w="38100">
            <a:solidFill>
              <a:srgbClr val="1F7A6E"/>
            </a:solidFill>
            <a:prstDash val="solid"/>
          </a:ln>
        </p:spPr>
      </p:sp>
      <p:sp>
        <p:nvSpPr>
          <p:cNvPr id="20" name="Text 18"/>
          <p:cNvSpPr/>
          <p:nvPr/>
        </p:nvSpPr>
        <p:spPr>
          <a:xfrm>
            <a:off x="6223000" y="2457450"/>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EthTrust Security Levels</a:t>
            </a:r>
            <a:r>
              <a:rPr lang="en-US" sz="1200" dirty="0">
                <a:solidFill>
                  <a:srgbClr val="3E4A5C"/>
                </a:solidFill>
                <a:latin typeface="IBM Plex Sans" pitchFamily="34" charset="0"/>
                <a:ea typeface="IBM Plex Sans" pitchFamily="34" charset="-122"/>
                <a:cs typeface="IBM Plex Sans" pitchFamily="34" charset="-120"/>
              </a:rPr>
              <a:t> · EEA EthTrust Security Levels Specification; now with the W3C EthTrust Community Group</a:t>
            </a:r>
            <a:endParaRPr lang="en-US" sz="1200" dirty="0"/>
          </a:p>
        </p:txBody>
      </p:sp>
      <p:sp>
        <p:nvSpPr>
          <p:cNvPr id="21" name="Shape 19"/>
          <p:cNvSpPr/>
          <p:nvPr/>
        </p:nvSpPr>
        <p:spPr>
          <a:xfrm>
            <a:off x="6242050" y="2457450"/>
            <a:ext cx="0" cy="472440"/>
          </a:xfrm>
          <a:prstGeom prst="line">
            <a:avLst/>
          </a:prstGeom>
          <a:noFill/>
          <a:ln w="38100">
            <a:solidFill>
              <a:srgbClr val="1F7A6E"/>
            </a:solidFill>
            <a:prstDash val="solid"/>
          </a:ln>
        </p:spPr>
      </p:sp>
      <p:sp>
        <p:nvSpPr>
          <p:cNvPr id="22" name="Text 20"/>
          <p:cNvSpPr/>
          <p:nvPr/>
        </p:nvSpPr>
        <p:spPr>
          <a:xfrm>
            <a:off x="6223000" y="29806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SEAL Frameworks</a:t>
            </a:r>
            <a:r>
              <a:rPr lang="en-US" sz="1200" dirty="0">
                <a:solidFill>
                  <a:srgbClr val="3E4A5C"/>
                </a:solidFill>
                <a:latin typeface="IBM Plex Sans" pitchFamily="34" charset="0"/>
                <a:ea typeface="IBM Plex Sans" pitchFamily="34" charset="-122"/>
                <a:cs typeface="IBM Plex Sans" pitchFamily="34" charset="-120"/>
              </a:rPr>
              <a:t> · Security Alliance frameworks: multisig, treasury, wallet, incident and operational security</a:t>
            </a:r>
            <a:endParaRPr lang="en-US" sz="1200" dirty="0"/>
          </a:p>
        </p:txBody>
      </p:sp>
      <p:sp>
        <p:nvSpPr>
          <p:cNvPr id="23" name="Shape 21"/>
          <p:cNvSpPr/>
          <p:nvPr/>
        </p:nvSpPr>
        <p:spPr>
          <a:xfrm>
            <a:off x="6242050" y="2980692"/>
            <a:ext cx="0" cy="472440"/>
          </a:xfrm>
          <a:prstGeom prst="line">
            <a:avLst/>
          </a:prstGeom>
          <a:noFill/>
          <a:ln w="38100">
            <a:solidFill>
              <a:srgbClr val="1F7A6E"/>
            </a:solidFill>
            <a:prstDash val="solid"/>
          </a:ln>
        </p:spPr>
      </p:sp>
      <p:sp>
        <p:nvSpPr>
          <p:cNvPr id="24" name="Text 22"/>
          <p:cNvSpPr/>
          <p:nvPr/>
        </p:nvSpPr>
        <p:spPr>
          <a:xfrm>
            <a:off x="6223000" y="3503935"/>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CCSS v9.0</a:t>
            </a:r>
            <a:r>
              <a:rPr lang="en-US" sz="1200" dirty="0">
                <a:solidFill>
                  <a:srgbClr val="3E4A5C"/>
                </a:solidFill>
                <a:latin typeface="IBM Plex Sans" pitchFamily="34" charset="0"/>
                <a:ea typeface="IBM Plex Sans" pitchFamily="34" charset="-122"/>
                <a:cs typeface="IBM Plex Sans" pitchFamily="34" charset="-120"/>
              </a:rPr>
              <a:t> · CryptoCurrency Security Standard, CryptoCurrency Certification Consortium (C4)</a:t>
            </a:r>
            <a:endParaRPr lang="en-US" sz="1200" dirty="0"/>
          </a:p>
        </p:txBody>
      </p:sp>
      <p:sp>
        <p:nvSpPr>
          <p:cNvPr id="25" name="Shape 23"/>
          <p:cNvSpPr/>
          <p:nvPr/>
        </p:nvSpPr>
        <p:spPr>
          <a:xfrm>
            <a:off x="6242050" y="3503935"/>
            <a:ext cx="0" cy="472440"/>
          </a:xfrm>
          <a:prstGeom prst="line">
            <a:avLst/>
          </a:prstGeom>
          <a:noFill/>
          <a:ln w="38100">
            <a:solidFill>
              <a:srgbClr val="1F7A6E"/>
            </a:solidFill>
            <a:prstDash val="solid"/>
          </a:ln>
        </p:spPr>
      </p:sp>
      <p:sp>
        <p:nvSpPr>
          <p:cNvPr id="26" name="Text 24"/>
          <p:cNvSpPr/>
          <p:nvPr/>
        </p:nvSpPr>
        <p:spPr>
          <a:xfrm>
            <a:off x="812800" y="5643885"/>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280"/>
                </a:solidFill>
                <a:latin typeface="IBM Plex Sans" pitchFamily="34" charset="0"/>
                <a:ea typeface="IBM Plex Sans" pitchFamily="34" charset="-122"/>
                <a:cs typeface="IBM Plex Sans" pitchFamily="34" charset="-120"/>
              </a:rPr>
              <a:t>All are mapped in the project’s Unified Blockchain Control Register: 386 controls (325 BSSC, 61 supplementary).</a:t>
            </a:r>
            <a:endParaRPr lang="en-US" sz="1200" dirty="0"/>
          </a:p>
        </p:txBody>
      </p:sp>
      <p:sp>
        <p:nvSpPr>
          <p:cNvPr id="27" name="Text 25"/>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8" name="Text 26"/>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ACRONYMS 1 OF 3</a:t>
            </a:r>
            <a:endParaRPr lang="en-US" sz="1200" dirty="0"/>
          </a:p>
        </p:txBody>
      </p:sp>
      <p:sp>
        <p:nvSpPr>
          <p:cNvPr id="3" name="Text 1"/>
          <p:cNvSpPr/>
          <p:nvPr>
            <p:ph type="title"/>
          </p:nvPr>
        </p:nvSpPr>
        <p:spPr>
          <a:xfrm>
            <a:off x="812800" y="1051558"/>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Acronyms A to E</a:t>
            </a:r>
            <a:endParaRPr lang="en-US" sz="2600" dirty="0"/>
          </a:p>
        </p:txBody>
      </p:sp>
      <p:sp>
        <p:nvSpPr>
          <p:cNvPr id="4" name="Text 2"/>
          <p:cNvSpPr/>
          <p:nvPr/>
        </p:nvSpPr>
        <p:spPr>
          <a:xfrm>
            <a:off x="812800"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AC</a:t>
            </a:r>
            <a:r>
              <a:rPr lang="en-US" sz="1200" dirty="0">
                <a:solidFill>
                  <a:srgbClr val="3E4A5C"/>
                </a:solidFill>
                <a:latin typeface="IBM Plex Sans" pitchFamily="34" charset="0"/>
                <a:ea typeface="IBM Plex Sans" pitchFamily="34" charset="-122"/>
                <a:cs typeface="IBM Plex Sans" pitchFamily="34" charset="-120"/>
              </a:rPr>
              <a:t> · Access Control (SP 800-53 family)</a:t>
            </a:r>
            <a:endParaRPr lang="en-US" sz="1200" dirty="0"/>
          </a:p>
        </p:txBody>
      </p:sp>
      <p:sp>
        <p:nvSpPr>
          <p:cNvPr id="5" name="Text 3"/>
          <p:cNvSpPr/>
          <p:nvPr/>
        </p:nvSpPr>
        <p:spPr>
          <a:xfrm>
            <a:off x="812800" y="1837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AICPA</a:t>
            </a:r>
            <a:r>
              <a:rPr lang="en-US" sz="1200" dirty="0">
                <a:solidFill>
                  <a:srgbClr val="3E4A5C"/>
                </a:solidFill>
                <a:latin typeface="IBM Plex Sans" pitchFamily="34" charset="0"/>
                <a:ea typeface="IBM Plex Sans" pitchFamily="34" charset="-122"/>
                <a:cs typeface="IBM Plex Sans" pitchFamily="34" charset="-120"/>
              </a:rPr>
              <a:t> · American Institute of Certified Public Accountants</a:t>
            </a:r>
            <a:endParaRPr lang="en-US" sz="1200" dirty="0"/>
          </a:p>
        </p:txBody>
      </p:sp>
      <p:sp>
        <p:nvSpPr>
          <p:cNvPr id="6" name="Text 4"/>
          <p:cNvSpPr/>
          <p:nvPr/>
        </p:nvSpPr>
        <p:spPr>
          <a:xfrm>
            <a:off x="812800" y="2256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AMI</a:t>
            </a:r>
            <a:r>
              <a:rPr lang="en-US" sz="1200" dirty="0">
                <a:solidFill>
                  <a:srgbClr val="3E4A5C"/>
                </a:solidFill>
                <a:latin typeface="IBM Plex Sans" pitchFamily="34" charset="0"/>
                <a:ea typeface="IBM Plex Sans" pitchFamily="34" charset="-122"/>
                <a:cs typeface="IBM Plex Sans" pitchFamily="34" charset="-120"/>
              </a:rPr>
              <a:t> · Amazon Machine Image</a:t>
            </a:r>
            <a:endParaRPr lang="en-US" sz="1200" dirty="0"/>
          </a:p>
        </p:txBody>
      </p:sp>
      <p:sp>
        <p:nvSpPr>
          <p:cNvPr id="7" name="Text 5"/>
          <p:cNvSpPr/>
          <p:nvPr/>
        </p:nvSpPr>
        <p:spPr>
          <a:xfrm>
            <a:off x="812800" y="2485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API</a:t>
            </a:r>
            <a:r>
              <a:rPr lang="en-US" sz="1200" dirty="0">
                <a:solidFill>
                  <a:srgbClr val="3E4A5C"/>
                </a:solidFill>
                <a:latin typeface="IBM Plex Sans" pitchFamily="34" charset="0"/>
                <a:ea typeface="IBM Plex Sans" pitchFamily="34" charset="-122"/>
                <a:cs typeface="IBM Plex Sans" pitchFamily="34" charset="-120"/>
              </a:rPr>
              <a:t> · Application programming interface</a:t>
            </a:r>
            <a:endParaRPr lang="en-US" sz="1200" dirty="0"/>
          </a:p>
        </p:txBody>
      </p:sp>
      <p:sp>
        <p:nvSpPr>
          <p:cNvPr id="8" name="Text 6"/>
          <p:cNvSpPr/>
          <p:nvPr/>
        </p:nvSpPr>
        <p:spPr>
          <a:xfrm>
            <a:off x="812800" y="2713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AppSec</a:t>
            </a:r>
            <a:r>
              <a:rPr lang="en-US" sz="1200" dirty="0">
                <a:solidFill>
                  <a:srgbClr val="3E4A5C"/>
                </a:solidFill>
                <a:latin typeface="IBM Plex Sans" pitchFamily="34" charset="0"/>
                <a:ea typeface="IBM Plex Sans" pitchFamily="34" charset="-122"/>
                <a:cs typeface="IBM Plex Sans" pitchFamily="34" charset="-120"/>
              </a:rPr>
              <a:t> · Application security</a:t>
            </a:r>
            <a:endParaRPr lang="en-US" sz="1200" dirty="0"/>
          </a:p>
        </p:txBody>
      </p:sp>
      <p:sp>
        <p:nvSpPr>
          <p:cNvPr id="9" name="Text 7"/>
          <p:cNvSpPr/>
          <p:nvPr/>
        </p:nvSpPr>
        <p:spPr>
          <a:xfrm>
            <a:off x="812800" y="29425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ASVS</a:t>
            </a:r>
            <a:r>
              <a:rPr lang="en-US" sz="1200" dirty="0">
                <a:solidFill>
                  <a:srgbClr val="3E4A5C"/>
                </a:solidFill>
                <a:latin typeface="IBM Plex Sans" pitchFamily="34" charset="0"/>
                <a:ea typeface="IBM Plex Sans" pitchFamily="34" charset="-122"/>
                <a:cs typeface="IBM Plex Sans" pitchFamily="34" charset="-120"/>
              </a:rPr>
              <a:t> · Application Security Verification Standard (OWASP)</a:t>
            </a:r>
            <a:endParaRPr lang="en-US" sz="1200" dirty="0"/>
          </a:p>
        </p:txBody>
      </p:sp>
      <p:sp>
        <p:nvSpPr>
          <p:cNvPr id="10" name="Text 8"/>
          <p:cNvSpPr/>
          <p:nvPr/>
        </p:nvSpPr>
        <p:spPr>
          <a:xfrm>
            <a:off x="812800" y="3361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ATT&amp;CK</a:t>
            </a:r>
            <a:r>
              <a:rPr lang="en-US" sz="1200" dirty="0">
                <a:solidFill>
                  <a:srgbClr val="3E4A5C"/>
                </a:solidFill>
                <a:latin typeface="IBM Plex Sans" pitchFamily="34" charset="0"/>
                <a:ea typeface="IBM Plex Sans" pitchFamily="34" charset="-122"/>
                <a:cs typeface="IBM Plex Sans" pitchFamily="34" charset="-120"/>
              </a:rPr>
              <a:t> · Adversarial Tactics, Techniques, and Common Knowledge (MITRE)</a:t>
            </a:r>
            <a:endParaRPr lang="en-US" sz="1200" dirty="0"/>
          </a:p>
        </p:txBody>
      </p:sp>
      <p:sp>
        <p:nvSpPr>
          <p:cNvPr id="11" name="Text 9"/>
          <p:cNvSpPr/>
          <p:nvPr/>
        </p:nvSpPr>
        <p:spPr>
          <a:xfrm>
            <a:off x="812800" y="37807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AU</a:t>
            </a:r>
            <a:r>
              <a:rPr lang="en-US" sz="1200" dirty="0">
                <a:solidFill>
                  <a:srgbClr val="3E4A5C"/>
                </a:solidFill>
                <a:latin typeface="IBM Plex Sans" pitchFamily="34" charset="0"/>
                <a:ea typeface="IBM Plex Sans" pitchFamily="34" charset="-122"/>
                <a:cs typeface="IBM Plex Sans" pitchFamily="34" charset="-120"/>
              </a:rPr>
              <a:t> · Audit and Accountability (SP 800-53 family)</a:t>
            </a:r>
            <a:endParaRPr lang="en-US" sz="1200" dirty="0"/>
          </a:p>
        </p:txBody>
      </p:sp>
      <p:sp>
        <p:nvSpPr>
          <p:cNvPr id="12" name="Text 10"/>
          <p:cNvSpPr/>
          <p:nvPr/>
        </p:nvSpPr>
        <p:spPr>
          <a:xfrm>
            <a:off x="812800" y="4009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AWS</a:t>
            </a:r>
            <a:r>
              <a:rPr lang="en-US" sz="1200" dirty="0">
                <a:solidFill>
                  <a:srgbClr val="3E4A5C"/>
                </a:solidFill>
                <a:latin typeface="IBM Plex Sans" pitchFamily="34" charset="0"/>
                <a:ea typeface="IBM Plex Sans" pitchFamily="34" charset="-122"/>
                <a:cs typeface="IBM Plex Sans" pitchFamily="34" charset="-120"/>
              </a:rPr>
              <a:t> · Amazon Web Services</a:t>
            </a:r>
            <a:endParaRPr lang="en-US" sz="1200" dirty="0"/>
          </a:p>
        </p:txBody>
      </p:sp>
      <p:sp>
        <p:nvSpPr>
          <p:cNvPr id="13" name="Text 11"/>
          <p:cNvSpPr/>
          <p:nvPr/>
        </p:nvSpPr>
        <p:spPr>
          <a:xfrm>
            <a:off x="812800" y="42379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Azure AD B2C</a:t>
            </a:r>
            <a:r>
              <a:rPr lang="en-US" sz="1200" dirty="0">
                <a:solidFill>
                  <a:srgbClr val="3E4A5C"/>
                </a:solidFill>
                <a:latin typeface="IBM Plex Sans" pitchFamily="34" charset="0"/>
                <a:ea typeface="IBM Plex Sans" pitchFamily="34" charset="-122"/>
                <a:cs typeface="IBM Plex Sans" pitchFamily="34" charset="-120"/>
              </a:rPr>
              <a:t> · Azure Active Directory Business-to-Consumer</a:t>
            </a:r>
            <a:endParaRPr lang="en-US" sz="1200" dirty="0"/>
          </a:p>
        </p:txBody>
      </p:sp>
      <p:sp>
        <p:nvSpPr>
          <p:cNvPr id="14" name="Text 12"/>
          <p:cNvSpPr/>
          <p:nvPr/>
        </p:nvSpPr>
        <p:spPr>
          <a:xfrm>
            <a:off x="812800" y="4657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BCP</a:t>
            </a:r>
            <a:r>
              <a:rPr lang="en-US" sz="1200" dirty="0">
                <a:solidFill>
                  <a:srgbClr val="3E4A5C"/>
                </a:solidFill>
                <a:latin typeface="IBM Plex Sans" pitchFamily="34" charset="0"/>
                <a:ea typeface="IBM Plex Sans" pitchFamily="34" charset="-122"/>
                <a:cs typeface="IBM Plex Sans" pitchFamily="34" charset="-120"/>
              </a:rPr>
              <a:t> · Business continuity plan</a:t>
            </a:r>
            <a:endParaRPr lang="en-US" sz="1200" dirty="0"/>
          </a:p>
        </p:txBody>
      </p:sp>
      <p:sp>
        <p:nvSpPr>
          <p:cNvPr id="15" name="Text 13"/>
          <p:cNvSpPr/>
          <p:nvPr/>
        </p:nvSpPr>
        <p:spPr>
          <a:xfrm>
            <a:off x="4411107" y="1609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BSSC</a:t>
            </a:r>
            <a:r>
              <a:rPr lang="en-US" sz="1200" dirty="0">
                <a:solidFill>
                  <a:srgbClr val="3E4A5C"/>
                </a:solidFill>
                <a:latin typeface="IBM Plex Sans" pitchFamily="34" charset="0"/>
                <a:ea typeface="IBM Plex Sans" pitchFamily="34" charset="-122"/>
                <a:cs typeface="IBM Plex Sans" pitchFamily="34" charset="-120"/>
              </a:rPr>
              <a:t> · Blockchain Security Standards Council</a:t>
            </a:r>
            <a:endParaRPr lang="en-US" sz="1200" dirty="0"/>
          </a:p>
        </p:txBody>
      </p:sp>
      <p:sp>
        <p:nvSpPr>
          <p:cNvPr id="16" name="Text 14"/>
          <p:cNvSpPr/>
          <p:nvPr/>
        </p:nvSpPr>
        <p:spPr>
          <a:xfrm>
            <a:off x="4411107" y="18376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C4</a:t>
            </a:r>
            <a:r>
              <a:rPr lang="en-US" sz="1200" dirty="0">
                <a:solidFill>
                  <a:srgbClr val="3E4A5C"/>
                </a:solidFill>
                <a:latin typeface="IBM Plex Sans" pitchFamily="34" charset="0"/>
                <a:ea typeface="IBM Plex Sans" pitchFamily="34" charset="-122"/>
                <a:cs typeface="IBM Plex Sans" pitchFamily="34" charset="-120"/>
              </a:rPr>
              <a:t> · CryptoCurrency Certification Consortium</a:t>
            </a:r>
            <a:endParaRPr lang="en-US" sz="1200" dirty="0"/>
          </a:p>
        </p:txBody>
      </p:sp>
      <p:sp>
        <p:nvSpPr>
          <p:cNvPr id="17" name="Text 15"/>
          <p:cNvSpPr/>
          <p:nvPr/>
        </p:nvSpPr>
        <p:spPr>
          <a:xfrm>
            <a:off x="4411107" y="20662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CCSS</a:t>
            </a:r>
            <a:r>
              <a:rPr lang="en-US" sz="1200" dirty="0">
                <a:solidFill>
                  <a:srgbClr val="3E4A5C"/>
                </a:solidFill>
                <a:latin typeface="IBM Plex Sans" pitchFamily="34" charset="0"/>
                <a:ea typeface="IBM Plex Sans" pitchFamily="34" charset="-122"/>
                <a:cs typeface="IBM Plex Sans" pitchFamily="34" charset="-120"/>
              </a:rPr>
              <a:t> · CryptoCurrency Security Standard</a:t>
            </a:r>
            <a:endParaRPr lang="en-US" sz="1200" dirty="0"/>
          </a:p>
        </p:txBody>
      </p:sp>
      <p:sp>
        <p:nvSpPr>
          <p:cNvPr id="18" name="Text 16"/>
          <p:cNvSpPr/>
          <p:nvPr/>
        </p:nvSpPr>
        <p:spPr>
          <a:xfrm>
            <a:off x="4411107" y="22948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a:t>
            </a:r>
            <a:r>
              <a:rPr lang="en-US" sz="1200" dirty="0">
                <a:solidFill>
                  <a:srgbClr val="3E4A5C"/>
                </a:solidFill>
                <a:latin typeface="IBM Plex Sans" pitchFamily="34" charset="0"/>
                <a:ea typeface="IBM Plex Sans" pitchFamily="34" charset="-122"/>
                <a:cs typeface="IBM Plex Sans" pitchFamily="34" charset="-120"/>
              </a:rPr>
              <a:t> · Continuous integration</a:t>
            </a:r>
            <a:endParaRPr lang="en-US" sz="1200" dirty="0"/>
          </a:p>
        </p:txBody>
      </p:sp>
      <p:sp>
        <p:nvSpPr>
          <p:cNvPr id="19" name="Text 17"/>
          <p:cNvSpPr/>
          <p:nvPr/>
        </p:nvSpPr>
        <p:spPr>
          <a:xfrm>
            <a:off x="4411107" y="25234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CI/CD</a:t>
            </a:r>
            <a:r>
              <a:rPr lang="en-US" sz="1200" dirty="0">
                <a:solidFill>
                  <a:srgbClr val="3E4A5C"/>
                </a:solidFill>
                <a:latin typeface="IBM Plex Sans" pitchFamily="34" charset="0"/>
                <a:ea typeface="IBM Plex Sans" pitchFamily="34" charset="-122"/>
                <a:cs typeface="IBM Plex Sans" pitchFamily="34" charset="-120"/>
              </a:rPr>
              <a:t> · Continuous integration / continuous delivery</a:t>
            </a:r>
            <a:endParaRPr lang="en-US" sz="1200" dirty="0"/>
          </a:p>
        </p:txBody>
      </p:sp>
      <p:sp>
        <p:nvSpPr>
          <p:cNvPr id="20" name="Text 18"/>
          <p:cNvSpPr/>
          <p:nvPr/>
        </p:nvSpPr>
        <p:spPr>
          <a:xfrm>
            <a:off x="4411107" y="29425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CIS</a:t>
            </a:r>
            <a:r>
              <a:rPr lang="en-US" sz="1200" dirty="0">
                <a:solidFill>
                  <a:srgbClr val="3E4A5C"/>
                </a:solidFill>
                <a:latin typeface="IBM Plex Sans" pitchFamily="34" charset="0"/>
                <a:ea typeface="IBM Plex Sans" pitchFamily="34" charset="-122"/>
                <a:cs typeface="IBM Plex Sans" pitchFamily="34" charset="-120"/>
              </a:rPr>
              <a:t> · Center for Internet Security</a:t>
            </a:r>
            <a:endParaRPr lang="en-US" sz="1200" dirty="0"/>
          </a:p>
        </p:txBody>
      </p:sp>
      <p:sp>
        <p:nvSpPr>
          <p:cNvPr id="21" name="Text 19"/>
          <p:cNvSpPr/>
          <p:nvPr/>
        </p:nvSpPr>
        <p:spPr>
          <a:xfrm>
            <a:off x="4411107" y="31711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CISO</a:t>
            </a:r>
            <a:r>
              <a:rPr lang="en-US" sz="1200" dirty="0">
                <a:solidFill>
                  <a:srgbClr val="3E4A5C"/>
                </a:solidFill>
                <a:latin typeface="IBM Plex Sans" pitchFamily="34" charset="0"/>
                <a:ea typeface="IBM Plex Sans" pitchFamily="34" charset="-122"/>
                <a:cs typeface="IBM Plex Sans" pitchFamily="34" charset="-120"/>
              </a:rPr>
              <a:t> · Chief Information Security Officer</a:t>
            </a:r>
            <a:endParaRPr lang="en-US" sz="1200" dirty="0"/>
          </a:p>
        </p:txBody>
      </p:sp>
      <p:sp>
        <p:nvSpPr>
          <p:cNvPr id="22" name="Text 20"/>
          <p:cNvSpPr/>
          <p:nvPr/>
        </p:nvSpPr>
        <p:spPr>
          <a:xfrm>
            <a:off x="4411107" y="33997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CM</a:t>
            </a:r>
            <a:r>
              <a:rPr lang="en-US" sz="1200" dirty="0">
                <a:solidFill>
                  <a:srgbClr val="3E4A5C"/>
                </a:solidFill>
                <a:latin typeface="IBM Plex Sans" pitchFamily="34" charset="0"/>
                <a:ea typeface="IBM Plex Sans" pitchFamily="34" charset="-122"/>
                <a:cs typeface="IBM Plex Sans" pitchFamily="34" charset="-120"/>
              </a:rPr>
              <a:t> · Configuration Management (SP 800-53 family)</a:t>
            </a:r>
            <a:endParaRPr lang="en-US" sz="1200" dirty="0"/>
          </a:p>
        </p:txBody>
      </p:sp>
      <p:sp>
        <p:nvSpPr>
          <p:cNvPr id="23" name="Text 21"/>
          <p:cNvSpPr/>
          <p:nvPr/>
        </p:nvSpPr>
        <p:spPr>
          <a:xfrm>
            <a:off x="4411107" y="38188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CSF</a:t>
            </a:r>
            <a:r>
              <a:rPr lang="en-US" sz="1200" dirty="0">
                <a:solidFill>
                  <a:srgbClr val="3E4A5C"/>
                </a:solidFill>
                <a:latin typeface="IBM Plex Sans" pitchFamily="34" charset="0"/>
                <a:ea typeface="IBM Plex Sans" pitchFamily="34" charset="-122"/>
                <a:cs typeface="IBM Plex Sans" pitchFamily="34" charset="-120"/>
              </a:rPr>
              <a:t> · Cybersecurity Framework (NIST)</a:t>
            </a:r>
            <a:endParaRPr lang="en-US" sz="1200" dirty="0"/>
          </a:p>
        </p:txBody>
      </p:sp>
      <p:sp>
        <p:nvSpPr>
          <p:cNvPr id="24" name="Text 22"/>
          <p:cNvSpPr/>
          <p:nvPr/>
        </p:nvSpPr>
        <p:spPr>
          <a:xfrm>
            <a:off x="4411107" y="40474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CSPM</a:t>
            </a:r>
            <a:r>
              <a:rPr lang="en-US" sz="1200" dirty="0">
                <a:solidFill>
                  <a:srgbClr val="3E4A5C"/>
                </a:solidFill>
                <a:latin typeface="IBM Plex Sans" pitchFamily="34" charset="0"/>
                <a:ea typeface="IBM Plex Sans" pitchFamily="34" charset="-122"/>
                <a:cs typeface="IBM Plex Sans" pitchFamily="34" charset="-120"/>
              </a:rPr>
              <a:t> · Cloud security posture management</a:t>
            </a:r>
            <a:endParaRPr lang="en-US" sz="1200" dirty="0"/>
          </a:p>
        </p:txBody>
      </p:sp>
      <p:sp>
        <p:nvSpPr>
          <p:cNvPr id="25" name="Text 23"/>
          <p:cNvSpPr/>
          <p:nvPr/>
        </p:nvSpPr>
        <p:spPr>
          <a:xfrm>
            <a:off x="4411107" y="4276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CSWP</a:t>
            </a:r>
            <a:r>
              <a:rPr lang="en-US" sz="1200" dirty="0">
                <a:solidFill>
                  <a:srgbClr val="3E4A5C"/>
                </a:solidFill>
                <a:latin typeface="IBM Plex Sans" pitchFamily="34" charset="0"/>
                <a:ea typeface="IBM Plex Sans" pitchFamily="34" charset="-122"/>
                <a:cs typeface="IBM Plex Sans" pitchFamily="34" charset="-120"/>
              </a:rPr>
              <a:t> · Cybersecurity White Paper (NIST)</a:t>
            </a:r>
            <a:endParaRPr lang="en-US" sz="1200" dirty="0"/>
          </a:p>
        </p:txBody>
      </p:sp>
      <p:sp>
        <p:nvSpPr>
          <p:cNvPr id="26" name="Text 24"/>
          <p:cNvSpPr/>
          <p:nvPr/>
        </p:nvSpPr>
        <p:spPr>
          <a:xfrm>
            <a:off x="8009493"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dApp</a:t>
            </a:r>
            <a:r>
              <a:rPr lang="en-US" sz="1200" dirty="0">
                <a:solidFill>
                  <a:srgbClr val="3E4A5C"/>
                </a:solidFill>
                <a:latin typeface="IBM Plex Sans" pitchFamily="34" charset="0"/>
                <a:ea typeface="IBM Plex Sans" pitchFamily="34" charset="-122"/>
                <a:cs typeface="IBM Plex Sans" pitchFamily="34" charset="-120"/>
              </a:rPr>
              <a:t> · Decentralized application</a:t>
            </a:r>
            <a:endParaRPr lang="en-US" sz="1200" dirty="0"/>
          </a:p>
        </p:txBody>
      </p:sp>
      <p:sp>
        <p:nvSpPr>
          <p:cNvPr id="27" name="Text 25"/>
          <p:cNvSpPr/>
          <p:nvPr/>
        </p:nvSpPr>
        <p:spPr>
          <a:xfrm>
            <a:off x="8009493"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DAST</a:t>
            </a:r>
            <a:r>
              <a:rPr lang="en-US" sz="1200" dirty="0">
                <a:solidFill>
                  <a:srgbClr val="3E4A5C"/>
                </a:solidFill>
                <a:latin typeface="IBM Plex Sans" pitchFamily="34" charset="0"/>
                <a:ea typeface="IBM Plex Sans" pitchFamily="34" charset="-122"/>
                <a:cs typeface="IBM Plex Sans" pitchFamily="34" charset="-120"/>
              </a:rPr>
              <a:t> · Dynamic application security testing</a:t>
            </a:r>
            <a:endParaRPr lang="en-US" sz="1200" dirty="0"/>
          </a:p>
        </p:txBody>
      </p:sp>
      <p:sp>
        <p:nvSpPr>
          <p:cNvPr id="28" name="Text 26"/>
          <p:cNvSpPr/>
          <p:nvPr/>
        </p:nvSpPr>
        <p:spPr>
          <a:xfrm>
            <a:off x="8009493" y="20662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DevSecOps</a:t>
            </a:r>
            <a:r>
              <a:rPr lang="en-US" sz="1200" dirty="0">
                <a:solidFill>
                  <a:srgbClr val="3E4A5C"/>
                </a:solidFill>
                <a:latin typeface="IBM Plex Sans" pitchFamily="34" charset="0"/>
                <a:ea typeface="IBM Plex Sans" pitchFamily="34" charset="-122"/>
                <a:cs typeface="IBM Plex Sans" pitchFamily="34" charset="-120"/>
              </a:rPr>
              <a:t> · Development, security and operations</a:t>
            </a:r>
            <a:endParaRPr lang="en-US" sz="1200" dirty="0"/>
          </a:p>
        </p:txBody>
      </p:sp>
      <p:sp>
        <p:nvSpPr>
          <p:cNvPr id="29" name="Text 27"/>
          <p:cNvSpPr/>
          <p:nvPr/>
        </p:nvSpPr>
        <p:spPr>
          <a:xfrm>
            <a:off x="8009493" y="2485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DNS</a:t>
            </a:r>
            <a:r>
              <a:rPr lang="en-US" sz="1200" dirty="0">
                <a:solidFill>
                  <a:srgbClr val="3E4A5C"/>
                </a:solidFill>
                <a:latin typeface="IBM Plex Sans" pitchFamily="34" charset="0"/>
                <a:ea typeface="IBM Plex Sans" pitchFamily="34" charset="-122"/>
                <a:cs typeface="IBM Plex Sans" pitchFamily="34" charset="-120"/>
              </a:rPr>
              <a:t> · Domain Name System</a:t>
            </a:r>
            <a:endParaRPr lang="en-US" sz="1200" dirty="0"/>
          </a:p>
        </p:txBody>
      </p:sp>
      <p:sp>
        <p:nvSpPr>
          <p:cNvPr id="30" name="Text 28"/>
          <p:cNvSpPr/>
          <p:nvPr/>
        </p:nvSpPr>
        <p:spPr>
          <a:xfrm>
            <a:off x="8009493" y="2713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DORA</a:t>
            </a:r>
            <a:r>
              <a:rPr lang="en-US" sz="1200" dirty="0">
                <a:solidFill>
                  <a:srgbClr val="3E4A5C"/>
                </a:solidFill>
                <a:latin typeface="IBM Plex Sans" pitchFamily="34" charset="0"/>
                <a:ea typeface="IBM Plex Sans" pitchFamily="34" charset="-122"/>
                <a:cs typeface="IBM Plex Sans" pitchFamily="34" charset="-120"/>
              </a:rPr>
              <a:t> · Digital Operational Resilience Act (EU)</a:t>
            </a:r>
            <a:endParaRPr lang="en-US" sz="1200" dirty="0"/>
          </a:p>
        </p:txBody>
      </p:sp>
      <p:sp>
        <p:nvSpPr>
          <p:cNvPr id="31" name="Text 29"/>
          <p:cNvSpPr/>
          <p:nvPr/>
        </p:nvSpPr>
        <p:spPr>
          <a:xfrm>
            <a:off x="8009493" y="29425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DR</a:t>
            </a:r>
            <a:r>
              <a:rPr lang="en-US" sz="1200" dirty="0">
                <a:solidFill>
                  <a:srgbClr val="3E4A5C"/>
                </a:solidFill>
                <a:latin typeface="IBM Plex Sans" pitchFamily="34" charset="0"/>
                <a:ea typeface="IBM Plex Sans" pitchFamily="34" charset="-122"/>
                <a:cs typeface="IBM Plex Sans" pitchFamily="34" charset="-120"/>
              </a:rPr>
              <a:t> · Disaster recovery</a:t>
            </a:r>
            <a:endParaRPr lang="en-US" sz="1200" dirty="0"/>
          </a:p>
        </p:txBody>
      </p:sp>
      <p:sp>
        <p:nvSpPr>
          <p:cNvPr id="32" name="Text 30"/>
          <p:cNvSpPr/>
          <p:nvPr/>
        </p:nvSpPr>
        <p:spPr>
          <a:xfrm>
            <a:off x="8009493" y="31711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EBS</a:t>
            </a:r>
            <a:r>
              <a:rPr lang="en-US" sz="1200" dirty="0">
                <a:solidFill>
                  <a:srgbClr val="3E4A5C"/>
                </a:solidFill>
                <a:latin typeface="IBM Plex Sans" pitchFamily="34" charset="0"/>
                <a:ea typeface="IBM Plex Sans" pitchFamily="34" charset="-122"/>
                <a:cs typeface="IBM Plex Sans" pitchFamily="34" charset="-120"/>
              </a:rPr>
              <a:t> · Amazon Elastic Block Store</a:t>
            </a:r>
            <a:endParaRPr lang="en-US" sz="1200" dirty="0"/>
          </a:p>
        </p:txBody>
      </p:sp>
      <p:sp>
        <p:nvSpPr>
          <p:cNvPr id="33" name="Text 31"/>
          <p:cNvSpPr/>
          <p:nvPr/>
        </p:nvSpPr>
        <p:spPr>
          <a:xfrm>
            <a:off x="8009493" y="3399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EC2</a:t>
            </a:r>
            <a:r>
              <a:rPr lang="en-US" sz="1200" dirty="0">
                <a:solidFill>
                  <a:srgbClr val="3E4A5C"/>
                </a:solidFill>
                <a:latin typeface="IBM Plex Sans" pitchFamily="34" charset="0"/>
                <a:ea typeface="IBM Plex Sans" pitchFamily="34" charset="-122"/>
                <a:cs typeface="IBM Plex Sans" pitchFamily="34" charset="-120"/>
              </a:rPr>
              <a:t> · Amazon Elastic Compute Cloud</a:t>
            </a:r>
            <a:endParaRPr lang="en-US" sz="1200" dirty="0"/>
          </a:p>
        </p:txBody>
      </p:sp>
      <p:sp>
        <p:nvSpPr>
          <p:cNvPr id="34" name="Text 32"/>
          <p:cNvSpPr/>
          <p:nvPr/>
        </p:nvSpPr>
        <p:spPr>
          <a:xfrm>
            <a:off x="8009493" y="3628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ECR</a:t>
            </a:r>
            <a:r>
              <a:rPr lang="en-US" sz="1200" dirty="0">
                <a:solidFill>
                  <a:srgbClr val="3E4A5C"/>
                </a:solidFill>
                <a:latin typeface="IBM Plex Sans" pitchFamily="34" charset="0"/>
                <a:ea typeface="IBM Plex Sans" pitchFamily="34" charset="-122"/>
                <a:cs typeface="IBM Plex Sans" pitchFamily="34" charset="-120"/>
              </a:rPr>
              <a:t> · Amazon Elastic Container Registry</a:t>
            </a:r>
            <a:endParaRPr lang="en-US" sz="1200" dirty="0"/>
          </a:p>
        </p:txBody>
      </p:sp>
      <p:sp>
        <p:nvSpPr>
          <p:cNvPr id="35" name="Text 33"/>
          <p:cNvSpPr/>
          <p:nvPr/>
        </p:nvSpPr>
        <p:spPr>
          <a:xfrm>
            <a:off x="8009493" y="3856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EEA</a:t>
            </a:r>
            <a:r>
              <a:rPr lang="en-US" sz="1200" dirty="0">
                <a:solidFill>
                  <a:srgbClr val="3E4A5C"/>
                </a:solidFill>
                <a:latin typeface="IBM Plex Sans" pitchFamily="34" charset="0"/>
                <a:ea typeface="IBM Plex Sans" pitchFamily="34" charset="-122"/>
                <a:cs typeface="IBM Plex Sans" pitchFamily="34" charset="-120"/>
              </a:rPr>
              <a:t> · Enterprise Ethereum Alliance</a:t>
            </a:r>
            <a:endParaRPr lang="en-US" sz="1200" dirty="0"/>
          </a:p>
        </p:txBody>
      </p:sp>
      <p:sp>
        <p:nvSpPr>
          <p:cNvPr id="36" name="Text 34"/>
          <p:cNvSpPr/>
          <p:nvPr/>
        </p:nvSpPr>
        <p:spPr>
          <a:xfrm>
            <a:off x="8009493" y="40855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EFS</a:t>
            </a:r>
            <a:r>
              <a:rPr lang="en-US" sz="1200" dirty="0">
                <a:solidFill>
                  <a:srgbClr val="3E4A5C"/>
                </a:solidFill>
                <a:latin typeface="IBM Plex Sans" pitchFamily="34" charset="0"/>
                <a:ea typeface="IBM Plex Sans" pitchFamily="34" charset="-122"/>
                <a:cs typeface="IBM Plex Sans" pitchFamily="34" charset="-120"/>
              </a:rPr>
              <a:t> · Amazon Elastic File System</a:t>
            </a:r>
            <a:endParaRPr lang="en-US" sz="1200" dirty="0"/>
          </a:p>
        </p:txBody>
      </p:sp>
      <p:sp>
        <p:nvSpPr>
          <p:cNvPr id="37" name="Text 35"/>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8" name="Text 36"/>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ACRONYMS 2 OF 3</a:t>
            </a:r>
            <a:endParaRPr lang="en-US" sz="1200" dirty="0"/>
          </a:p>
        </p:txBody>
      </p:sp>
      <p:sp>
        <p:nvSpPr>
          <p:cNvPr id="3" name="Text 1"/>
          <p:cNvSpPr/>
          <p:nvPr>
            <p:ph type="title"/>
          </p:nvPr>
        </p:nvSpPr>
        <p:spPr>
          <a:xfrm>
            <a:off x="812800" y="1051558"/>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Acronyms E to P</a:t>
            </a:r>
            <a:endParaRPr lang="en-US" sz="2600" dirty="0"/>
          </a:p>
        </p:txBody>
      </p:sp>
      <p:sp>
        <p:nvSpPr>
          <p:cNvPr id="4" name="Text 2"/>
          <p:cNvSpPr/>
          <p:nvPr/>
        </p:nvSpPr>
        <p:spPr>
          <a:xfrm>
            <a:off x="812800"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EKS</a:t>
            </a:r>
            <a:r>
              <a:rPr lang="en-US" sz="1200" dirty="0">
                <a:solidFill>
                  <a:srgbClr val="3E4A5C"/>
                </a:solidFill>
                <a:latin typeface="IBM Plex Sans" pitchFamily="34" charset="0"/>
                <a:ea typeface="IBM Plex Sans" pitchFamily="34" charset="-122"/>
                <a:cs typeface="IBM Plex Sans" pitchFamily="34" charset="-120"/>
              </a:rPr>
              <a:t> · Amazon Elastic Kubernetes Service</a:t>
            </a:r>
            <a:endParaRPr lang="en-US" sz="1200" dirty="0"/>
          </a:p>
        </p:txBody>
      </p:sp>
      <p:sp>
        <p:nvSpPr>
          <p:cNvPr id="5" name="Text 3"/>
          <p:cNvSpPr/>
          <p:nvPr/>
        </p:nvSpPr>
        <p:spPr>
          <a:xfrm>
            <a:off x="812800"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EU</a:t>
            </a:r>
            <a:r>
              <a:rPr lang="en-US" sz="1200" dirty="0">
                <a:solidFill>
                  <a:srgbClr val="3E4A5C"/>
                </a:solidFill>
                <a:latin typeface="IBM Plex Sans" pitchFamily="34" charset="0"/>
                <a:ea typeface="IBM Plex Sans" pitchFamily="34" charset="-122"/>
                <a:cs typeface="IBM Plex Sans" pitchFamily="34" charset="-120"/>
              </a:rPr>
              <a:t> · European Union</a:t>
            </a:r>
            <a:endParaRPr lang="en-US" sz="1200" dirty="0"/>
          </a:p>
        </p:txBody>
      </p:sp>
      <p:sp>
        <p:nvSpPr>
          <p:cNvPr id="6" name="Text 4"/>
          <p:cNvSpPr/>
          <p:nvPr/>
        </p:nvSpPr>
        <p:spPr>
          <a:xfrm>
            <a:off x="812800" y="2066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EVM</a:t>
            </a:r>
            <a:r>
              <a:rPr lang="en-US" sz="1200" dirty="0">
                <a:solidFill>
                  <a:srgbClr val="3E4A5C"/>
                </a:solidFill>
                <a:latin typeface="IBM Plex Sans" pitchFamily="34" charset="0"/>
                <a:ea typeface="IBM Plex Sans" pitchFamily="34" charset="-122"/>
                <a:cs typeface="IBM Plex Sans" pitchFamily="34" charset="-120"/>
              </a:rPr>
              <a:t> · Ethereum Virtual Machine</a:t>
            </a:r>
            <a:endParaRPr lang="en-US" sz="1200" dirty="0"/>
          </a:p>
        </p:txBody>
      </p:sp>
      <p:sp>
        <p:nvSpPr>
          <p:cNvPr id="7" name="Text 5"/>
          <p:cNvSpPr/>
          <p:nvPr/>
        </p:nvSpPr>
        <p:spPr>
          <a:xfrm>
            <a:off x="812800" y="22948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FATF</a:t>
            </a:r>
            <a:r>
              <a:rPr lang="en-US" sz="1200" dirty="0">
                <a:solidFill>
                  <a:srgbClr val="3E4A5C"/>
                </a:solidFill>
                <a:latin typeface="IBM Plex Sans" pitchFamily="34" charset="0"/>
                <a:ea typeface="IBM Plex Sans" pitchFamily="34" charset="-122"/>
                <a:cs typeface="IBM Plex Sans" pitchFamily="34" charset="-120"/>
              </a:rPr>
              <a:t> · Financial Action Task Force</a:t>
            </a:r>
            <a:endParaRPr lang="en-US" sz="1200" dirty="0"/>
          </a:p>
        </p:txBody>
      </p:sp>
      <p:sp>
        <p:nvSpPr>
          <p:cNvPr id="8" name="Text 6"/>
          <p:cNvSpPr/>
          <p:nvPr/>
        </p:nvSpPr>
        <p:spPr>
          <a:xfrm>
            <a:off x="812800" y="25234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FSBP</a:t>
            </a:r>
            <a:r>
              <a:rPr lang="en-US" sz="1200" dirty="0">
                <a:solidFill>
                  <a:srgbClr val="3E4A5C"/>
                </a:solidFill>
                <a:latin typeface="IBM Plex Sans" pitchFamily="34" charset="0"/>
                <a:ea typeface="IBM Plex Sans" pitchFamily="34" charset="-122"/>
                <a:cs typeface="IBM Plex Sans" pitchFamily="34" charset="-120"/>
              </a:rPr>
              <a:t> · AWS Foundational Security Best Practices</a:t>
            </a:r>
            <a:endParaRPr lang="en-US" sz="1200" dirty="0"/>
          </a:p>
        </p:txBody>
      </p:sp>
      <p:sp>
        <p:nvSpPr>
          <p:cNvPr id="9" name="Text 7"/>
          <p:cNvSpPr/>
          <p:nvPr/>
        </p:nvSpPr>
        <p:spPr>
          <a:xfrm>
            <a:off x="812800" y="2752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G1–G4</a:t>
            </a:r>
            <a:r>
              <a:rPr lang="en-US" sz="1200" dirty="0">
                <a:solidFill>
                  <a:srgbClr val="3E4A5C"/>
                </a:solidFill>
                <a:latin typeface="IBM Plex Sans" pitchFamily="34" charset="0"/>
                <a:ea typeface="IBM Plex Sans" pitchFamily="34" charset="-122"/>
                <a:cs typeface="IBM Plex Sans" pitchFamily="34" charset="-120"/>
              </a:rPr>
              <a:t> · Program gates 1 to 4</a:t>
            </a:r>
            <a:endParaRPr lang="en-US" sz="1200" dirty="0"/>
          </a:p>
        </p:txBody>
      </p:sp>
      <p:sp>
        <p:nvSpPr>
          <p:cNvPr id="10" name="Text 8"/>
          <p:cNvSpPr/>
          <p:nvPr/>
        </p:nvSpPr>
        <p:spPr>
          <a:xfrm>
            <a:off x="812800" y="29806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GDPR</a:t>
            </a:r>
            <a:r>
              <a:rPr lang="en-US" sz="1200" dirty="0">
                <a:solidFill>
                  <a:srgbClr val="3E4A5C"/>
                </a:solidFill>
                <a:latin typeface="IBM Plex Sans" pitchFamily="34" charset="0"/>
                <a:ea typeface="IBM Plex Sans" pitchFamily="34" charset="-122"/>
                <a:cs typeface="IBM Plex Sans" pitchFamily="34" charset="-120"/>
              </a:rPr>
              <a:t> · General Data Protection Regulation (EU)</a:t>
            </a:r>
            <a:endParaRPr lang="en-US" sz="1200" dirty="0"/>
          </a:p>
        </p:txBody>
      </p:sp>
      <p:sp>
        <p:nvSpPr>
          <p:cNvPr id="11" name="Text 9"/>
          <p:cNvSpPr/>
          <p:nvPr/>
        </p:nvSpPr>
        <p:spPr>
          <a:xfrm>
            <a:off x="812800" y="3209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GRC</a:t>
            </a:r>
            <a:r>
              <a:rPr lang="en-US" sz="1200" dirty="0">
                <a:solidFill>
                  <a:srgbClr val="3E4A5C"/>
                </a:solidFill>
                <a:latin typeface="IBM Plex Sans" pitchFamily="34" charset="0"/>
                <a:ea typeface="IBM Plex Sans" pitchFamily="34" charset="-122"/>
                <a:cs typeface="IBM Plex Sans" pitchFamily="34" charset="-120"/>
              </a:rPr>
              <a:t> · Governance, risk and compliance</a:t>
            </a:r>
            <a:endParaRPr lang="en-US" sz="1200" dirty="0"/>
          </a:p>
        </p:txBody>
      </p:sp>
      <p:sp>
        <p:nvSpPr>
          <p:cNvPr id="12" name="Text 10"/>
          <p:cNvSpPr/>
          <p:nvPr/>
        </p:nvSpPr>
        <p:spPr>
          <a:xfrm>
            <a:off x="812800" y="34378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GSP</a:t>
            </a:r>
            <a:r>
              <a:rPr lang="en-US" sz="1200" dirty="0">
                <a:solidFill>
                  <a:srgbClr val="3E4A5C"/>
                </a:solidFill>
                <a:latin typeface="IBM Plex Sans" pitchFamily="34" charset="0"/>
                <a:ea typeface="IBM Plex Sans" pitchFamily="34" charset="-122"/>
                <a:cs typeface="IBM Plex Sans" pitchFamily="34" charset="-120"/>
              </a:rPr>
              <a:t> · General Security and Privacy Guidelines (BSSC)</a:t>
            </a:r>
            <a:endParaRPr lang="en-US" sz="1200" dirty="0"/>
          </a:p>
        </p:txBody>
      </p:sp>
      <p:sp>
        <p:nvSpPr>
          <p:cNvPr id="13" name="Text 11"/>
          <p:cNvSpPr/>
          <p:nvPr/>
        </p:nvSpPr>
        <p:spPr>
          <a:xfrm>
            <a:off x="812800" y="3856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HSM</a:t>
            </a:r>
            <a:r>
              <a:rPr lang="en-US" sz="1200" dirty="0">
                <a:solidFill>
                  <a:srgbClr val="3E4A5C"/>
                </a:solidFill>
                <a:latin typeface="IBM Plex Sans" pitchFamily="34" charset="0"/>
                <a:ea typeface="IBM Plex Sans" pitchFamily="34" charset="-122"/>
                <a:cs typeface="IBM Plex Sans" pitchFamily="34" charset="-120"/>
              </a:rPr>
              <a:t> · Hardware security module</a:t>
            </a:r>
            <a:endParaRPr lang="en-US" sz="1200" dirty="0"/>
          </a:p>
        </p:txBody>
      </p:sp>
      <p:sp>
        <p:nvSpPr>
          <p:cNvPr id="14" name="Text 12"/>
          <p:cNvSpPr/>
          <p:nvPr/>
        </p:nvSpPr>
        <p:spPr>
          <a:xfrm>
            <a:off x="812800" y="40855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IA</a:t>
            </a:r>
            <a:r>
              <a:rPr lang="en-US" sz="1200" dirty="0">
                <a:solidFill>
                  <a:srgbClr val="3E4A5C"/>
                </a:solidFill>
                <a:latin typeface="IBM Plex Sans" pitchFamily="34" charset="0"/>
                <a:ea typeface="IBM Plex Sans" pitchFamily="34" charset="-122"/>
                <a:cs typeface="IBM Plex Sans" pitchFamily="34" charset="-120"/>
              </a:rPr>
              <a:t> · Identification and Authentication (SP 800-53 family)</a:t>
            </a:r>
            <a:endParaRPr lang="en-US" sz="1200" dirty="0"/>
          </a:p>
        </p:txBody>
      </p:sp>
      <p:sp>
        <p:nvSpPr>
          <p:cNvPr id="15" name="Text 13"/>
          <p:cNvSpPr/>
          <p:nvPr/>
        </p:nvSpPr>
        <p:spPr>
          <a:xfrm>
            <a:off x="4411107" y="1609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IaC</a:t>
            </a:r>
            <a:r>
              <a:rPr lang="en-US" sz="1200" dirty="0">
                <a:solidFill>
                  <a:srgbClr val="3E4A5C"/>
                </a:solidFill>
                <a:latin typeface="IBM Plex Sans" pitchFamily="34" charset="0"/>
                <a:ea typeface="IBM Plex Sans" pitchFamily="34" charset="-122"/>
                <a:cs typeface="IBM Plex Sans" pitchFamily="34" charset="-120"/>
              </a:rPr>
              <a:t> · Infrastructure as code</a:t>
            </a:r>
            <a:endParaRPr lang="en-US" sz="1200" dirty="0"/>
          </a:p>
        </p:txBody>
      </p:sp>
      <p:sp>
        <p:nvSpPr>
          <p:cNvPr id="16" name="Text 14"/>
          <p:cNvSpPr/>
          <p:nvPr/>
        </p:nvSpPr>
        <p:spPr>
          <a:xfrm>
            <a:off x="4411107" y="18376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IAM</a:t>
            </a:r>
            <a:r>
              <a:rPr lang="en-US" sz="1200" dirty="0">
                <a:solidFill>
                  <a:srgbClr val="3E4A5C"/>
                </a:solidFill>
                <a:latin typeface="IBM Plex Sans" pitchFamily="34" charset="0"/>
                <a:ea typeface="IBM Plex Sans" pitchFamily="34" charset="-122"/>
                <a:cs typeface="IBM Plex Sans" pitchFamily="34" charset="-120"/>
              </a:rPr>
              <a:t> · AWS Identity and Access Management</a:t>
            </a:r>
            <a:endParaRPr lang="en-US" sz="1200" dirty="0"/>
          </a:p>
        </p:txBody>
      </p:sp>
      <p:sp>
        <p:nvSpPr>
          <p:cNvPr id="17" name="Text 15"/>
          <p:cNvSpPr/>
          <p:nvPr/>
        </p:nvSpPr>
        <p:spPr>
          <a:xfrm>
            <a:off x="4411107" y="2066292"/>
            <a:ext cx="359838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IEC</a:t>
            </a:r>
            <a:r>
              <a:rPr lang="en-US" sz="1200" dirty="0">
                <a:solidFill>
                  <a:srgbClr val="3E4A5C"/>
                </a:solidFill>
                <a:latin typeface="IBM Plex Sans" pitchFamily="34" charset="0"/>
                <a:ea typeface="IBM Plex Sans" pitchFamily="34" charset="-122"/>
                <a:cs typeface="IBM Plex Sans" pitchFamily="34" charset="-120"/>
              </a:rPr>
              <a:t> · International Electrotechnical Commission</a:t>
            </a:r>
            <a:endParaRPr lang="en-US" sz="1200" dirty="0"/>
          </a:p>
        </p:txBody>
      </p:sp>
      <p:sp>
        <p:nvSpPr>
          <p:cNvPr id="18" name="Text 16"/>
          <p:cNvSpPr/>
          <p:nvPr/>
        </p:nvSpPr>
        <p:spPr>
          <a:xfrm>
            <a:off x="4411107" y="22948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IMDS, IMDSv2</a:t>
            </a:r>
            <a:r>
              <a:rPr lang="en-US" sz="1200" dirty="0">
                <a:solidFill>
                  <a:srgbClr val="3E4A5C"/>
                </a:solidFill>
                <a:latin typeface="IBM Plex Sans" pitchFamily="34" charset="0"/>
                <a:ea typeface="IBM Plex Sans" pitchFamily="34" charset="-122"/>
                <a:cs typeface="IBM Plex Sans" pitchFamily="34" charset="-120"/>
              </a:rPr>
              <a:t> · EC2 Instance Metadata Service (version 2)</a:t>
            </a:r>
            <a:endParaRPr lang="en-US" sz="1200" dirty="0"/>
          </a:p>
        </p:txBody>
      </p:sp>
      <p:sp>
        <p:nvSpPr>
          <p:cNvPr id="19" name="Text 17"/>
          <p:cNvSpPr/>
          <p:nvPr/>
        </p:nvSpPr>
        <p:spPr>
          <a:xfrm>
            <a:off x="4411107" y="27139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IR</a:t>
            </a:r>
            <a:r>
              <a:rPr lang="en-US" sz="1200" dirty="0">
                <a:solidFill>
                  <a:srgbClr val="3E4A5C"/>
                </a:solidFill>
                <a:latin typeface="IBM Plex Sans" pitchFamily="34" charset="0"/>
                <a:ea typeface="IBM Plex Sans" pitchFamily="34" charset="-122"/>
                <a:cs typeface="IBM Plex Sans" pitchFamily="34" charset="-120"/>
              </a:rPr>
              <a:t> · Incident response; in “NIST IR 8477”, NIST Interagency or Internal Report</a:t>
            </a:r>
            <a:endParaRPr lang="en-US" sz="1200" dirty="0"/>
          </a:p>
        </p:txBody>
      </p:sp>
      <p:sp>
        <p:nvSpPr>
          <p:cNvPr id="20" name="Text 18"/>
          <p:cNvSpPr/>
          <p:nvPr/>
        </p:nvSpPr>
        <p:spPr>
          <a:xfrm>
            <a:off x="4411107" y="3133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IRSA</a:t>
            </a:r>
            <a:r>
              <a:rPr lang="en-US" sz="1200" dirty="0">
                <a:solidFill>
                  <a:srgbClr val="3E4A5C"/>
                </a:solidFill>
                <a:latin typeface="IBM Plex Sans" pitchFamily="34" charset="0"/>
                <a:ea typeface="IBM Plex Sans" pitchFamily="34" charset="-122"/>
                <a:cs typeface="IBM Plex Sans" pitchFamily="34" charset="-120"/>
              </a:rPr>
              <a:t> · IAM Roles for Service Accounts (EKS)</a:t>
            </a:r>
            <a:endParaRPr lang="en-US" sz="1200" dirty="0"/>
          </a:p>
        </p:txBody>
      </p:sp>
      <p:sp>
        <p:nvSpPr>
          <p:cNvPr id="21" name="Text 19"/>
          <p:cNvSpPr/>
          <p:nvPr/>
        </p:nvSpPr>
        <p:spPr>
          <a:xfrm>
            <a:off x="4411107" y="33616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ISO</a:t>
            </a:r>
            <a:r>
              <a:rPr lang="en-US" sz="1200" dirty="0">
                <a:solidFill>
                  <a:srgbClr val="3E4A5C"/>
                </a:solidFill>
                <a:latin typeface="IBM Plex Sans" pitchFamily="34" charset="0"/>
                <a:ea typeface="IBM Plex Sans" pitchFamily="34" charset="-122"/>
                <a:cs typeface="IBM Plex Sans" pitchFamily="34" charset="-120"/>
              </a:rPr>
              <a:t> · International Organization for Standardization</a:t>
            </a:r>
            <a:endParaRPr lang="en-US" sz="1200" dirty="0"/>
          </a:p>
        </p:txBody>
      </p:sp>
      <p:sp>
        <p:nvSpPr>
          <p:cNvPr id="22" name="Text 20"/>
          <p:cNvSpPr/>
          <p:nvPr/>
        </p:nvSpPr>
        <p:spPr>
          <a:xfrm>
            <a:off x="4411107" y="37807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KMS</a:t>
            </a:r>
            <a:r>
              <a:rPr lang="en-US" sz="1200" dirty="0">
                <a:solidFill>
                  <a:srgbClr val="3E4A5C"/>
                </a:solidFill>
                <a:latin typeface="IBM Plex Sans" pitchFamily="34" charset="0"/>
                <a:ea typeface="IBM Plex Sans" pitchFamily="34" charset="-122"/>
                <a:cs typeface="IBM Plex Sans" pitchFamily="34" charset="-120"/>
              </a:rPr>
              <a:t> · AWS Key Management Service; in BSSC, Key Management Standard</a:t>
            </a:r>
            <a:endParaRPr lang="en-US" sz="1200" dirty="0"/>
          </a:p>
        </p:txBody>
      </p:sp>
      <p:sp>
        <p:nvSpPr>
          <p:cNvPr id="23" name="Text 21"/>
          <p:cNvSpPr/>
          <p:nvPr/>
        </p:nvSpPr>
        <p:spPr>
          <a:xfrm>
            <a:off x="4411107" y="41998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MFA</a:t>
            </a:r>
            <a:r>
              <a:rPr lang="en-US" sz="1200" dirty="0">
                <a:solidFill>
                  <a:srgbClr val="3E4A5C"/>
                </a:solidFill>
                <a:latin typeface="IBM Plex Sans" pitchFamily="34" charset="0"/>
                <a:ea typeface="IBM Plex Sans" pitchFamily="34" charset="-122"/>
                <a:cs typeface="IBM Plex Sans" pitchFamily="34" charset="-120"/>
              </a:rPr>
              <a:t> · Multi-factor authentication</a:t>
            </a:r>
            <a:endParaRPr lang="en-US" sz="1200" dirty="0"/>
          </a:p>
        </p:txBody>
      </p:sp>
      <p:sp>
        <p:nvSpPr>
          <p:cNvPr id="24" name="Text 22"/>
          <p:cNvSpPr/>
          <p:nvPr/>
        </p:nvSpPr>
        <p:spPr>
          <a:xfrm>
            <a:off x="4411107" y="4428492"/>
            <a:ext cx="359838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MiCA</a:t>
            </a:r>
            <a:r>
              <a:rPr lang="en-US" sz="1200" dirty="0">
                <a:solidFill>
                  <a:srgbClr val="3E4A5C"/>
                </a:solidFill>
                <a:latin typeface="IBM Plex Sans" pitchFamily="34" charset="0"/>
                <a:ea typeface="IBM Plex Sans" pitchFamily="34" charset="-122"/>
                <a:cs typeface="IBM Plex Sans" pitchFamily="34" charset="-120"/>
              </a:rPr>
              <a:t> · Markets in Crypto-Assets Regulation (EU)</a:t>
            </a:r>
            <a:endParaRPr lang="en-US" sz="1200" dirty="0"/>
          </a:p>
        </p:txBody>
      </p:sp>
      <p:sp>
        <p:nvSpPr>
          <p:cNvPr id="25" name="Text 23"/>
          <p:cNvSpPr/>
          <p:nvPr/>
        </p:nvSpPr>
        <p:spPr>
          <a:xfrm>
            <a:off x="4411107" y="4657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MPC</a:t>
            </a:r>
            <a:r>
              <a:rPr lang="en-US" sz="1200" dirty="0">
                <a:solidFill>
                  <a:srgbClr val="3E4A5C"/>
                </a:solidFill>
                <a:latin typeface="IBM Plex Sans" pitchFamily="34" charset="0"/>
                <a:ea typeface="IBM Plex Sans" pitchFamily="34" charset="-122"/>
                <a:cs typeface="IBM Plex Sans" pitchFamily="34" charset="-120"/>
              </a:rPr>
              <a:t> · Multi-party computation</a:t>
            </a:r>
            <a:endParaRPr lang="en-US" sz="1200" dirty="0"/>
          </a:p>
        </p:txBody>
      </p:sp>
      <p:sp>
        <p:nvSpPr>
          <p:cNvPr id="26" name="Text 24"/>
          <p:cNvSpPr/>
          <p:nvPr/>
        </p:nvSpPr>
        <p:spPr>
          <a:xfrm>
            <a:off x="8009493" y="16090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NIST</a:t>
            </a:r>
            <a:r>
              <a:rPr lang="en-US" sz="1200" dirty="0">
                <a:solidFill>
                  <a:srgbClr val="3E4A5C"/>
                </a:solidFill>
                <a:latin typeface="IBM Plex Sans" pitchFamily="34" charset="0"/>
                <a:ea typeface="IBM Plex Sans" pitchFamily="34" charset="-122"/>
                <a:cs typeface="IBM Plex Sans" pitchFamily="34" charset="-120"/>
              </a:rPr>
              <a:t> · National Institute of Standards and Technology</a:t>
            </a:r>
            <a:endParaRPr lang="en-US" sz="1200" dirty="0"/>
          </a:p>
        </p:txBody>
      </p:sp>
      <p:sp>
        <p:nvSpPr>
          <p:cNvPr id="27" name="Text 25"/>
          <p:cNvSpPr/>
          <p:nvPr/>
        </p:nvSpPr>
        <p:spPr>
          <a:xfrm>
            <a:off x="8009493" y="20281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NOS</a:t>
            </a:r>
            <a:r>
              <a:rPr lang="en-US" sz="1200" dirty="0">
                <a:solidFill>
                  <a:srgbClr val="3E4A5C"/>
                </a:solidFill>
                <a:latin typeface="IBM Plex Sans" pitchFamily="34" charset="0"/>
                <a:ea typeface="IBM Plex Sans" pitchFamily="34" charset="-122"/>
                <a:cs typeface="IBM Plex Sans" pitchFamily="34" charset="-120"/>
              </a:rPr>
              <a:t> · Node Operation Standard (BSSC)</a:t>
            </a:r>
            <a:endParaRPr lang="en-US" sz="1200" dirty="0"/>
          </a:p>
        </p:txBody>
      </p:sp>
      <p:sp>
        <p:nvSpPr>
          <p:cNvPr id="28" name="Text 26"/>
          <p:cNvSpPr/>
          <p:nvPr/>
        </p:nvSpPr>
        <p:spPr>
          <a:xfrm>
            <a:off x="8009493" y="2256792"/>
            <a:ext cx="404364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NYCRR</a:t>
            </a:r>
            <a:r>
              <a:rPr lang="en-US" sz="1200" dirty="0">
                <a:solidFill>
                  <a:srgbClr val="3E4A5C"/>
                </a:solidFill>
                <a:latin typeface="IBM Plex Sans" pitchFamily="34" charset="0"/>
                <a:ea typeface="IBM Plex Sans" pitchFamily="34" charset="-122"/>
                <a:cs typeface="IBM Plex Sans" pitchFamily="34" charset="-120"/>
              </a:rPr>
              <a:t> · New York Codes, Rules and Regulations</a:t>
            </a:r>
            <a:endParaRPr lang="en-US" sz="1200" dirty="0"/>
          </a:p>
        </p:txBody>
      </p:sp>
      <p:sp>
        <p:nvSpPr>
          <p:cNvPr id="29" name="Text 27"/>
          <p:cNvSpPr/>
          <p:nvPr/>
        </p:nvSpPr>
        <p:spPr>
          <a:xfrm>
            <a:off x="8009493" y="24853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NYDFS</a:t>
            </a:r>
            <a:r>
              <a:rPr lang="en-US" sz="1200" dirty="0">
                <a:solidFill>
                  <a:srgbClr val="3E4A5C"/>
                </a:solidFill>
                <a:latin typeface="IBM Plex Sans" pitchFamily="34" charset="0"/>
                <a:ea typeface="IBM Plex Sans" pitchFamily="34" charset="-122"/>
                <a:cs typeface="IBM Plex Sans" pitchFamily="34" charset="-120"/>
              </a:rPr>
              <a:t> · New York State Department of Financial Services</a:t>
            </a:r>
            <a:endParaRPr lang="en-US" sz="1200" dirty="0"/>
          </a:p>
        </p:txBody>
      </p:sp>
      <p:sp>
        <p:nvSpPr>
          <p:cNvPr id="30" name="Text 28"/>
          <p:cNvSpPr/>
          <p:nvPr/>
        </p:nvSpPr>
        <p:spPr>
          <a:xfrm>
            <a:off x="8009493" y="29044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OIDC</a:t>
            </a:r>
            <a:r>
              <a:rPr lang="en-US" sz="1200" dirty="0">
                <a:solidFill>
                  <a:srgbClr val="3E4A5C"/>
                </a:solidFill>
                <a:latin typeface="IBM Plex Sans" pitchFamily="34" charset="0"/>
                <a:ea typeface="IBM Plex Sans" pitchFamily="34" charset="-122"/>
                <a:cs typeface="IBM Plex Sans" pitchFamily="34" charset="-120"/>
              </a:rPr>
              <a:t> · OpenID Connect</a:t>
            </a:r>
            <a:endParaRPr lang="en-US" sz="1200" dirty="0"/>
          </a:p>
        </p:txBody>
      </p:sp>
      <p:sp>
        <p:nvSpPr>
          <p:cNvPr id="31" name="Text 29"/>
          <p:cNvSpPr/>
          <p:nvPr/>
        </p:nvSpPr>
        <p:spPr>
          <a:xfrm>
            <a:off x="8009493" y="3133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OS</a:t>
            </a:r>
            <a:r>
              <a:rPr lang="en-US" sz="1200" dirty="0">
                <a:solidFill>
                  <a:srgbClr val="3E4A5C"/>
                </a:solidFill>
                <a:latin typeface="IBM Plex Sans" pitchFamily="34" charset="0"/>
                <a:ea typeface="IBM Plex Sans" pitchFamily="34" charset="-122"/>
                <a:cs typeface="IBM Plex Sans" pitchFamily="34" charset="-120"/>
              </a:rPr>
              <a:t> · Operating system</a:t>
            </a:r>
            <a:endParaRPr lang="en-US" sz="1200" dirty="0"/>
          </a:p>
        </p:txBody>
      </p:sp>
      <p:sp>
        <p:nvSpPr>
          <p:cNvPr id="32" name="Text 30"/>
          <p:cNvSpPr/>
          <p:nvPr/>
        </p:nvSpPr>
        <p:spPr>
          <a:xfrm>
            <a:off x="8009493" y="3361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OWASP</a:t>
            </a:r>
            <a:r>
              <a:rPr lang="en-US" sz="1200" dirty="0">
                <a:solidFill>
                  <a:srgbClr val="3E4A5C"/>
                </a:solidFill>
                <a:latin typeface="IBM Plex Sans" pitchFamily="34" charset="0"/>
                <a:ea typeface="IBM Plex Sans" pitchFamily="34" charset="-122"/>
                <a:cs typeface="IBM Plex Sans" pitchFamily="34" charset="-120"/>
              </a:rPr>
              <a:t> · Open Worldwide Application Security Project</a:t>
            </a:r>
            <a:endParaRPr lang="en-US" sz="1200" dirty="0"/>
          </a:p>
        </p:txBody>
      </p:sp>
      <p:sp>
        <p:nvSpPr>
          <p:cNvPr id="33" name="Text 31"/>
          <p:cNvSpPr/>
          <p:nvPr/>
        </p:nvSpPr>
        <p:spPr>
          <a:xfrm>
            <a:off x="8009493" y="3780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P2</a:t>
            </a:r>
            <a:r>
              <a:rPr lang="en-US" sz="1200" dirty="0">
                <a:solidFill>
                  <a:srgbClr val="3E4A5C"/>
                </a:solidFill>
                <a:latin typeface="IBM Plex Sans" pitchFamily="34" charset="0"/>
                <a:ea typeface="IBM Plex Sans" pitchFamily="34" charset="-122"/>
                <a:cs typeface="IBM Plex Sans" pitchFamily="34" charset="-120"/>
              </a:rPr>
              <a:t> · Microsoft Entra ID P2 license</a:t>
            </a:r>
            <a:endParaRPr lang="en-US" sz="1200" dirty="0"/>
          </a:p>
        </p:txBody>
      </p:sp>
      <p:sp>
        <p:nvSpPr>
          <p:cNvPr id="34" name="Text 32"/>
          <p:cNvSpPr/>
          <p:nvPr/>
        </p:nvSpPr>
        <p:spPr>
          <a:xfrm>
            <a:off x="8009493" y="40093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PCI DSS</a:t>
            </a:r>
            <a:r>
              <a:rPr lang="en-US" sz="1200" dirty="0">
                <a:solidFill>
                  <a:srgbClr val="3E4A5C"/>
                </a:solidFill>
                <a:latin typeface="IBM Plex Sans" pitchFamily="34" charset="0"/>
                <a:ea typeface="IBM Plex Sans" pitchFamily="34" charset="-122"/>
                <a:cs typeface="IBM Plex Sans" pitchFamily="34" charset="-120"/>
              </a:rPr>
              <a:t> · Payment Card Industry Data Security Standard</a:t>
            </a:r>
            <a:endParaRPr lang="en-US" sz="1200" dirty="0"/>
          </a:p>
        </p:txBody>
      </p:sp>
      <p:sp>
        <p:nvSpPr>
          <p:cNvPr id="35" name="Text 33"/>
          <p:cNvSpPr/>
          <p:nvPr/>
        </p:nvSpPr>
        <p:spPr>
          <a:xfrm>
            <a:off x="8009493" y="4428492"/>
            <a:ext cx="404364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PIM</a:t>
            </a:r>
            <a:r>
              <a:rPr lang="en-US" sz="1200" dirty="0">
                <a:solidFill>
                  <a:srgbClr val="3E4A5C"/>
                </a:solidFill>
                <a:latin typeface="IBM Plex Sans" pitchFamily="34" charset="0"/>
                <a:ea typeface="IBM Plex Sans" pitchFamily="34" charset="-122"/>
                <a:cs typeface="IBM Plex Sans" pitchFamily="34" charset="-120"/>
              </a:rPr>
              <a:t> · Privileged Identity Management (Entra ID)</a:t>
            </a:r>
            <a:endParaRPr lang="en-US" sz="1200" dirty="0"/>
          </a:p>
        </p:txBody>
      </p:sp>
      <p:sp>
        <p:nvSpPr>
          <p:cNvPr id="36" name="Text 34"/>
          <p:cNvSpPr/>
          <p:nvPr/>
        </p:nvSpPr>
        <p:spPr>
          <a:xfrm>
            <a:off x="8009493" y="46570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PR.AA</a:t>
            </a:r>
            <a:r>
              <a:rPr lang="en-US" sz="1200" dirty="0">
                <a:solidFill>
                  <a:srgbClr val="3E4A5C"/>
                </a:solidFill>
                <a:latin typeface="IBM Plex Sans" pitchFamily="34" charset="0"/>
                <a:ea typeface="IBM Plex Sans" pitchFamily="34" charset="-122"/>
                <a:cs typeface="IBM Plex Sans" pitchFamily="34" charset="-120"/>
              </a:rPr>
              <a:t> · CSF Protect: Identity Management, Authentication, and Access Control</a:t>
            </a:r>
            <a:endParaRPr lang="en-US" sz="1200" dirty="0"/>
          </a:p>
        </p:txBody>
      </p:sp>
      <p:sp>
        <p:nvSpPr>
          <p:cNvPr id="37" name="Text 35"/>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8" name="Text 36"/>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ACRONYMS 3 OF 3</a:t>
            </a:r>
            <a:endParaRPr lang="en-US" sz="1200" dirty="0"/>
          </a:p>
        </p:txBody>
      </p:sp>
      <p:sp>
        <p:nvSpPr>
          <p:cNvPr id="3" name="Text 1"/>
          <p:cNvSpPr/>
          <p:nvPr>
            <p:ph type="title"/>
          </p:nvPr>
        </p:nvSpPr>
        <p:spPr>
          <a:xfrm>
            <a:off x="812800" y="1051558"/>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Acronyms P to W</a:t>
            </a:r>
            <a:endParaRPr lang="en-US" sz="2600" dirty="0"/>
          </a:p>
        </p:txBody>
      </p:sp>
      <p:sp>
        <p:nvSpPr>
          <p:cNvPr id="4" name="Text 2"/>
          <p:cNvSpPr/>
          <p:nvPr/>
        </p:nvSpPr>
        <p:spPr>
          <a:xfrm>
            <a:off x="812800"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PR.PS</a:t>
            </a:r>
            <a:r>
              <a:rPr lang="en-US" sz="1200" dirty="0">
                <a:solidFill>
                  <a:srgbClr val="3E4A5C"/>
                </a:solidFill>
                <a:latin typeface="IBM Plex Sans" pitchFamily="34" charset="0"/>
                <a:ea typeface="IBM Plex Sans" pitchFamily="34" charset="-122"/>
                <a:cs typeface="IBM Plex Sans" pitchFamily="34" charset="-120"/>
              </a:rPr>
              <a:t> · CSF Protect: Platform Security</a:t>
            </a:r>
            <a:endParaRPr lang="en-US" sz="1200" dirty="0"/>
          </a:p>
        </p:txBody>
      </p:sp>
      <p:sp>
        <p:nvSpPr>
          <p:cNvPr id="5" name="Text 3"/>
          <p:cNvSpPr/>
          <p:nvPr/>
        </p:nvSpPr>
        <p:spPr>
          <a:xfrm>
            <a:off x="812800"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R.15, R.16</a:t>
            </a:r>
            <a:r>
              <a:rPr lang="en-US" sz="1200" dirty="0">
                <a:solidFill>
                  <a:srgbClr val="3E4A5C"/>
                </a:solidFill>
                <a:latin typeface="IBM Plex Sans" pitchFamily="34" charset="0"/>
                <a:ea typeface="IBM Plex Sans" pitchFamily="34" charset="-122"/>
                <a:cs typeface="IBM Plex Sans" pitchFamily="34" charset="-120"/>
              </a:rPr>
              <a:t> · FATF Recommendations 15 and 16</a:t>
            </a:r>
            <a:endParaRPr lang="en-US" sz="1200" dirty="0"/>
          </a:p>
        </p:txBody>
      </p:sp>
      <p:sp>
        <p:nvSpPr>
          <p:cNvPr id="6" name="Text 4"/>
          <p:cNvSpPr/>
          <p:nvPr/>
        </p:nvSpPr>
        <p:spPr>
          <a:xfrm>
            <a:off x="812800" y="20662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RACI</a:t>
            </a:r>
            <a:r>
              <a:rPr lang="en-US" sz="1200" dirty="0">
                <a:solidFill>
                  <a:srgbClr val="3E4A5C"/>
                </a:solidFill>
                <a:latin typeface="IBM Plex Sans" pitchFamily="34" charset="0"/>
                <a:ea typeface="IBM Plex Sans" pitchFamily="34" charset="-122"/>
                <a:cs typeface="IBM Plex Sans" pitchFamily="34" charset="-120"/>
              </a:rPr>
              <a:t> · Responsible, accountable, consulted, informed</a:t>
            </a:r>
            <a:endParaRPr lang="en-US" sz="1200" dirty="0"/>
          </a:p>
        </p:txBody>
      </p:sp>
      <p:sp>
        <p:nvSpPr>
          <p:cNvPr id="7" name="Text 5"/>
          <p:cNvSpPr/>
          <p:nvPr/>
        </p:nvSpPr>
        <p:spPr>
          <a:xfrm>
            <a:off x="812800" y="2485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RBAC</a:t>
            </a:r>
            <a:r>
              <a:rPr lang="en-US" sz="1200" dirty="0">
                <a:solidFill>
                  <a:srgbClr val="3E4A5C"/>
                </a:solidFill>
                <a:latin typeface="IBM Plex Sans" pitchFamily="34" charset="0"/>
                <a:ea typeface="IBM Plex Sans" pitchFamily="34" charset="-122"/>
                <a:cs typeface="IBM Plex Sans" pitchFamily="34" charset="-120"/>
              </a:rPr>
              <a:t> · Role-based access control</a:t>
            </a:r>
            <a:endParaRPr lang="en-US" sz="1200" dirty="0"/>
          </a:p>
        </p:txBody>
      </p:sp>
      <p:sp>
        <p:nvSpPr>
          <p:cNvPr id="8" name="Text 6"/>
          <p:cNvSpPr/>
          <p:nvPr/>
        </p:nvSpPr>
        <p:spPr>
          <a:xfrm>
            <a:off x="812800" y="27139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RCP</a:t>
            </a:r>
            <a:r>
              <a:rPr lang="en-US" sz="1200" dirty="0">
                <a:solidFill>
                  <a:srgbClr val="3E4A5C"/>
                </a:solidFill>
                <a:latin typeface="IBM Plex Sans" pitchFamily="34" charset="0"/>
                <a:ea typeface="IBM Plex Sans" pitchFamily="34" charset="-122"/>
                <a:cs typeface="IBM Plex Sans" pitchFamily="34" charset="-120"/>
              </a:rPr>
              <a:t> · Resource control policy (AWS Organizations)</a:t>
            </a:r>
            <a:endParaRPr lang="en-US" sz="1200" dirty="0"/>
          </a:p>
        </p:txBody>
      </p:sp>
      <p:sp>
        <p:nvSpPr>
          <p:cNvPr id="9" name="Text 7"/>
          <p:cNvSpPr/>
          <p:nvPr/>
        </p:nvSpPr>
        <p:spPr>
          <a:xfrm>
            <a:off x="812800" y="3133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RoE</a:t>
            </a:r>
            <a:r>
              <a:rPr lang="en-US" sz="1200" dirty="0">
                <a:solidFill>
                  <a:srgbClr val="3E4A5C"/>
                </a:solidFill>
                <a:latin typeface="IBM Plex Sans" pitchFamily="34" charset="0"/>
                <a:ea typeface="IBM Plex Sans" pitchFamily="34" charset="-122"/>
                <a:cs typeface="IBM Plex Sans" pitchFamily="34" charset="-120"/>
              </a:rPr>
              <a:t> · Rules of engagement</a:t>
            </a:r>
            <a:endParaRPr lang="en-US" sz="1200" dirty="0"/>
          </a:p>
        </p:txBody>
      </p:sp>
      <p:sp>
        <p:nvSpPr>
          <p:cNvPr id="10" name="Text 8"/>
          <p:cNvSpPr/>
          <p:nvPr/>
        </p:nvSpPr>
        <p:spPr>
          <a:xfrm>
            <a:off x="812800" y="3361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S3</a:t>
            </a:r>
            <a:r>
              <a:rPr lang="en-US" sz="1200" dirty="0">
                <a:solidFill>
                  <a:srgbClr val="3E4A5C"/>
                </a:solidFill>
                <a:latin typeface="IBM Plex Sans" pitchFamily="34" charset="0"/>
                <a:ea typeface="IBM Plex Sans" pitchFamily="34" charset="-122"/>
                <a:cs typeface="IBM Plex Sans" pitchFamily="34" charset="-120"/>
              </a:rPr>
              <a:t> · Amazon Simple Storage Service</a:t>
            </a:r>
            <a:endParaRPr lang="en-US" sz="1200" dirty="0"/>
          </a:p>
        </p:txBody>
      </p:sp>
      <p:sp>
        <p:nvSpPr>
          <p:cNvPr id="11" name="Text 9"/>
          <p:cNvSpPr/>
          <p:nvPr/>
        </p:nvSpPr>
        <p:spPr>
          <a:xfrm>
            <a:off x="812800" y="35902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SA</a:t>
            </a:r>
            <a:r>
              <a:rPr lang="en-US" sz="1200" dirty="0">
                <a:solidFill>
                  <a:srgbClr val="3E4A5C"/>
                </a:solidFill>
                <a:latin typeface="IBM Plex Sans" pitchFamily="34" charset="0"/>
                <a:ea typeface="IBM Plex Sans" pitchFamily="34" charset="-122"/>
                <a:cs typeface="IBM Plex Sans" pitchFamily="34" charset="-120"/>
              </a:rPr>
              <a:t> · System and Services Acquisition (SP 800-53 family)</a:t>
            </a:r>
            <a:endParaRPr lang="en-US" sz="1200" dirty="0"/>
          </a:p>
        </p:txBody>
      </p:sp>
      <p:sp>
        <p:nvSpPr>
          <p:cNvPr id="12" name="Text 10"/>
          <p:cNvSpPr/>
          <p:nvPr/>
        </p:nvSpPr>
        <p:spPr>
          <a:xfrm>
            <a:off x="812800" y="40093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SAMM</a:t>
            </a:r>
            <a:r>
              <a:rPr lang="en-US" sz="1200" dirty="0">
                <a:solidFill>
                  <a:srgbClr val="3E4A5C"/>
                </a:solidFill>
                <a:latin typeface="IBM Plex Sans" pitchFamily="34" charset="0"/>
                <a:ea typeface="IBM Plex Sans" pitchFamily="34" charset="-122"/>
                <a:cs typeface="IBM Plex Sans" pitchFamily="34" charset="-120"/>
              </a:rPr>
              <a:t> · Software Assurance Maturity Model (OWASP)</a:t>
            </a:r>
            <a:endParaRPr lang="en-US" sz="1200" dirty="0"/>
          </a:p>
        </p:txBody>
      </p:sp>
      <p:sp>
        <p:nvSpPr>
          <p:cNvPr id="13" name="Text 11"/>
          <p:cNvSpPr/>
          <p:nvPr/>
        </p:nvSpPr>
        <p:spPr>
          <a:xfrm>
            <a:off x="812800" y="44284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SBOM</a:t>
            </a:r>
            <a:r>
              <a:rPr lang="en-US" sz="1200" dirty="0">
                <a:solidFill>
                  <a:srgbClr val="3E4A5C"/>
                </a:solidFill>
                <a:latin typeface="IBM Plex Sans" pitchFamily="34" charset="0"/>
                <a:ea typeface="IBM Plex Sans" pitchFamily="34" charset="-122"/>
                <a:cs typeface="IBM Plex Sans" pitchFamily="34" charset="-120"/>
              </a:rPr>
              <a:t> · Software bill of materials</a:t>
            </a:r>
            <a:endParaRPr lang="en-US" sz="1200" dirty="0"/>
          </a:p>
        </p:txBody>
      </p:sp>
      <p:sp>
        <p:nvSpPr>
          <p:cNvPr id="14" name="Text 12"/>
          <p:cNvSpPr/>
          <p:nvPr/>
        </p:nvSpPr>
        <p:spPr>
          <a:xfrm>
            <a:off x="812800" y="46570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a:t>
            </a:r>
            <a:r>
              <a:rPr lang="en-US" sz="1200" dirty="0">
                <a:solidFill>
                  <a:srgbClr val="3E4A5C"/>
                </a:solidFill>
                <a:latin typeface="IBM Plex Sans" pitchFamily="34" charset="0"/>
                <a:ea typeface="IBM Plex Sans" pitchFamily="34" charset="-122"/>
                <a:cs typeface="IBM Plex Sans" pitchFamily="34" charset="-120"/>
              </a:rPr>
              <a:t> · System and Communications Protection (SP 800-53 family); in “SC Top 10”, Smart Contract</a:t>
            </a:r>
            <a:endParaRPr lang="en-US" sz="1200" dirty="0"/>
          </a:p>
        </p:txBody>
      </p:sp>
      <p:sp>
        <p:nvSpPr>
          <p:cNvPr id="15" name="Text 13"/>
          <p:cNvSpPr/>
          <p:nvPr/>
        </p:nvSpPr>
        <p:spPr>
          <a:xfrm>
            <a:off x="4411107" y="1609092"/>
            <a:ext cx="359838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SCP</a:t>
            </a:r>
            <a:r>
              <a:rPr lang="en-US" sz="1200" dirty="0">
                <a:solidFill>
                  <a:srgbClr val="3E4A5C"/>
                </a:solidFill>
                <a:latin typeface="IBM Plex Sans" pitchFamily="34" charset="0"/>
                <a:ea typeface="IBM Plex Sans" pitchFamily="34" charset="-122"/>
                <a:cs typeface="IBM Plex Sans" pitchFamily="34" charset="-120"/>
              </a:rPr>
              <a:t> · Service control policy (AWS Organizations)</a:t>
            </a:r>
            <a:endParaRPr lang="en-US" sz="1200" dirty="0"/>
          </a:p>
        </p:txBody>
      </p:sp>
      <p:sp>
        <p:nvSpPr>
          <p:cNvPr id="16" name="Text 14"/>
          <p:cNvSpPr/>
          <p:nvPr/>
        </p:nvSpPr>
        <p:spPr>
          <a:xfrm>
            <a:off x="4411107" y="18376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SCS</a:t>
            </a:r>
            <a:r>
              <a:rPr lang="en-US" sz="1200" dirty="0">
                <a:solidFill>
                  <a:srgbClr val="3E4A5C"/>
                </a:solidFill>
                <a:latin typeface="IBM Plex Sans" pitchFamily="34" charset="0"/>
                <a:ea typeface="IBM Plex Sans" pitchFamily="34" charset="-122"/>
                <a:cs typeface="IBM Plex Sans" pitchFamily="34" charset="-120"/>
              </a:rPr>
              <a:t> · Smart Contract Security Standard (BSSC)</a:t>
            </a:r>
            <a:endParaRPr lang="en-US" sz="1200" dirty="0"/>
          </a:p>
        </p:txBody>
      </p:sp>
      <p:sp>
        <p:nvSpPr>
          <p:cNvPr id="17" name="Text 15"/>
          <p:cNvSpPr/>
          <p:nvPr/>
        </p:nvSpPr>
        <p:spPr>
          <a:xfrm>
            <a:off x="4411107" y="20662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SCSVS</a:t>
            </a:r>
            <a:r>
              <a:rPr lang="en-US" sz="1200" dirty="0">
                <a:solidFill>
                  <a:srgbClr val="3E4A5C"/>
                </a:solidFill>
                <a:latin typeface="IBM Plex Sans" pitchFamily="34" charset="0"/>
                <a:ea typeface="IBM Plex Sans" pitchFamily="34" charset="-122"/>
                <a:cs typeface="IBM Plex Sans" pitchFamily="34" charset="-120"/>
              </a:rPr>
              <a:t> · Smart Contract Security Verification Standard (OWASP)</a:t>
            </a:r>
            <a:endParaRPr lang="en-US" sz="1200" dirty="0"/>
          </a:p>
        </p:txBody>
      </p:sp>
      <p:sp>
        <p:nvSpPr>
          <p:cNvPr id="18" name="Text 16"/>
          <p:cNvSpPr/>
          <p:nvPr/>
        </p:nvSpPr>
        <p:spPr>
          <a:xfrm>
            <a:off x="4411107" y="24853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SDLC</a:t>
            </a:r>
            <a:r>
              <a:rPr lang="en-US" sz="1200" dirty="0">
                <a:solidFill>
                  <a:srgbClr val="3E4A5C"/>
                </a:solidFill>
                <a:latin typeface="IBM Plex Sans" pitchFamily="34" charset="0"/>
                <a:ea typeface="IBM Plex Sans" pitchFamily="34" charset="-122"/>
                <a:cs typeface="IBM Plex Sans" pitchFamily="34" charset="-120"/>
              </a:rPr>
              <a:t> · Software development lifecycle</a:t>
            </a:r>
            <a:endParaRPr lang="en-US" sz="1200" dirty="0"/>
          </a:p>
        </p:txBody>
      </p:sp>
      <p:sp>
        <p:nvSpPr>
          <p:cNvPr id="19" name="Text 17"/>
          <p:cNvSpPr/>
          <p:nvPr/>
        </p:nvSpPr>
        <p:spPr>
          <a:xfrm>
            <a:off x="4411107" y="27139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SEAL</a:t>
            </a:r>
            <a:r>
              <a:rPr lang="en-US" sz="1200" dirty="0">
                <a:solidFill>
                  <a:srgbClr val="3E4A5C"/>
                </a:solidFill>
                <a:latin typeface="IBM Plex Sans" pitchFamily="34" charset="0"/>
                <a:ea typeface="IBM Plex Sans" pitchFamily="34" charset="-122"/>
                <a:cs typeface="IBM Plex Sans" pitchFamily="34" charset="-120"/>
              </a:rPr>
              <a:t> · Security Alliance</a:t>
            </a:r>
            <a:endParaRPr lang="en-US" sz="1200" dirty="0"/>
          </a:p>
        </p:txBody>
      </p:sp>
      <p:sp>
        <p:nvSpPr>
          <p:cNvPr id="20" name="Text 18"/>
          <p:cNvSpPr/>
          <p:nvPr/>
        </p:nvSpPr>
        <p:spPr>
          <a:xfrm>
            <a:off x="4411107" y="29425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SI</a:t>
            </a:r>
            <a:r>
              <a:rPr lang="en-US" sz="1200" dirty="0">
                <a:solidFill>
                  <a:srgbClr val="3E4A5C"/>
                </a:solidFill>
                <a:latin typeface="IBM Plex Sans" pitchFamily="34" charset="0"/>
                <a:ea typeface="IBM Plex Sans" pitchFamily="34" charset="-122"/>
                <a:cs typeface="IBM Plex Sans" pitchFamily="34" charset="-120"/>
              </a:rPr>
              <a:t> · System and Information Integrity (SP 800-53 family)</a:t>
            </a:r>
            <a:endParaRPr lang="en-US" sz="1200" dirty="0"/>
          </a:p>
        </p:txBody>
      </p:sp>
      <p:sp>
        <p:nvSpPr>
          <p:cNvPr id="21" name="Text 19"/>
          <p:cNvSpPr/>
          <p:nvPr/>
        </p:nvSpPr>
        <p:spPr>
          <a:xfrm>
            <a:off x="4411107" y="33616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SIEM</a:t>
            </a:r>
            <a:r>
              <a:rPr lang="en-US" sz="1200" dirty="0">
                <a:solidFill>
                  <a:srgbClr val="3E4A5C"/>
                </a:solidFill>
                <a:latin typeface="IBM Plex Sans" pitchFamily="34" charset="0"/>
                <a:ea typeface="IBM Plex Sans" pitchFamily="34" charset="-122"/>
                <a:cs typeface="IBM Plex Sans" pitchFamily="34" charset="-120"/>
              </a:rPr>
              <a:t> · Security information and event management</a:t>
            </a:r>
            <a:endParaRPr lang="en-US" sz="1200" dirty="0"/>
          </a:p>
        </p:txBody>
      </p:sp>
      <p:sp>
        <p:nvSpPr>
          <p:cNvPr id="22" name="Text 20"/>
          <p:cNvSpPr/>
          <p:nvPr/>
        </p:nvSpPr>
        <p:spPr>
          <a:xfrm>
            <a:off x="4411107" y="3780792"/>
            <a:ext cx="359838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SLSA</a:t>
            </a:r>
            <a:r>
              <a:rPr lang="en-US" sz="1200" dirty="0">
                <a:solidFill>
                  <a:srgbClr val="3E4A5C"/>
                </a:solidFill>
                <a:latin typeface="IBM Plex Sans" pitchFamily="34" charset="0"/>
                <a:ea typeface="IBM Plex Sans" pitchFamily="34" charset="-122"/>
                <a:cs typeface="IBM Plex Sans" pitchFamily="34" charset="-120"/>
              </a:rPr>
              <a:t> · Supply-chain Levels for Software Artifacts</a:t>
            </a:r>
            <a:endParaRPr lang="en-US" sz="1200" dirty="0"/>
          </a:p>
        </p:txBody>
      </p:sp>
      <p:sp>
        <p:nvSpPr>
          <p:cNvPr id="23" name="Text 21"/>
          <p:cNvSpPr/>
          <p:nvPr/>
        </p:nvSpPr>
        <p:spPr>
          <a:xfrm>
            <a:off x="4411107" y="40093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SOC 2</a:t>
            </a:r>
            <a:r>
              <a:rPr lang="en-US" sz="1200" dirty="0">
                <a:solidFill>
                  <a:srgbClr val="3E4A5C"/>
                </a:solidFill>
                <a:latin typeface="IBM Plex Sans" pitchFamily="34" charset="0"/>
                <a:ea typeface="IBM Plex Sans" pitchFamily="34" charset="-122"/>
                <a:cs typeface="IBM Plex Sans" pitchFamily="34" charset="-120"/>
              </a:rPr>
              <a:t> · System and Organization Controls 2 (AICPA)</a:t>
            </a:r>
            <a:endParaRPr lang="en-US" sz="1200" dirty="0"/>
          </a:p>
        </p:txBody>
      </p:sp>
      <p:sp>
        <p:nvSpPr>
          <p:cNvPr id="24" name="Text 22"/>
          <p:cNvSpPr/>
          <p:nvPr/>
        </p:nvSpPr>
        <p:spPr>
          <a:xfrm>
            <a:off x="4411107" y="44284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SP</a:t>
            </a:r>
            <a:r>
              <a:rPr lang="en-US" sz="1200" dirty="0">
                <a:solidFill>
                  <a:srgbClr val="3E4A5C"/>
                </a:solidFill>
                <a:latin typeface="IBM Plex Sans" pitchFamily="34" charset="0"/>
                <a:ea typeface="IBM Plex Sans" pitchFamily="34" charset="-122"/>
                <a:cs typeface="IBM Plex Sans" pitchFamily="34" charset="-120"/>
              </a:rPr>
              <a:t> · Special Publication (NIST)</a:t>
            </a:r>
            <a:endParaRPr lang="en-US" sz="1200" dirty="0"/>
          </a:p>
        </p:txBody>
      </p:sp>
      <p:sp>
        <p:nvSpPr>
          <p:cNvPr id="25" name="Text 23"/>
          <p:cNvSpPr/>
          <p:nvPr/>
        </p:nvSpPr>
        <p:spPr>
          <a:xfrm>
            <a:off x="4411107" y="4657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SSM</a:t>
            </a:r>
            <a:r>
              <a:rPr lang="en-US" sz="1200" dirty="0">
                <a:solidFill>
                  <a:srgbClr val="3E4A5C"/>
                </a:solidFill>
                <a:latin typeface="IBM Plex Sans" pitchFamily="34" charset="0"/>
                <a:ea typeface="IBM Plex Sans" pitchFamily="34" charset="-122"/>
                <a:cs typeface="IBM Plex Sans" pitchFamily="34" charset="-120"/>
              </a:rPr>
              <a:t> · AWS Systems Manager</a:t>
            </a:r>
            <a:endParaRPr lang="en-US" sz="1200" dirty="0"/>
          </a:p>
        </p:txBody>
      </p:sp>
      <p:sp>
        <p:nvSpPr>
          <p:cNvPr id="26" name="Text 24"/>
          <p:cNvSpPr/>
          <p:nvPr/>
        </p:nvSpPr>
        <p:spPr>
          <a:xfrm>
            <a:off x="8009493"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TFR</a:t>
            </a:r>
            <a:r>
              <a:rPr lang="en-US" sz="1200" dirty="0">
                <a:solidFill>
                  <a:srgbClr val="3E4A5C"/>
                </a:solidFill>
                <a:latin typeface="IBM Plex Sans" pitchFamily="34" charset="0"/>
                <a:ea typeface="IBM Plex Sans" pitchFamily="34" charset="-122"/>
                <a:cs typeface="IBM Plex Sans" pitchFamily="34" charset="-120"/>
              </a:rPr>
              <a:t> · Transfer of Funds Regulation (EU)</a:t>
            </a:r>
            <a:endParaRPr lang="en-US" sz="1200" dirty="0"/>
          </a:p>
        </p:txBody>
      </p:sp>
      <p:sp>
        <p:nvSpPr>
          <p:cNvPr id="27" name="Text 25"/>
          <p:cNvSpPr/>
          <p:nvPr/>
        </p:nvSpPr>
        <p:spPr>
          <a:xfrm>
            <a:off x="8009493"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TGW</a:t>
            </a:r>
            <a:r>
              <a:rPr lang="en-US" sz="1200" dirty="0">
                <a:solidFill>
                  <a:srgbClr val="3E4A5C"/>
                </a:solidFill>
                <a:latin typeface="IBM Plex Sans" pitchFamily="34" charset="0"/>
                <a:ea typeface="IBM Plex Sans" pitchFamily="34" charset="-122"/>
                <a:cs typeface="IBM Plex Sans" pitchFamily="34" charset="-120"/>
              </a:rPr>
              <a:t> · AWS Transit Gateway</a:t>
            </a:r>
            <a:endParaRPr lang="en-US" sz="1200" dirty="0"/>
          </a:p>
        </p:txBody>
      </p:sp>
      <p:sp>
        <p:nvSpPr>
          <p:cNvPr id="28" name="Text 26"/>
          <p:cNvSpPr/>
          <p:nvPr/>
        </p:nvSpPr>
        <p:spPr>
          <a:xfrm>
            <a:off x="8009493" y="2066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TIS</a:t>
            </a:r>
            <a:r>
              <a:rPr lang="en-US" sz="1200" dirty="0">
                <a:solidFill>
                  <a:srgbClr val="3E4A5C"/>
                </a:solidFill>
                <a:latin typeface="IBM Plex Sans" pitchFamily="34" charset="0"/>
                <a:ea typeface="IBM Plex Sans" pitchFamily="34" charset="-122"/>
                <a:cs typeface="IBM Plex Sans" pitchFamily="34" charset="-120"/>
              </a:rPr>
              <a:t> · Token Integration Standard (BSSC)</a:t>
            </a:r>
            <a:endParaRPr lang="en-US" sz="1200" dirty="0"/>
          </a:p>
        </p:txBody>
      </p:sp>
      <p:sp>
        <p:nvSpPr>
          <p:cNvPr id="29" name="Text 27"/>
          <p:cNvSpPr/>
          <p:nvPr/>
        </p:nvSpPr>
        <p:spPr>
          <a:xfrm>
            <a:off x="8009493" y="22948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TSC</a:t>
            </a:r>
            <a:r>
              <a:rPr lang="en-US" sz="1200" dirty="0">
                <a:solidFill>
                  <a:srgbClr val="3E4A5C"/>
                </a:solidFill>
                <a:latin typeface="IBM Plex Sans" pitchFamily="34" charset="0"/>
                <a:ea typeface="IBM Plex Sans" pitchFamily="34" charset="-122"/>
                <a:cs typeface="IBM Plex Sans" pitchFamily="34" charset="-120"/>
              </a:rPr>
              <a:t> · Trust Services Criteria (AICPA)</a:t>
            </a:r>
            <a:endParaRPr lang="en-US" sz="1200" dirty="0"/>
          </a:p>
        </p:txBody>
      </p:sp>
      <p:sp>
        <p:nvSpPr>
          <p:cNvPr id="30" name="Text 28"/>
          <p:cNvSpPr/>
          <p:nvPr/>
        </p:nvSpPr>
        <p:spPr>
          <a:xfrm>
            <a:off x="8009493" y="25234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VPC</a:t>
            </a:r>
            <a:r>
              <a:rPr lang="en-US" sz="1200" dirty="0">
                <a:solidFill>
                  <a:srgbClr val="3E4A5C"/>
                </a:solidFill>
                <a:latin typeface="IBM Plex Sans" pitchFamily="34" charset="0"/>
                <a:ea typeface="IBM Plex Sans" pitchFamily="34" charset="-122"/>
                <a:cs typeface="IBM Plex Sans" pitchFamily="34" charset="-120"/>
              </a:rPr>
              <a:t> · Amazon Virtual Private Cloud</a:t>
            </a:r>
            <a:endParaRPr lang="en-US" sz="1200" dirty="0"/>
          </a:p>
        </p:txBody>
      </p:sp>
      <p:sp>
        <p:nvSpPr>
          <p:cNvPr id="31" name="Text 29"/>
          <p:cNvSpPr/>
          <p:nvPr/>
        </p:nvSpPr>
        <p:spPr>
          <a:xfrm>
            <a:off x="8009493" y="2752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W3C</a:t>
            </a:r>
            <a:r>
              <a:rPr lang="en-US" sz="1200" dirty="0">
                <a:solidFill>
                  <a:srgbClr val="3E4A5C"/>
                </a:solidFill>
                <a:latin typeface="IBM Plex Sans" pitchFamily="34" charset="0"/>
                <a:ea typeface="IBM Plex Sans" pitchFamily="34" charset="-122"/>
                <a:cs typeface="IBM Plex Sans" pitchFamily="34" charset="-120"/>
              </a:rPr>
              <a:t> · World Wide Web Consortium</a:t>
            </a:r>
            <a:endParaRPr lang="en-US" sz="1200" dirty="0"/>
          </a:p>
        </p:txBody>
      </p:sp>
      <p:sp>
        <p:nvSpPr>
          <p:cNvPr id="32" name="Text 30"/>
          <p:cNvSpPr/>
          <p:nvPr/>
        </p:nvSpPr>
        <p:spPr>
          <a:xfrm>
            <a:off x="8009493" y="2980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WAF</a:t>
            </a:r>
            <a:r>
              <a:rPr lang="en-US" sz="1200" dirty="0">
                <a:solidFill>
                  <a:srgbClr val="3E4A5C"/>
                </a:solidFill>
                <a:latin typeface="IBM Plex Sans" pitchFamily="34" charset="0"/>
                <a:ea typeface="IBM Plex Sans" pitchFamily="34" charset="-122"/>
                <a:cs typeface="IBM Plex Sans" pitchFamily="34" charset="-120"/>
              </a:rPr>
              <a:t> · Web application firewall (AWS WAF)</a:t>
            </a:r>
            <a:endParaRPr lang="en-US" sz="1200" dirty="0"/>
          </a:p>
        </p:txBody>
      </p:sp>
      <p:sp>
        <p:nvSpPr>
          <p:cNvPr id="33" name="Text 31"/>
          <p:cNvSpPr/>
          <p:nvPr/>
        </p:nvSpPr>
        <p:spPr>
          <a:xfrm>
            <a:off x="8009493" y="32092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WA01–WA15</a:t>
            </a:r>
            <a:r>
              <a:rPr lang="en-US" sz="1200" dirty="0">
                <a:solidFill>
                  <a:srgbClr val="3E4A5C"/>
                </a:solidFill>
                <a:latin typeface="IBM Plex Sans" pitchFamily="34" charset="0"/>
                <a:ea typeface="IBM Plex Sans" pitchFamily="34" charset="-122"/>
                <a:cs typeface="IBM Plex Sans" pitchFamily="34" charset="-120"/>
              </a:rPr>
              <a:t> · OWASP Web3 Attack Vectors 1 to 15</a:t>
            </a:r>
            <a:endParaRPr lang="en-US" sz="1200" dirty="0"/>
          </a:p>
        </p:txBody>
      </p:sp>
      <p:sp>
        <p:nvSpPr>
          <p:cNvPr id="34" name="Text 32"/>
          <p:cNvSpPr/>
          <p:nvPr/>
        </p:nvSpPr>
        <p:spPr>
          <a:xfrm>
            <a:off x="8009493" y="3628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WS1–WS5</a:t>
            </a:r>
            <a:r>
              <a:rPr lang="en-US" sz="1200" dirty="0">
                <a:solidFill>
                  <a:srgbClr val="3E4A5C"/>
                </a:solidFill>
                <a:latin typeface="IBM Plex Sans" pitchFamily="34" charset="0"/>
                <a:ea typeface="IBM Plex Sans" pitchFamily="34" charset="-122"/>
                <a:cs typeface="IBM Plex Sans" pitchFamily="34" charset="-120"/>
              </a:rPr>
              <a:t> · Workstreams 1 to 5</a:t>
            </a:r>
            <a:endParaRPr lang="en-US" sz="1200" dirty="0"/>
          </a:p>
        </p:txBody>
      </p:sp>
      <p:sp>
        <p:nvSpPr>
          <p:cNvPr id="35" name="Text 33"/>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6" name="Text 34"/>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theme/theme1.xml><?xml version="1.0" encoding="utf-8"?>
<a:theme xmlns:a="http://schemas.openxmlformats.org/drawingml/2006/main" name="Security Hardening Assessment Program – Executive Briefing">
  <a:themeElements>
    <a:clrScheme name="Security Hardening Assessment Program – Executive Briefing">
      <a:dk1>
        <a:srgbClr val="14213D"/>
      </a:dk1>
      <a:lt1>
        <a:srgbClr val="F8F7F3"/>
      </a:lt1>
      <a:dk2>
        <a:srgbClr val="4D576B"/>
      </a:dk2>
      <a:lt2>
        <a:srgbClr val="E1E2E1"/>
      </a:lt2>
      <a:accent1>
        <a:srgbClr val="1F7A6E"/>
      </a:accent1>
      <a:accent2>
        <a:srgbClr val="7FD1C7"/>
      </a:accent2>
      <a:accent3>
        <a:srgbClr val="E8B04B"/>
      </a:accent3>
      <a:accent4>
        <a:srgbClr val="2BA39A"/>
      </a:accent4>
      <a:accent5>
        <a:srgbClr val="3E4A5C"/>
      </a:accent5>
      <a:accent6>
        <a:srgbClr val="6B7280"/>
      </a:accent6>
      <a:hlink>
        <a:srgbClr val="0563C1"/>
      </a:hlink>
      <a:folHlink>
        <a:srgbClr val="954F72"/>
      </a:folHlink>
    </a:clrScheme>
    <a:fontScheme name="Security Hardening Assessment Program – Executive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Hardening Assessment Program – Executive Briefing</dc:title>
  <dc:subject/>
  <dc:creator/>
  <cp:lastModifiedBy/>
  <cp:revision>1</cp:revision>
  <dcterms:created xsi:type="dcterms:W3CDTF">2026-10-24T16:19:18Z</dcterms:created>
  <dcterms:modified xsi:type="dcterms:W3CDTF">2026-10-24T16:19:18Z</dcterms:modified>
</cp:coreProperties>
</file>